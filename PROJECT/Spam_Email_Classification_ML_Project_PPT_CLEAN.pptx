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7851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E8"/>
        </a:solidFill>
        <a:effectLst/>
      </p:bgPr>
    </p:bg>
    <p:spTree>
      <p:nvGrpSpPr>
        <p:cNvPr id="1" name=""/>
        <p:cNvGrpSpPr/>
        <p:nvPr/>
      </p:nvGrpSpPr>
      <p:grpSpPr>
        <a:xfrm>
          <a:off x="0" y="0"/>
          <a:ext cx="0" cy="0"/>
          <a:chOff x="0" y="0"/>
          <a:chExt cx="0" cy="0"/>
        </a:xfrm>
      </p:grpSpPr>
      <p:sp>
        <p:nvSpPr>
          <p:cNvPr id="2" name="Shape 0"/>
          <p:cNvSpPr/>
          <p:nvPr/>
        </p:nvSpPr>
        <p:spPr>
          <a:xfrm>
            <a:off x="393192" y="91440"/>
            <a:ext cx="11411712" cy="0"/>
          </a:xfrm>
          <a:prstGeom prst="line">
            <a:avLst/>
          </a:prstGeom>
          <a:noFill/>
          <a:ln w="13970">
            <a:solidFill>
              <a:srgbClr val="CBD6BB"/>
            </a:solidFill>
            <a:prstDash val="solid"/>
          </a:ln>
        </p:spPr>
      </p:sp>
      <p:sp>
        <p:nvSpPr>
          <p:cNvPr id="3" name="Shape 1"/>
          <p:cNvSpPr/>
          <p:nvPr/>
        </p:nvSpPr>
        <p:spPr>
          <a:xfrm>
            <a:off x="393192" y="6601968"/>
            <a:ext cx="11411712" cy="0"/>
          </a:xfrm>
          <a:prstGeom prst="line">
            <a:avLst/>
          </a:prstGeom>
          <a:noFill/>
          <a:ln w="13970">
            <a:solidFill>
              <a:srgbClr val="CBD6BB"/>
            </a:solidFill>
            <a:prstDash val="solid"/>
          </a:ln>
        </p:spPr>
      </p:sp>
      <p:sp>
        <p:nvSpPr>
          <p:cNvPr id="4" name="Shape 2"/>
          <p:cNvSpPr/>
          <p:nvPr/>
        </p:nvSpPr>
        <p:spPr>
          <a:xfrm>
            <a:off x="393192" y="91440"/>
            <a:ext cx="0" cy="6510528"/>
          </a:xfrm>
          <a:prstGeom prst="line">
            <a:avLst/>
          </a:prstGeom>
          <a:noFill/>
          <a:ln w="13970">
            <a:solidFill>
              <a:srgbClr val="CBD6BB"/>
            </a:solidFill>
            <a:prstDash val="solid"/>
          </a:ln>
        </p:spPr>
      </p:sp>
      <p:sp>
        <p:nvSpPr>
          <p:cNvPr id="5" name="Shape 3"/>
          <p:cNvSpPr/>
          <p:nvPr/>
        </p:nvSpPr>
        <p:spPr>
          <a:xfrm>
            <a:off x="11804904" y="91440"/>
            <a:ext cx="0" cy="6510528"/>
          </a:xfrm>
          <a:prstGeom prst="line">
            <a:avLst/>
          </a:prstGeom>
          <a:noFill/>
          <a:ln w="13970">
            <a:solidFill>
              <a:srgbClr val="CBD6BB"/>
            </a:solidFill>
            <a:prstDash val="solid"/>
          </a:ln>
        </p:spPr>
      </p:sp>
      <p:sp>
        <p:nvSpPr>
          <p:cNvPr id="6" name="Shape 4"/>
          <p:cNvSpPr/>
          <p:nvPr/>
        </p:nvSpPr>
        <p:spPr>
          <a:xfrm>
            <a:off x="393192" y="749808"/>
            <a:ext cx="11411712" cy="0"/>
          </a:xfrm>
          <a:prstGeom prst="line">
            <a:avLst/>
          </a:prstGeom>
          <a:noFill/>
          <a:ln w="11430">
            <a:solidFill>
              <a:srgbClr val="173242"/>
            </a:solidFill>
            <a:prstDash val="solid"/>
          </a:ln>
        </p:spPr>
      </p:sp>
      <p:sp>
        <p:nvSpPr>
          <p:cNvPr id="7" name="Shape 5"/>
          <p:cNvSpPr/>
          <p:nvPr/>
        </p:nvSpPr>
        <p:spPr>
          <a:xfrm>
            <a:off x="393192" y="1060704"/>
            <a:ext cx="11411712" cy="0"/>
          </a:xfrm>
          <a:prstGeom prst="line">
            <a:avLst/>
          </a:prstGeom>
          <a:noFill/>
          <a:ln w="11430">
            <a:solidFill>
              <a:srgbClr val="173242"/>
            </a:solidFill>
            <a:prstDash val="solid"/>
          </a:ln>
        </p:spPr>
      </p:sp>
      <p:pic>
        <p:nvPicPr>
          <p:cNvPr id="8" name="Image 0" descr="/mnt/data/3b6ce1a3-ac36-48dc-a15a-81eb8802b178.png"/>
          <p:cNvPicPr>
            <a:picLocks noChangeAspect="1"/>
          </p:cNvPicPr>
          <p:nvPr/>
        </p:nvPicPr>
        <p:blipFill>
          <a:blip r:embed="rId3"/>
          <a:stretch>
            <a:fillRect/>
          </a:stretch>
        </p:blipFill>
        <p:spPr>
          <a:xfrm>
            <a:off x="655799" y="182880"/>
            <a:ext cx="1230433" cy="438912"/>
          </a:xfrm>
          <a:prstGeom prst="rect">
            <a:avLst/>
          </a:prstGeom>
        </p:spPr>
      </p:pic>
      <p:sp>
        <p:nvSpPr>
          <p:cNvPr id="9" name="Text 6"/>
          <p:cNvSpPr/>
          <p:nvPr/>
        </p:nvSpPr>
        <p:spPr>
          <a:xfrm>
            <a:off x="2029968" y="182880"/>
            <a:ext cx="6949440" cy="411480"/>
          </a:xfrm>
          <a:prstGeom prst="rect">
            <a:avLst/>
          </a:prstGeom>
          <a:noFill/>
          <a:ln/>
        </p:spPr>
        <p:txBody>
          <a:bodyPr wrap="square" lIns="254" tIns="254" rIns="254" bIns="254" rtlCol="0" anchor="ctr">
            <a:normAutofit/>
          </a:bodyPr>
          <a:lstStyle/>
          <a:p>
            <a:pPr marL="0" indent="0">
              <a:buNone/>
            </a:pPr>
            <a:r>
              <a:rPr lang="en-US" sz="2600" b="1" dirty="0">
                <a:solidFill>
                  <a:srgbClr val="173242"/>
                </a:solidFill>
                <a:latin typeface="Lato" pitchFamily="34" charset="0"/>
                <a:ea typeface="Lato" pitchFamily="34" charset="-122"/>
                <a:cs typeface="Lato" pitchFamily="34" charset="-120"/>
              </a:rPr>
              <a:t>PROJECT TITLE</a:t>
            </a:r>
            <a:endParaRPr lang="en-US" sz="2600" dirty="0"/>
          </a:p>
        </p:txBody>
      </p:sp>
      <p:sp>
        <p:nvSpPr>
          <p:cNvPr id="10" name="Text 7"/>
          <p:cNvSpPr/>
          <p:nvPr/>
        </p:nvSpPr>
        <p:spPr>
          <a:xfrm>
            <a:off x="8549640" y="832104"/>
            <a:ext cx="2788920" cy="146304"/>
          </a:xfrm>
          <a:prstGeom prst="rect">
            <a:avLst/>
          </a:prstGeom>
          <a:noFill/>
          <a:ln/>
        </p:spPr>
        <p:txBody>
          <a:bodyPr wrap="square" lIns="127" tIns="127" rIns="127" bIns="127" rtlCol="0" anchor="ctr">
            <a:normAutofit/>
          </a:bodyPr>
          <a:lstStyle/>
          <a:p>
            <a:pPr marL="0" indent="0" algn="r">
              <a:buNone/>
            </a:pPr>
            <a:r>
              <a:rPr lang="en-US" sz="860" dirty="0">
                <a:solidFill>
                  <a:srgbClr val="173242"/>
                </a:solidFill>
                <a:latin typeface="Lato" pitchFamily="34" charset="0"/>
                <a:ea typeface="Lato" pitchFamily="34" charset="-122"/>
                <a:cs typeface="Lato" pitchFamily="34" charset="-120"/>
              </a:rPr>
              <a:t>ML PROJECT | CSE | SECTION 4</a:t>
            </a:r>
            <a:endParaRPr lang="en-US" sz="860" dirty="0"/>
          </a:p>
        </p:txBody>
      </p:sp>
      <p:sp>
        <p:nvSpPr>
          <p:cNvPr id="11" name="Shape 8"/>
          <p:cNvSpPr/>
          <p:nvPr/>
        </p:nvSpPr>
        <p:spPr>
          <a:xfrm>
            <a:off x="393192" y="6144768"/>
            <a:ext cx="11411712" cy="0"/>
          </a:xfrm>
          <a:prstGeom prst="line">
            <a:avLst/>
          </a:prstGeom>
          <a:noFill/>
          <a:ln w="11430">
            <a:solidFill>
              <a:srgbClr val="173242"/>
            </a:solidFill>
            <a:prstDash val="solid"/>
          </a:ln>
        </p:spPr>
      </p:sp>
      <p:sp>
        <p:nvSpPr>
          <p:cNvPr id="12" name="Shape 9"/>
          <p:cNvSpPr/>
          <p:nvPr/>
        </p:nvSpPr>
        <p:spPr>
          <a:xfrm>
            <a:off x="393192" y="6446520"/>
            <a:ext cx="11411712" cy="0"/>
          </a:xfrm>
          <a:prstGeom prst="line">
            <a:avLst/>
          </a:prstGeom>
          <a:noFill/>
          <a:ln w="11430">
            <a:solidFill>
              <a:srgbClr val="173242"/>
            </a:solidFill>
            <a:prstDash val="solid"/>
          </a:ln>
        </p:spPr>
      </p:sp>
      <p:sp>
        <p:nvSpPr>
          <p:cNvPr id="13" name="Text 10"/>
          <p:cNvSpPr/>
          <p:nvPr/>
        </p:nvSpPr>
        <p:spPr>
          <a:xfrm>
            <a:off x="868680" y="1481328"/>
            <a:ext cx="5257800" cy="1463040"/>
          </a:xfrm>
          <a:prstGeom prst="rect">
            <a:avLst/>
          </a:prstGeom>
          <a:noFill/>
          <a:ln/>
        </p:spPr>
        <p:txBody>
          <a:bodyPr wrap="square" lIns="127" tIns="127" rIns="127" bIns="127" rtlCol="0" anchor="ctr">
            <a:normAutofit/>
          </a:bodyPr>
          <a:lstStyle/>
          <a:p>
            <a:pPr marL="0" indent="0" algn="l">
              <a:buNone/>
            </a:pPr>
            <a:r>
              <a:rPr lang="en-US" sz="4900" b="1" dirty="0">
                <a:solidFill>
                  <a:srgbClr val="173242"/>
                </a:solidFill>
                <a:latin typeface="Lato" pitchFamily="34" charset="0"/>
                <a:ea typeface="Lato" pitchFamily="34" charset="-122"/>
                <a:cs typeface="Lato" pitchFamily="34" charset="-120"/>
              </a:rPr>
              <a:t>SPAM EMAIL</a:t>
            </a:r>
            <a:endParaRPr lang="en-US" sz="4900" dirty="0"/>
          </a:p>
          <a:p>
            <a:pPr marL="0" indent="0" algn="l">
              <a:buNone/>
            </a:pPr>
            <a:r>
              <a:rPr lang="en-US" sz="4900" b="1" dirty="0">
                <a:solidFill>
                  <a:srgbClr val="173242"/>
                </a:solidFill>
                <a:latin typeface="Lato" pitchFamily="34" charset="0"/>
                <a:ea typeface="Lato" pitchFamily="34" charset="-122"/>
                <a:cs typeface="Lato" pitchFamily="34" charset="-120"/>
              </a:rPr>
              <a:t>CLASSIFICATION</a:t>
            </a:r>
            <a:endParaRPr lang="en-US" sz="4900" dirty="0"/>
          </a:p>
        </p:txBody>
      </p:sp>
      <p:sp>
        <p:nvSpPr>
          <p:cNvPr id="14" name="Text 11"/>
          <p:cNvSpPr/>
          <p:nvPr/>
        </p:nvSpPr>
        <p:spPr>
          <a:xfrm>
            <a:off x="868680" y="3108960"/>
            <a:ext cx="5257800" cy="1325880"/>
          </a:xfrm>
          <a:prstGeom prst="rect">
            <a:avLst/>
          </a:prstGeom>
          <a:noFill/>
          <a:ln/>
        </p:spPr>
        <p:txBody>
          <a:bodyPr wrap="square" lIns="127" tIns="127" rIns="127" bIns="127" rtlCol="0" anchor="ctr">
            <a:normAutofit/>
          </a:bodyPr>
          <a:lstStyle/>
          <a:p>
            <a:pPr marL="0" indent="0" algn="l">
              <a:buNone/>
            </a:pPr>
            <a:r>
              <a:rPr lang="en-US" sz="2800" b="1" dirty="0">
                <a:solidFill>
                  <a:srgbClr val="176563"/>
                </a:solidFill>
                <a:latin typeface="Lato" pitchFamily="34" charset="0"/>
                <a:ea typeface="Lato" pitchFamily="34" charset="-122"/>
                <a:cs typeface="Lato" pitchFamily="34" charset="-120"/>
              </a:rPr>
              <a:t>USING NAIVE BAYES</a:t>
            </a:r>
            <a:endParaRPr lang="en-US" sz="2800" dirty="0"/>
          </a:p>
          <a:p>
            <a:pPr marL="0" indent="0" algn="l">
              <a:buNone/>
            </a:pPr>
            <a:r>
              <a:rPr lang="en-US" sz="2800" b="1" dirty="0">
                <a:solidFill>
                  <a:srgbClr val="176563"/>
                </a:solidFill>
                <a:latin typeface="Lato" pitchFamily="34" charset="0"/>
                <a:ea typeface="Lato" pitchFamily="34" charset="-122"/>
                <a:cs typeface="Lato" pitchFamily="34" charset="-120"/>
              </a:rPr>
              <a:t>AND SUPPORT VECTOR</a:t>
            </a:r>
            <a:endParaRPr lang="en-US" sz="2800" dirty="0"/>
          </a:p>
          <a:p>
            <a:pPr marL="0" indent="0" algn="l">
              <a:buNone/>
            </a:pPr>
            <a:r>
              <a:rPr lang="en-US" sz="2800" b="1" dirty="0">
                <a:solidFill>
                  <a:srgbClr val="176563"/>
                </a:solidFill>
                <a:latin typeface="Lato" pitchFamily="34" charset="0"/>
                <a:ea typeface="Lato" pitchFamily="34" charset="-122"/>
                <a:cs typeface="Lato" pitchFamily="34" charset="-120"/>
              </a:rPr>
              <a:t>MACHINE</a:t>
            </a:r>
            <a:endParaRPr lang="en-US" sz="2800" dirty="0"/>
          </a:p>
        </p:txBody>
      </p:sp>
      <p:sp>
        <p:nvSpPr>
          <p:cNvPr id="15" name="Text 12"/>
          <p:cNvSpPr/>
          <p:nvPr/>
        </p:nvSpPr>
        <p:spPr>
          <a:xfrm>
            <a:off x="6903720" y="1600200"/>
            <a:ext cx="4160520" cy="822960"/>
          </a:xfrm>
          <a:prstGeom prst="rect">
            <a:avLst/>
          </a:prstGeom>
          <a:solidFill>
            <a:srgbClr val="EEF4DD"/>
          </a:solidFill>
          <a:ln w="12700">
            <a:solidFill>
              <a:srgbClr val="173242"/>
            </a:solidFill>
          </a:ln>
        </p:spPr>
        <p:txBody>
          <a:bodyPr wrap="square" lIns="1524" tIns="1524" rIns="1524" bIns="1524" rtlCol="0" anchor="ctr">
            <a:normAutofit/>
          </a:bodyPr>
          <a:lstStyle/>
          <a:p>
            <a:pPr marL="0" indent="0" algn="l">
              <a:buNone/>
            </a:pPr>
            <a:r>
              <a:rPr lang="en-US" sz="1800" dirty="0">
                <a:solidFill>
                  <a:srgbClr val="173242"/>
                </a:solidFill>
                <a:latin typeface="Lato" pitchFamily="34" charset="0"/>
                <a:ea typeface="Lato" pitchFamily="34" charset="-122"/>
                <a:cs typeface="Lato" pitchFamily="34" charset="-120"/>
              </a:rPr>
              <a:t>Machine Learning project focused on detecting spam and ham messages using supervised text classification.</a:t>
            </a:r>
            <a:endParaRPr lang="en-US" sz="1800" dirty="0"/>
          </a:p>
        </p:txBody>
      </p:sp>
      <p:sp>
        <p:nvSpPr>
          <p:cNvPr id="16" name="Text 13"/>
          <p:cNvSpPr/>
          <p:nvPr/>
        </p:nvSpPr>
        <p:spPr>
          <a:xfrm>
            <a:off x="6903720" y="2724912"/>
            <a:ext cx="1508760" cy="384048"/>
          </a:xfrm>
          <a:prstGeom prst="rect">
            <a:avLst/>
          </a:prstGeom>
          <a:solidFill>
            <a:srgbClr val="173242"/>
          </a:solidFill>
          <a:ln w="8890">
            <a:solidFill>
              <a:srgbClr val="879587"/>
            </a:solidFill>
          </a:ln>
        </p:spPr>
        <p:txBody>
          <a:bodyPr wrap="square" lIns="762" tIns="762" rIns="762" bIns="762" rtlCol="0" anchor="ctr">
            <a:normAutofit/>
          </a:bodyPr>
          <a:lstStyle/>
          <a:p>
            <a:pPr marL="0" indent="0" algn="ctr">
              <a:buNone/>
            </a:pPr>
            <a:r>
              <a:rPr lang="en-US" sz="1000" b="1" dirty="0">
                <a:solidFill>
                  <a:srgbClr val="FFFFFF"/>
                </a:solidFill>
                <a:latin typeface="Lato" pitchFamily="34" charset="0"/>
                <a:ea typeface="Lato" pitchFamily="34" charset="-122"/>
                <a:cs typeface="Lato" pitchFamily="34" charset="-120"/>
              </a:rPr>
              <a:t>COURSE</a:t>
            </a:r>
            <a:endParaRPr lang="en-US" sz="1000" dirty="0"/>
          </a:p>
        </p:txBody>
      </p:sp>
      <p:sp>
        <p:nvSpPr>
          <p:cNvPr id="17" name="Text 14"/>
          <p:cNvSpPr/>
          <p:nvPr/>
        </p:nvSpPr>
        <p:spPr>
          <a:xfrm>
            <a:off x="8412480" y="2724912"/>
            <a:ext cx="2907792" cy="384048"/>
          </a:xfrm>
          <a:prstGeom prst="rect">
            <a:avLst/>
          </a:prstGeom>
          <a:solidFill>
            <a:srgbClr val="FAFCF0"/>
          </a:solidFill>
          <a:ln w="8890">
            <a:solidFill>
              <a:srgbClr val="879587"/>
            </a:solidFill>
          </a:ln>
        </p:spPr>
        <p:txBody>
          <a:bodyPr wrap="square" lIns="762" tIns="762" rIns="762" bIns="762" rtlCol="0" anchor="ctr">
            <a:normAutofit/>
          </a:bodyPr>
          <a:lstStyle/>
          <a:p>
            <a:pPr marL="0" indent="0" algn="l">
              <a:buNone/>
            </a:pPr>
            <a:r>
              <a:rPr lang="en-US" sz="1150" b="1" dirty="0">
                <a:solidFill>
                  <a:srgbClr val="173242"/>
                </a:solidFill>
                <a:latin typeface="Lato" pitchFamily="34" charset="0"/>
                <a:ea typeface="Lato" pitchFamily="34" charset="-122"/>
                <a:cs typeface="Lato" pitchFamily="34" charset="-120"/>
              </a:rPr>
              <a:t>MACHINE LEARNING</a:t>
            </a:r>
            <a:endParaRPr lang="en-US" sz="1150" dirty="0"/>
          </a:p>
        </p:txBody>
      </p:sp>
      <p:sp>
        <p:nvSpPr>
          <p:cNvPr id="18" name="Text 15"/>
          <p:cNvSpPr/>
          <p:nvPr/>
        </p:nvSpPr>
        <p:spPr>
          <a:xfrm>
            <a:off x="6903720" y="3145536"/>
            <a:ext cx="1508760" cy="384048"/>
          </a:xfrm>
          <a:prstGeom prst="rect">
            <a:avLst/>
          </a:prstGeom>
          <a:solidFill>
            <a:srgbClr val="173242"/>
          </a:solidFill>
          <a:ln w="8890">
            <a:solidFill>
              <a:srgbClr val="879587"/>
            </a:solidFill>
          </a:ln>
        </p:spPr>
        <p:txBody>
          <a:bodyPr wrap="square" lIns="762" tIns="762" rIns="762" bIns="762" rtlCol="0" anchor="ctr">
            <a:normAutofit/>
          </a:bodyPr>
          <a:lstStyle/>
          <a:p>
            <a:pPr marL="0" indent="0" algn="ctr">
              <a:buNone/>
            </a:pPr>
            <a:r>
              <a:rPr lang="en-US" sz="1000" b="1" dirty="0">
                <a:solidFill>
                  <a:srgbClr val="FFFFFF"/>
                </a:solidFill>
                <a:latin typeface="Lato" pitchFamily="34" charset="0"/>
                <a:ea typeface="Lato" pitchFamily="34" charset="-122"/>
                <a:cs typeface="Lato" pitchFamily="34" charset="-120"/>
              </a:rPr>
              <a:t>COURSE CODE</a:t>
            </a:r>
            <a:endParaRPr lang="en-US" sz="1000" dirty="0"/>
          </a:p>
        </p:txBody>
      </p:sp>
      <p:sp>
        <p:nvSpPr>
          <p:cNvPr id="19" name="Text 16"/>
          <p:cNvSpPr/>
          <p:nvPr/>
        </p:nvSpPr>
        <p:spPr>
          <a:xfrm>
            <a:off x="8412480" y="3145536"/>
            <a:ext cx="2907792" cy="384048"/>
          </a:xfrm>
          <a:prstGeom prst="rect">
            <a:avLst/>
          </a:prstGeom>
          <a:solidFill>
            <a:srgbClr val="FAFCF0"/>
          </a:solidFill>
          <a:ln w="8890">
            <a:solidFill>
              <a:srgbClr val="879587"/>
            </a:solidFill>
          </a:ln>
        </p:spPr>
        <p:txBody>
          <a:bodyPr wrap="square" lIns="762" tIns="762" rIns="762" bIns="762" rtlCol="0" anchor="ctr">
            <a:normAutofit/>
          </a:bodyPr>
          <a:lstStyle/>
          <a:p>
            <a:pPr marL="0" indent="0" algn="l">
              <a:buNone/>
            </a:pPr>
            <a:r>
              <a:rPr lang="en-US" sz="1150" b="1" dirty="0">
                <a:solidFill>
                  <a:srgbClr val="173242"/>
                </a:solidFill>
                <a:latin typeface="Lato" pitchFamily="34" charset="0"/>
                <a:ea typeface="Lato" pitchFamily="34" charset="-122"/>
                <a:cs typeface="Lato" pitchFamily="34" charset="-120"/>
              </a:rPr>
              <a:t>25SC2107E</a:t>
            </a:r>
            <a:endParaRPr lang="en-US" sz="1150" dirty="0"/>
          </a:p>
        </p:txBody>
      </p:sp>
      <p:sp>
        <p:nvSpPr>
          <p:cNvPr id="20" name="Text 17"/>
          <p:cNvSpPr/>
          <p:nvPr/>
        </p:nvSpPr>
        <p:spPr>
          <a:xfrm>
            <a:off x="6903720" y="3566160"/>
            <a:ext cx="1508760" cy="384048"/>
          </a:xfrm>
          <a:prstGeom prst="rect">
            <a:avLst/>
          </a:prstGeom>
          <a:solidFill>
            <a:srgbClr val="173242"/>
          </a:solidFill>
          <a:ln w="8890">
            <a:solidFill>
              <a:srgbClr val="879587"/>
            </a:solidFill>
          </a:ln>
        </p:spPr>
        <p:txBody>
          <a:bodyPr wrap="square" lIns="762" tIns="762" rIns="762" bIns="762" rtlCol="0" anchor="ctr">
            <a:normAutofit/>
          </a:bodyPr>
          <a:lstStyle/>
          <a:p>
            <a:pPr marL="0" indent="0" algn="ctr">
              <a:buNone/>
            </a:pPr>
            <a:r>
              <a:rPr lang="en-US" sz="1000" b="1" dirty="0">
                <a:solidFill>
                  <a:srgbClr val="FFFFFF"/>
                </a:solidFill>
                <a:latin typeface="Lato" pitchFamily="34" charset="0"/>
                <a:ea typeface="Lato" pitchFamily="34" charset="-122"/>
                <a:cs typeface="Lato" pitchFamily="34" charset="-120"/>
              </a:rPr>
              <a:t>BRANCH</a:t>
            </a:r>
            <a:endParaRPr lang="en-US" sz="1000" dirty="0"/>
          </a:p>
        </p:txBody>
      </p:sp>
      <p:sp>
        <p:nvSpPr>
          <p:cNvPr id="21" name="Text 18"/>
          <p:cNvSpPr/>
          <p:nvPr/>
        </p:nvSpPr>
        <p:spPr>
          <a:xfrm>
            <a:off x="8412480" y="3566160"/>
            <a:ext cx="2907792" cy="384048"/>
          </a:xfrm>
          <a:prstGeom prst="rect">
            <a:avLst/>
          </a:prstGeom>
          <a:solidFill>
            <a:srgbClr val="FAFCF0"/>
          </a:solidFill>
          <a:ln w="8890">
            <a:solidFill>
              <a:srgbClr val="879587"/>
            </a:solidFill>
          </a:ln>
        </p:spPr>
        <p:txBody>
          <a:bodyPr wrap="square" lIns="762" tIns="762" rIns="762" bIns="762" rtlCol="0" anchor="ctr">
            <a:normAutofit/>
          </a:bodyPr>
          <a:lstStyle/>
          <a:p>
            <a:pPr marL="0" indent="0" algn="l">
              <a:buNone/>
            </a:pPr>
            <a:r>
              <a:rPr lang="en-US" sz="1150" b="1" dirty="0">
                <a:solidFill>
                  <a:srgbClr val="173242"/>
                </a:solidFill>
                <a:latin typeface="Lato" pitchFamily="34" charset="0"/>
                <a:ea typeface="Lato" pitchFamily="34" charset="-122"/>
                <a:cs typeface="Lato" pitchFamily="34" charset="-120"/>
              </a:rPr>
              <a:t>CSE</a:t>
            </a:r>
            <a:endParaRPr lang="en-US" sz="1150" dirty="0"/>
          </a:p>
        </p:txBody>
      </p:sp>
      <p:sp>
        <p:nvSpPr>
          <p:cNvPr id="22" name="Text 19"/>
          <p:cNvSpPr/>
          <p:nvPr/>
        </p:nvSpPr>
        <p:spPr>
          <a:xfrm>
            <a:off x="6903720" y="3986784"/>
            <a:ext cx="1508760" cy="384048"/>
          </a:xfrm>
          <a:prstGeom prst="rect">
            <a:avLst/>
          </a:prstGeom>
          <a:solidFill>
            <a:srgbClr val="173242"/>
          </a:solidFill>
          <a:ln w="8890">
            <a:solidFill>
              <a:srgbClr val="879587"/>
            </a:solidFill>
          </a:ln>
        </p:spPr>
        <p:txBody>
          <a:bodyPr wrap="square" lIns="762" tIns="762" rIns="762" bIns="762" rtlCol="0" anchor="ctr">
            <a:normAutofit/>
          </a:bodyPr>
          <a:lstStyle/>
          <a:p>
            <a:pPr marL="0" indent="0" algn="ctr">
              <a:buNone/>
            </a:pPr>
            <a:r>
              <a:rPr lang="en-US" sz="1000" b="1" dirty="0">
                <a:solidFill>
                  <a:srgbClr val="FFFFFF"/>
                </a:solidFill>
                <a:latin typeface="Lato" pitchFamily="34" charset="0"/>
                <a:ea typeface="Lato" pitchFamily="34" charset="-122"/>
                <a:cs typeface="Lato" pitchFamily="34" charset="-120"/>
              </a:rPr>
              <a:t>SECTION</a:t>
            </a:r>
            <a:endParaRPr lang="en-US" sz="1000" dirty="0"/>
          </a:p>
        </p:txBody>
      </p:sp>
      <p:sp>
        <p:nvSpPr>
          <p:cNvPr id="23" name="Text 20"/>
          <p:cNvSpPr/>
          <p:nvPr/>
        </p:nvSpPr>
        <p:spPr>
          <a:xfrm>
            <a:off x="8412480" y="3986784"/>
            <a:ext cx="2907792" cy="384048"/>
          </a:xfrm>
          <a:prstGeom prst="rect">
            <a:avLst/>
          </a:prstGeom>
          <a:solidFill>
            <a:srgbClr val="FAFCF0"/>
          </a:solidFill>
          <a:ln w="8890">
            <a:solidFill>
              <a:srgbClr val="879587"/>
            </a:solidFill>
          </a:ln>
        </p:spPr>
        <p:txBody>
          <a:bodyPr wrap="square" lIns="762" tIns="762" rIns="762" bIns="762" rtlCol="0" anchor="ctr">
            <a:normAutofit/>
          </a:bodyPr>
          <a:lstStyle/>
          <a:p>
            <a:pPr marL="0" indent="0" algn="l">
              <a:buNone/>
            </a:pPr>
            <a:r>
              <a:rPr lang="en-US" sz="1150" b="1" dirty="0">
                <a:solidFill>
                  <a:srgbClr val="173242"/>
                </a:solidFill>
                <a:latin typeface="Lato" pitchFamily="34" charset="0"/>
                <a:ea typeface="Lato" pitchFamily="34" charset="-122"/>
                <a:cs typeface="Lato" pitchFamily="34" charset="-120"/>
              </a:rPr>
              <a:t>4</a:t>
            </a:r>
            <a:endParaRPr lang="en-US" sz="1150" dirty="0"/>
          </a:p>
        </p:txBody>
      </p:sp>
      <p:sp>
        <p:nvSpPr>
          <p:cNvPr id="24" name="Text 21"/>
          <p:cNvSpPr/>
          <p:nvPr/>
        </p:nvSpPr>
        <p:spPr>
          <a:xfrm>
            <a:off x="914400" y="4956048"/>
            <a:ext cx="4663440" cy="786384"/>
          </a:xfrm>
          <a:prstGeom prst="rect">
            <a:avLst/>
          </a:prstGeom>
          <a:solidFill>
            <a:srgbClr val="FAFCF0"/>
          </a:solidFill>
          <a:ln w="12700">
            <a:solidFill>
              <a:srgbClr val="176563"/>
            </a:solidFill>
          </a:ln>
        </p:spPr>
        <p:txBody>
          <a:bodyPr wrap="square" lIns="1524" tIns="1524" rIns="1524" bIns="1524" rtlCol="0" anchor="ctr">
            <a:normAutofit/>
          </a:bodyPr>
          <a:lstStyle/>
          <a:p>
            <a:pPr marL="0" indent="0" algn="l">
              <a:buNone/>
            </a:pPr>
            <a:r>
              <a:rPr lang="en-US" sz="1520" dirty="0">
                <a:solidFill>
                  <a:srgbClr val="173242"/>
                </a:solidFill>
                <a:latin typeface="Lato" pitchFamily="34" charset="0"/>
                <a:ea typeface="Lato" pitchFamily="34" charset="-122"/>
                <a:cs typeface="Lato" pitchFamily="34" charset="-120"/>
              </a:rPr>
              <a:t>PROJECT MEMBERS- K. Pranav — 2520030477 </a:t>
            </a:r>
          </a:p>
          <a:p>
            <a:pPr marL="0" indent="0" algn="l">
              <a:buNone/>
            </a:pPr>
            <a:r>
              <a:rPr lang="en-US" sz="1520" dirty="0">
                <a:solidFill>
                  <a:srgbClr val="173242"/>
                </a:solidFill>
                <a:latin typeface="Lato" pitchFamily="34" charset="0"/>
                <a:ea typeface="Lato" pitchFamily="34" charset="-122"/>
                <a:cs typeface="Lato" pitchFamily="34" charset="-120"/>
              </a:rPr>
              <a:t>                                       Abhay Tripathi — 3520030353</a:t>
            </a:r>
            <a:endParaRPr lang="en-US" sz="1520" dirty="0"/>
          </a:p>
        </p:txBody>
      </p:sp>
      <p:sp>
        <p:nvSpPr>
          <p:cNvPr id="25" name="Text 22"/>
          <p:cNvSpPr/>
          <p:nvPr/>
        </p:nvSpPr>
        <p:spPr>
          <a:xfrm>
            <a:off x="6903720" y="4956048"/>
            <a:ext cx="4251960" cy="786384"/>
          </a:xfrm>
          <a:prstGeom prst="rect">
            <a:avLst/>
          </a:prstGeom>
          <a:solidFill>
            <a:srgbClr val="FAFCF0"/>
          </a:solidFill>
          <a:ln w="12700">
            <a:solidFill>
              <a:srgbClr val="9F303A"/>
            </a:solidFill>
          </a:ln>
        </p:spPr>
        <p:txBody>
          <a:bodyPr wrap="square" lIns="1524" tIns="1524" rIns="1524" bIns="1524" rtlCol="0" anchor="ctr">
            <a:normAutofit/>
          </a:bodyPr>
          <a:lstStyle/>
          <a:p>
            <a:pPr marL="0" indent="0" algn="l">
              <a:buNone/>
            </a:pPr>
            <a:r>
              <a:rPr lang="en-US" sz="1520" dirty="0">
                <a:solidFill>
                  <a:srgbClr val="173242"/>
                </a:solidFill>
                <a:latin typeface="Lato" pitchFamily="34" charset="0"/>
                <a:ea typeface="Lato" pitchFamily="34" charset="-122"/>
                <a:cs typeface="Lato" pitchFamily="34" charset="-120"/>
              </a:rPr>
              <a:t>GUIDED BY: Ms. Jyothsna Datti</a:t>
            </a:r>
            <a:endParaRPr lang="en-US" sz="1520" dirty="0"/>
          </a:p>
        </p:txBody>
      </p:sp>
      <p:sp>
        <p:nvSpPr>
          <p:cNvPr id="26" name="Text 23"/>
          <p:cNvSpPr/>
          <p:nvPr/>
        </p:nvSpPr>
        <p:spPr>
          <a:xfrm>
            <a:off x="731520" y="6254496"/>
            <a:ext cx="6949440" cy="146304"/>
          </a:xfrm>
          <a:prstGeom prst="rect">
            <a:avLst/>
          </a:prstGeom>
          <a:noFill/>
          <a:ln/>
        </p:spPr>
        <p:txBody>
          <a:bodyPr wrap="square" lIns="127" tIns="127" rIns="127" bIns="127" rtlCol="0" anchor="ctr"/>
          <a:lstStyle/>
          <a:p>
            <a:pPr marL="0" indent="0">
              <a:buNone/>
            </a:pPr>
            <a:r>
              <a:rPr lang="en-US" sz="800" dirty="0">
                <a:solidFill>
                  <a:srgbClr val="173242"/>
                </a:solidFill>
                <a:latin typeface="Lato" pitchFamily="34" charset="0"/>
                <a:ea typeface="Lato" pitchFamily="34" charset="-122"/>
                <a:cs typeface="Lato" pitchFamily="34" charset="-120"/>
              </a:rPr>
              <a:t>DEPARTMENT OF COMPUTER SCIENCE &amp; ENGINEERING</a:t>
            </a:r>
            <a:endParaRPr lang="en-US" sz="800" dirty="0"/>
          </a:p>
        </p:txBody>
      </p:sp>
      <p:sp>
        <p:nvSpPr>
          <p:cNvPr id="27" name="Text 24"/>
          <p:cNvSpPr/>
          <p:nvPr/>
        </p:nvSpPr>
        <p:spPr>
          <a:xfrm>
            <a:off x="10058400" y="6254496"/>
            <a:ext cx="1280160" cy="146304"/>
          </a:xfrm>
          <a:prstGeom prst="rect">
            <a:avLst/>
          </a:prstGeom>
          <a:noFill/>
          <a:ln/>
        </p:spPr>
        <p:txBody>
          <a:bodyPr wrap="square" lIns="127" tIns="127" rIns="127" bIns="127" rtlCol="0" anchor="ctr"/>
          <a:lstStyle/>
          <a:p>
            <a:pPr marL="0" indent="0" algn="r">
              <a:buNone/>
            </a:pPr>
            <a:r>
              <a:rPr lang="en-US" sz="800" dirty="0">
                <a:solidFill>
                  <a:srgbClr val="173242"/>
                </a:solidFill>
                <a:latin typeface="Lato" pitchFamily="34" charset="0"/>
                <a:ea typeface="Lato" pitchFamily="34" charset="-122"/>
                <a:cs typeface="Lato" pitchFamily="34" charset="-120"/>
              </a:rPr>
              <a:t>A.Y. 2026–27</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E8"/>
        </a:solidFill>
        <a:effectLst/>
      </p:bgPr>
    </p:bg>
    <p:spTree>
      <p:nvGrpSpPr>
        <p:cNvPr id="1" name=""/>
        <p:cNvGrpSpPr/>
        <p:nvPr/>
      </p:nvGrpSpPr>
      <p:grpSpPr>
        <a:xfrm>
          <a:off x="0" y="0"/>
          <a:ext cx="0" cy="0"/>
          <a:chOff x="0" y="0"/>
          <a:chExt cx="0" cy="0"/>
        </a:xfrm>
      </p:grpSpPr>
      <p:sp>
        <p:nvSpPr>
          <p:cNvPr id="2" name="Shape 0"/>
          <p:cNvSpPr/>
          <p:nvPr/>
        </p:nvSpPr>
        <p:spPr>
          <a:xfrm>
            <a:off x="393192" y="91440"/>
            <a:ext cx="11411712" cy="0"/>
          </a:xfrm>
          <a:prstGeom prst="line">
            <a:avLst/>
          </a:prstGeom>
          <a:noFill/>
          <a:ln w="13970">
            <a:solidFill>
              <a:srgbClr val="CBD6BB"/>
            </a:solidFill>
            <a:prstDash val="solid"/>
          </a:ln>
        </p:spPr>
      </p:sp>
      <p:sp>
        <p:nvSpPr>
          <p:cNvPr id="3" name="Shape 1"/>
          <p:cNvSpPr/>
          <p:nvPr/>
        </p:nvSpPr>
        <p:spPr>
          <a:xfrm>
            <a:off x="393192" y="6601968"/>
            <a:ext cx="11411712" cy="0"/>
          </a:xfrm>
          <a:prstGeom prst="line">
            <a:avLst/>
          </a:prstGeom>
          <a:noFill/>
          <a:ln w="13970">
            <a:solidFill>
              <a:srgbClr val="CBD6BB"/>
            </a:solidFill>
            <a:prstDash val="solid"/>
          </a:ln>
        </p:spPr>
      </p:sp>
      <p:sp>
        <p:nvSpPr>
          <p:cNvPr id="4" name="Shape 2"/>
          <p:cNvSpPr/>
          <p:nvPr/>
        </p:nvSpPr>
        <p:spPr>
          <a:xfrm>
            <a:off x="393192" y="91440"/>
            <a:ext cx="0" cy="6510528"/>
          </a:xfrm>
          <a:prstGeom prst="line">
            <a:avLst/>
          </a:prstGeom>
          <a:noFill/>
          <a:ln w="13970">
            <a:solidFill>
              <a:srgbClr val="CBD6BB"/>
            </a:solidFill>
            <a:prstDash val="solid"/>
          </a:ln>
        </p:spPr>
      </p:sp>
      <p:sp>
        <p:nvSpPr>
          <p:cNvPr id="5" name="Shape 3"/>
          <p:cNvSpPr/>
          <p:nvPr/>
        </p:nvSpPr>
        <p:spPr>
          <a:xfrm>
            <a:off x="11804904" y="91440"/>
            <a:ext cx="0" cy="6510528"/>
          </a:xfrm>
          <a:prstGeom prst="line">
            <a:avLst/>
          </a:prstGeom>
          <a:noFill/>
          <a:ln w="13970">
            <a:solidFill>
              <a:srgbClr val="CBD6BB"/>
            </a:solidFill>
            <a:prstDash val="solid"/>
          </a:ln>
        </p:spPr>
      </p:sp>
      <p:sp>
        <p:nvSpPr>
          <p:cNvPr id="6" name="Shape 4"/>
          <p:cNvSpPr/>
          <p:nvPr/>
        </p:nvSpPr>
        <p:spPr>
          <a:xfrm>
            <a:off x="393192" y="749808"/>
            <a:ext cx="11411712" cy="0"/>
          </a:xfrm>
          <a:prstGeom prst="line">
            <a:avLst/>
          </a:prstGeom>
          <a:noFill/>
          <a:ln w="11430">
            <a:solidFill>
              <a:srgbClr val="173242"/>
            </a:solidFill>
            <a:prstDash val="solid"/>
          </a:ln>
        </p:spPr>
      </p:sp>
      <p:sp>
        <p:nvSpPr>
          <p:cNvPr id="7" name="Shape 5"/>
          <p:cNvSpPr/>
          <p:nvPr/>
        </p:nvSpPr>
        <p:spPr>
          <a:xfrm>
            <a:off x="393192" y="1060704"/>
            <a:ext cx="11411712" cy="0"/>
          </a:xfrm>
          <a:prstGeom prst="line">
            <a:avLst/>
          </a:prstGeom>
          <a:noFill/>
          <a:ln w="11430">
            <a:solidFill>
              <a:srgbClr val="173242"/>
            </a:solidFill>
            <a:prstDash val="solid"/>
          </a:ln>
        </p:spPr>
      </p:sp>
      <p:pic>
        <p:nvPicPr>
          <p:cNvPr id="8" name="Image 0" descr="/mnt/data/3b6ce1a3-ac36-48dc-a15a-81eb8802b178.png"/>
          <p:cNvPicPr>
            <a:picLocks noChangeAspect="1"/>
          </p:cNvPicPr>
          <p:nvPr/>
        </p:nvPicPr>
        <p:blipFill>
          <a:blip r:embed="rId3"/>
          <a:stretch>
            <a:fillRect/>
          </a:stretch>
        </p:blipFill>
        <p:spPr>
          <a:xfrm>
            <a:off x="655799" y="182880"/>
            <a:ext cx="1230433" cy="438912"/>
          </a:xfrm>
          <a:prstGeom prst="rect">
            <a:avLst/>
          </a:prstGeom>
        </p:spPr>
      </p:pic>
      <p:sp>
        <p:nvSpPr>
          <p:cNvPr id="9" name="Text 6"/>
          <p:cNvSpPr/>
          <p:nvPr/>
        </p:nvSpPr>
        <p:spPr>
          <a:xfrm>
            <a:off x="2029968" y="182880"/>
            <a:ext cx="6949440" cy="411480"/>
          </a:xfrm>
          <a:prstGeom prst="rect">
            <a:avLst/>
          </a:prstGeom>
          <a:noFill/>
          <a:ln/>
        </p:spPr>
        <p:txBody>
          <a:bodyPr wrap="square" lIns="254" tIns="254" rIns="254" bIns="254" rtlCol="0" anchor="ctr">
            <a:normAutofit/>
          </a:bodyPr>
          <a:lstStyle/>
          <a:p>
            <a:pPr marL="0" indent="0">
              <a:buNone/>
            </a:pPr>
            <a:r>
              <a:rPr lang="en-US" sz="2600" b="1" dirty="0">
                <a:solidFill>
                  <a:srgbClr val="173242"/>
                </a:solidFill>
                <a:latin typeface="Lato" pitchFamily="34" charset="0"/>
                <a:ea typeface="Lato" pitchFamily="34" charset="-122"/>
                <a:cs typeface="Lato" pitchFamily="34" charset="-120"/>
              </a:rPr>
              <a:t>ABSTRACT</a:t>
            </a:r>
            <a:endParaRPr lang="en-US" sz="2600" dirty="0"/>
          </a:p>
        </p:txBody>
      </p:sp>
      <p:sp>
        <p:nvSpPr>
          <p:cNvPr id="10" name="Text 7"/>
          <p:cNvSpPr/>
          <p:nvPr/>
        </p:nvSpPr>
        <p:spPr>
          <a:xfrm>
            <a:off x="8549640" y="832104"/>
            <a:ext cx="2788920" cy="146304"/>
          </a:xfrm>
          <a:prstGeom prst="rect">
            <a:avLst/>
          </a:prstGeom>
          <a:noFill/>
          <a:ln/>
        </p:spPr>
        <p:txBody>
          <a:bodyPr wrap="square" lIns="127" tIns="127" rIns="127" bIns="127" rtlCol="0" anchor="ctr">
            <a:normAutofit/>
          </a:bodyPr>
          <a:lstStyle/>
          <a:p>
            <a:pPr marL="0" indent="0" algn="r">
              <a:buNone/>
            </a:pPr>
            <a:r>
              <a:rPr lang="en-US" sz="860" dirty="0">
                <a:solidFill>
                  <a:srgbClr val="173242"/>
                </a:solidFill>
                <a:latin typeface="Lato" pitchFamily="34" charset="0"/>
                <a:ea typeface="Lato" pitchFamily="34" charset="-122"/>
                <a:cs typeface="Lato" pitchFamily="34" charset="-120"/>
              </a:rPr>
              <a:t>ML PROJECT | CSE | SECTION 4</a:t>
            </a:r>
            <a:endParaRPr lang="en-US" sz="860" dirty="0"/>
          </a:p>
        </p:txBody>
      </p:sp>
      <p:sp>
        <p:nvSpPr>
          <p:cNvPr id="11" name="Shape 8"/>
          <p:cNvSpPr/>
          <p:nvPr/>
        </p:nvSpPr>
        <p:spPr>
          <a:xfrm>
            <a:off x="393192" y="5989320"/>
            <a:ext cx="11411712" cy="0"/>
          </a:xfrm>
          <a:prstGeom prst="line">
            <a:avLst/>
          </a:prstGeom>
          <a:noFill/>
          <a:ln w="11430">
            <a:solidFill>
              <a:srgbClr val="173242"/>
            </a:solidFill>
            <a:prstDash val="solid"/>
          </a:ln>
        </p:spPr>
      </p:sp>
      <p:sp>
        <p:nvSpPr>
          <p:cNvPr id="12" name="Shape 9"/>
          <p:cNvSpPr/>
          <p:nvPr/>
        </p:nvSpPr>
        <p:spPr>
          <a:xfrm>
            <a:off x="393192" y="6309360"/>
            <a:ext cx="11411712" cy="0"/>
          </a:xfrm>
          <a:prstGeom prst="line">
            <a:avLst/>
          </a:prstGeom>
          <a:noFill/>
          <a:ln w="11430">
            <a:solidFill>
              <a:srgbClr val="173242"/>
            </a:solidFill>
            <a:prstDash val="solid"/>
          </a:ln>
        </p:spPr>
      </p:sp>
      <p:sp>
        <p:nvSpPr>
          <p:cNvPr id="13" name="Text 10"/>
          <p:cNvSpPr/>
          <p:nvPr/>
        </p:nvSpPr>
        <p:spPr>
          <a:xfrm>
            <a:off x="713232" y="6108192"/>
            <a:ext cx="8138160" cy="146304"/>
          </a:xfrm>
          <a:prstGeom prst="rect">
            <a:avLst/>
          </a:prstGeom>
          <a:noFill/>
          <a:ln/>
        </p:spPr>
        <p:txBody>
          <a:bodyPr wrap="square" lIns="127" tIns="127" rIns="127" bIns="127" rtlCol="0" anchor="ctr">
            <a:normAutofit/>
          </a:bodyPr>
          <a:lstStyle/>
          <a:p>
            <a:pPr marL="0" indent="0">
              <a:buNone/>
            </a:pPr>
            <a:r>
              <a:rPr lang="en-US" sz="800" dirty="0">
                <a:solidFill>
                  <a:srgbClr val="173242"/>
                </a:solidFill>
                <a:latin typeface="Lato" pitchFamily="34" charset="0"/>
                <a:ea typeface="Lato" pitchFamily="34" charset="-122"/>
                <a:cs typeface="Lato" pitchFamily="34" charset="-120"/>
              </a:rPr>
              <a:t>SPAM EMAIL CLASSIFICATION USING NAIVE BAYES AND SUPPORT VECTOR MACHINE</a:t>
            </a:r>
            <a:endParaRPr lang="en-US" sz="800" dirty="0"/>
          </a:p>
        </p:txBody>
      </p:sp>
      <p:sp>
        <p:nvSpPr>
          <p:cNvPr id="14" name="Text 11"/>
          <p:cNvSpPr/>
          <p:nvPr/>
        </p:nvSpPr>
        <p:spPr>
          <a:xfrm>
            <a:off x="10058400" y="6108192"/>
            <a:ext cx="1298448" cy="146304"/>
          </a:xfrm>
          <a:prstGeom prst="rect">
            <a:avLst/>
          </a:prstGeom>
          <a:noFill/>
          <a:ln/>
        </p:spPr>
        <p:txBody>
          <a:bodyPr wrap="square" lIns="127" tIns="127" rIns="127" bIns="127" rtlCol="0" anchor="ctr"/>
          <a:lstStyle/>
          <a:p>
            <a:pPr marL="0" indent="0" algn="r">
              <a:buNone/>
            </a:pPr>
            <a:r>
              <a:rPr lang="en-US" sz="800" dirty="0">
                <a:solidFill>
                  <a:srgbClr val="173242"/>
                </a:solidFill>
                <a:latin typeface="Lato" pitchFamily="34" charset="0"/>
                <a:ea typeface="Lato" pitchFamily="34" charset="-122"/>
                <a:cs typeface="Lato" pitchFamily="34" charset="-120"/>
              </a:rPr>
              <a:t>A.Y. 2026–27</a:t>
            </a:r>
            <a:endParaRPr lang="en-US" sz="800" dirty="0"/>
          </a:p>
        </p:txBody>
      </p:sp>
      <p:sp>
        <p:nvSpPr>
          <p:cNvPr id="15" name="Text 12"/>
          <p:cNvSpPr/>
          <p:nvPr/>
        </p:nvSpPr>
        <p:spPr>
          <a:xfrm>
            <a:off x="868680" y="1353312"/>
            <a:ext cx="3703320" cy="1143000"/>
          </a:xfrm>
          <a:prstGeom prst="rect">
            <a:avLst/>
          </a:prstGeom>
          <a:noFill/>
          <a:ln/>
        </p:spPr>
        <p:txBody>
          <a:bodyPr wrap="square" lIns="127" tIns="127" rIns="127" bIns="127" rtlCol="0" anchor="ctr">
            <a:normAutofit/>
          </a:bodyPr>
          <a:lstStyle/>
          <a:p>
            <a:pPr marL="0" indent="0" algn="l">
              <a:buNone/>
            </a:pPr>
            <a:r>
              <a:rPr lang="en-US" sz="4000" b="1" dirty="0">
                <a:solidFill>
                  <a:srgbClr val="173242"/>
                </a:solidFill>
                <a:latin typeface="Lato" pitchFamily="34" charset="0"/>
                <a:ea typeface="Lato" pitchFamily="34" charset="-122"/>
                <a:cs typeface="Lato" pitchFamily="34" charset="-120"/>
              </a:rPr>
              <a:t>PROJECT</a:t>
            </a:r>
            <a:endParaRPr lang="en-US" sz="4000" dirty="0"/>
          </a:p>
          <a:p>
            <a:pPr marL="0" indent="0" algn="l">
              <a:buNone/>
            </a:pPr>
            <a:r>
              <a:rPr lang="en-US" sz="4000" b="1" dirty="0">
                <a:solidFill>
                  <a:srgbClr val="173242"/>
                </a:solidFill>
                <a:latin typeface="Lato" pitchFamily="34" charset="0"/>
                <a:ea typeface="Lato" pitchFamily="34" charset="-122"/>
                <a:cs typeface="Lato" pitchFamily="34" charset="-120"/>
              </a:rPr>
              <a:t>ABSTRACT</a:t>
            </a:r>
            <a:endParaRPr lang="en-US" sz="4000" dirty="0"/>
          </a:p>
        </p:txBody>
      </p:sp>
      <p:sp>
        <p:nvSpPr>
          <p:cNvPr id="16" name="Text 13"/>
          <p:cNvSpPr/>
          <p:nvPr/>
        </p:nvSpPr>
        <p:spPr>
          <a:xfrm>
            <a:off x="3993508" y="1179576"/>
            <a:ext cx="7116452" cy="2121408"/>
          </a:xfrm>
          <a:prstGeom prst="rect">
            <a:avLst/>
          </a:prstGeom>
          <a:solidFill>
            <a:srgbClr val="EEF4DD"/>
          </a:solidFill>
          <a:ln w="12700">
            <a:solidFill>
              <a:srgbClr val="173242"/>
            </a:solidFill>
          </a:ln>
        </p:spPr>
        <p:txBody>
          <a:bodyPr wrap="square" lIns="1524" tIns="1524" rIns="1524" bIns="1524" rtlCol="0" anchor="ctr">
            <a:normAutofit/>
          </a:bodyPr>
          <a:lstStyle/>
          <a:p>
            <a:pPr marL="0" indent="0" algn="l">
              <a:buNone/>
            </a:pPr>
            <a:r>
              <a:rPr lang="en-US" sz="1800" dirty="0">
                <a:solidFill>
                  <a:srgbClr val="173242"/>
                </a:solidFill>
                <a:latin typeface="Lato" pitchFamily="34" charset="0"/>
                <a:ea typeface="Lato" pitchFamily="34" charset="-122"/>
                <a:cs typeface="Lato" pitchFamily="34" charset="-120"/>
              </a:rPr>
              <a:t>Spam classification is an important machine learning application for improving digital communication security and reducing unwanted, misleading and fraudulent messages. This project uses the spam.csv dataset containing labelled ham and spam text messages. The main objective is to build an automated classification framework that can distinguish legitimate messages from spam using natural language preprocessing, feature extraction and supervised machine learning.</a:t>
            </a:r>
            <a:endParaRPr lang="en-US" sz="1800" dirty="0"/>
          </a:p>
        </p:txBody>
      </p:sp>
      <p:sp>
        <p:nvSpPr>
          <p:cNvPr id="17" name="Text 14"/>
          <p:cNvSpPr/>
          <p:nvPr/>
        </p:nvSpPr>
        <p:spPr>
          <a:xfrm>
            <a:off x="868680" y="3749040"/>
            <a:ext cx="7635240" cy="1143000"/>
          </a:xfrm>
          <a:prstGeom prst="rect">
            <a:avLst/>
          </a:prstGeom>
          <a:solidFill>
            <a:srgbClr val="FAFCF0"/>
          </a:solidFill>
          <a:ln w="12700">
            <a:solidFill>
              <a:srgbClr val="176563"/>
            </a:solidFill>
          </a:ln>
        </p:spPr>
        <p:txBody>
          <a:bodyPr wrap="square" lIns="1524" tIns="1524" rIns="1524" bIns="1524" rtlCol="0" anchor="ctr">
            <a:normAutofit/>
          </a:bodyPr>
          <a:lstStyle/>
          <a:p>
            <a:pPr marL="0" indent="0" algn="l">
              <a:buNone/>
            </a:pPr>
            <a:r>
              <a:rPr lang="en-US" sz="1800" dirty="0">
                <a:solidFill>
                  <a:srgbClr val="173242"/>
                </a:solidFill>
                <a:latin typeface="Lato" pitchFamily="34" charset="0"/>
                <a:ea typeface="Lato" pitchFamily="34" charset="-122"/>
                <a:cs typeface="Lato" pitchFamily="34" charset="-120"/>
              </a:rPr>
              <a:t>The text is cleaned and transformed into numerical vectors using CountVectorizer and TF-IDF. Naive Bayes and Support Vector Machine are then trained and compared using Accuracy, Precision, Recall, F1-Score and Confusion Matrix. The expected outcome is an efficient and interpretable model that reduces false spam detection while improving reliable message filtering.</a:t>
            </a:r>
            <a:endParaRPr lang="en-US" sz="1800" dirty="0"/>
          </a:p>
        </p:txBody>
      </p:sp>
      <p:sp>
        <p:nvSpPr>
          <p:cNvPr id="18" name="Text 15"/>
          <p:cNvSpPr/>
          <p:nvPr/>
        </p:nvSpPr>
        <p:spPr>
          <a:xfrm>
            <a:off x="8915400" y="3703320"/>
            <a:ext cx="1234440" cy="749808"/>
          </a:xfrm>
          <a:prstGeom prst="rect">
            <a:avLst/>
          </a:prstGeom>
          <a:solidFill>
            <a:srgbClr val="FAFCF0"/>
          </a:solidFill>
          <a:ln w="16510">
            <a:solidFill>
              <a:srgbClr val="176563"/>
            </a:solidFill>
          </a:ln>
        </p:spPr>
        <p:txBody>
          <a:bodyPr wrap="square" lIns="508" tIns="508" rIns="508" bIns="508" rtlCol="0" anchor="ctr">
            <a:normAutofit/>
          </a:bodyPr>
          <a:lstStyle/>
          <a:p>
            <a:pPr marL="0" indent="0" algn="ctr">
              <a:buNone/>
            </a:pPr>
            <a:r>
              <a:rPr lang="en-US" sz="2500" b="1" dirty="0">
                <a:solidFill>
                  <a:srgbClr val="176563"/>
                </a:solidFill>
                <a:latin typeface="Lato" pitchFamily="34" charset="0"/>
                <a:ea typeface="Lato" pitchFamily="34" charset="-122"/>
                <a:cs typeface="Lato" pitchFamily="34" charset="-120"/>
              </a:rPr>
              <a:t>5,572
</a:t>
            </a:r>
            <a:r>
              <a:rPr lang="en-US" sz="1000" b="1" dirty="0">
                <a:solidFill>
                  <a:srgbClr val="176563"/>
                </a:solidFill>
                <a:latin typeface="Lato" pitchFamily="34" charset="0"/>
                <a:ea typeface="Lato" pitchFamily="34" charset="-122"/>
                <a:cs typeface="Lato" pitchFamily="34" charset="-120"/>
              </a:rPr>
              <a:t>RAW MESSAGES</a:t>
            </a:r>
            <a:endParaRPr lang="en-US" sz="2500" dirty="0"/>
          </a:p>
        </p:txBody>
      </p:sp>
      <p:sp>
        <p:nvSpPr>
          <p:cNvPr id="19" name="Text 16"/>
          <p:cNvSpPr/>
          <p:nvPr/>
        </p:nvSpPr>
        <p:spPr>
          <a:xfrm>
            <a:off x="10287000" y="3703320"/>
            <a:ext cx="914400" cy="749808"/>
          </a:xfrm>
          <a:prstGeom prst="rect">
            <a:avLst/>
          </a:prstGeom>
          <a:solidFill>
            <a:srgbClr val="FAFCF0"/>
          </a:solidFill>
          <a:ln w="16510">
            <a:solidFill>
              <a:srgbClr val="9F303A"/>
            </a:solidFill>
          </a:ln>
        </p:spPr>
        <p:txBody>
          <a:bodyPr wrap="square" lIns="508" tIns="508" rIns="508" bIns="508" rtlCol="0" anchor="ctr">
            <a:normAutofit/>
          </a:bodyPr>
          <a:lstStyle/>
          <a:p>
            <a:pPr marL="0" indent="0" algn="ctr">
              <a:buNone/>
            </a:pPr>
            <a:r>
              <a:rPr lang="en-US" sz="2500" b="1" dirty="0">
                <a:solidFill>
                  <a:srgbClr val="9F303A"/>
                </a:solidFill>
                <a:latin typeface="Lato" pitchFamily="34" charset="0"/>
                <a:ea typeface="Lato" pitchFamily="34" charset="-122"/>
                <a:cs typeface="Lato" pitchFamily="34" charset="-120"/>
              </a:rPr>
              <a:t>2
</a:t>
            </a:r>
            <a:r>
              <a:rPr lang="en-US" sz="1000" b="1" dirty="0">
                <a:solidFill>
                  <a:srgbClr val="9F303A"/>
                </a:solidFill>
                <a:latin typeface="Lato" pitchFamily="34" charset="0"/>
                <a:ea typeface="Lato" pitchFamily="34" charset="-122"/>
                <a:cs typeface="Lato" pitchFamily="34" charset="-120"/>
              </a:rPr>
              <a:t>CLASSES</a:t>
            </a:r>
            <a:endParaRPr lang="en-US" sz="2500" dirty="0"/>
          </a:p>
        </p:txBody>
      </p:sp>
      <p:sp>
        <p:nvSpPr>
          <p:cNvPr id="20" name="Text 17"/>
          <p:cNvSpPr/>
          <p:nvPr/>
        </p:nvSpPr>
        <p:spPr>
          <a:xfrm>
            <a:off x="8915400" y="4617720"/>
            <a:ext cx="1234440" cy="749808"/>
          </a:xfrm>
          <a:prstGeom prst="rect">
            <a:avLst/>
          </a:prstGeom>
          <a:solidFill>
            <a:srgbClr val="FAFCF0"/>
          </a:solidFill>
          <a:ln w="16510">
            <a:solidFill>
              <a:srgbClr val="176563"/>
            </a:solidFill>
          </a:ln>
        </p:spPr>
        <p:txBody>
          <a:bodyPr wrap="square" lIns="508" tIns="508" rIns="508" bIns="508" rtlCol="0" anchor="ctr">
            <a:normAutofit/>
          </a:bodyPr>
          <a:lstStyle/>
          <a:p>
            <a:pPr marL="0" indent="0" algn="ctr">
              <a:buNone/>
            </a:pPr>
            <a:r>
              <a:rPr lang="en-US" sz="2500" b="1" dirty="0">
                <a:solidFill>
                  <a:srgbClr val="176563"/>
                </a:solidFill>
                <a:latin typeface="Lato" pitchFamily="34" charset="0"/>
                <a:ea typeface="Lato" pitchFamily="34" charset="-122"/>
                <a:cs typeface="Lato" pitchFamily="34" charset="-120"/>
              </a:rPr>
              <a:t>TF-IDF
</a:t>
            </a:r>
            <a:r>
              <a:rPr lang="en-US" sz="1000" b="1" dirty="0">
                <a:solidFill>
                  <a:srgbClr val="176563"/>
                </a:solidFill>
                <a:latin typeface="Lato" pitchFamily="34" charset="0"/>
                <a:ea typeface="Lato" pitchFamily="34" charset="-122"/>
                <a:cs typeface="Lato" pitchFamily="34" charset="-120"/>
              </a:rPr>
              <a:t>FEATURES</a:t>
            </a:r>
            <a:endParaRPr lang="en-US" sz="2500" dirty="0"/>
          </a:p>
        </p:txBody>
      </p:sp>
      <p:sp>
        <p:nvSpPr>
          <p:cNvPr id="21" name="Text 18"/>
          <p:cNvSpPr/>
          <p:nvPr/>
        </p:nvSpPr>
        <p:spPr>
          <a:xfrm>
            <a:off x="10286999" y="4617719"/>
            <a:ext cx="1036293" cy="932673"/>
          </a:xfrm>
          <a:prstGeom prst="rect">
            <a:avLst/>
          </a:prstGeom>
          <a:solidFill>
            <a:srgbClr val="FAFCF0"/>
          </a:solidFill>
          <a:ln w="16510">
            <a:solidFill>
              <a:srgbClr val="9F303A"/>
            </a:solidFill>
          </a:ln>
        </p:spPr>
        <p:txBody>
          <a:bodyPr wrap="square" lIns="508" tIns="508" rIns="508" bIns="508" rtlCol="0" anchor="ctr">
            <a:normAutofit/>
          </a:bodyPr>
          <a:lstStyle/>
          <a:p>
            <a:pPr marL="0" indent="0" algn="ctr">
              <a:buNone/>
            </a:pPr>
            <a:r>
              <a:rPr lang="en-US" sz="2500" b="1" dirty="0">
                <a:solidFill>
                  <a:srgbClr val="9F303A"/>
                </a:solidFill>
                <a:latin typeface="Lato" pitchFamily="34" charset="0"/>
                <a:ea typeface="Lato" pitchFamily="34" charset="-122"/>
                <a:cs typeface="Lato" pitchFamily="34" charset="-120"/>
              </a:rPr>
              <a:t>NB/SVM
</a:t>
            </a:r>
            <a:r>
              <a:rPr lang="en-US" sz="1000" b="1" dirty="0">
                <a:solidFill>
                  <a:srgbClr val="9F303A"/>
                </a:solidFill>
                <a:latin typeface="Lato" pitchFamily="34" charset="0"/>
                <a:ea typeface="Lato" pitchFamily="34" charset="-122"/>
                <a:cs typeface="Lato" pitchFamily="34" charset="-120"/>
              </a:rPr>
              <a:t>MODELS</a:t>
            </a:r>
            <a:endParaRPr lang="en-US" sz="2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E8"/>
        </a:solidFill>
        <a:effectLst/>
      </p:bgPr>
    </p:bg>
    <p:spTree>
      <p:nvGrpSpPr>
        <p:cNvPr id="1" name=""/>
        <p:cNvGrpSpPr/>
        <p:nvPr/>
      </p:nvGrpSpPr>
      <p:grpSpPr>
        <a:xfrm>
          <a:off x="0" y="0"/>
          <a:ext cx="0" cy="0"/>
          <a:chOff x="0" y="0"/>
          <a:chExt cx="0" cy="0"/>
        </a:xfrm>
      </p:grpSpPr>
      <p:sp>
        <p:nvSpPr>
          <p:cNvPr id="2" name="Shape 0"/>
          <p:cNvSpPr/>
          <p:nvPr/>
        </p:nvSpPr>
        <p:spPr>
          <a:xfrm>
            <a:off x="393192" y="91440"/>
            <a:ext cx="11411712" cy="0"/>
          </a:xfrm>
          <a:prstGeom prst="line">
            <a:avLst/>
          </a:prstGeom>
          <a:noFill/>
          <a:ln w="13970">
            <a:solidFill>
              <a:srgbClr val="CBD6BB"/>
            </a:solidFill>
            <a:prstDash val="solid"/>
          </a:ln>
        </p:spPr>
      </p:sp>
      <p:sp>
        <p:nvSpPr>
          <p:cNvPr id="3" name="Shape 1"/>
          <p:cNvSpPr/>
          <p:nvPr/>
        </p:nvSpPr>
        <p:spPr>
          <a:xfrm>
            <a:off x="393192" y="6601968"/>
            <a:ext cx="11411712" cy="0"/>
          </a:xfrm>
          <a:prstGeom prst="line">
            <a:avLst/>
          </a:prstGeom>
          <a:noFill/>
          <a:ln w="13970">
            <a:solidFill>
              <a:srgbClr val="CBD6BB"/>
            </a:solidFill>
            <a:prstDash val="solid"/>
          </a:ln>
        </p:spPr>
      </p:sp>
      <p:sp>
        <p:nvSpPr>
          <p:cNvPr id="4" name="Shape 2"/>
          <p:cNvSpPr/>
          <p:nvPr/>
        </p:nvSpPr>
        <p:spPr>
          <a:xfrm>
            <a:off x="393192" y="91440"/>
            <a:ext cx="0" cy="6510528"/>
          </a:xfrm>
          <a:prstGeom prst="line">
            <a:avLst/>
          </a:prstGeom>
          <a:noFill/>
          <a:ln w="13970">
            <a:solidFill>
              <a:srgbClr val="CBD6BB"/>
            </a:solidFill>
            <a:prstDash val="solid"/>
          </a:ln>
        </p:spPr>
      </p:sp>
      <p:sp>
        <p:nvSpPr>
          <p:cNvPr id="5" name="Shape 3"/>
          <p:cNvSpPr/>
          <p:nvPr/>
        </p:nvSpPr>
        <p:spPr>
          <a:xfrm>
            <a:off x="11804904" y="91440"/>
            <a:ext cx="0" cy="6510528"/>
          </a:xfrm>
          <a:prstGeom prst="line">
            <a:avLst/>
          </a:prstGeom>
          <a:noFill/>
          <a:ln w="13970">
            <a:solidFill>
              <a:srgbClr val="CBD6BB"/>
            </a:solidFill>
            <a:prstDash val="solid"/>
          </a:ln>
        </p:spPr>
      </p:sp>
      <p:sp>
        <p:nvSpPr>
          <p:cNvPr id="6" name="Shape 4"/>
          <p:cNvSpPr/>
          <p:nvPr/>
        </p:nvSpPr>
        <p:spPr>
          <a:xfrm>
            <a:off x="393192" y="749808"/>
            <a:ext cx="11411712" cy="0"/>
          </a:xfrm>
          <a:prstGeom prst="line">
            <a:avLst/>
          </a:prstGeom>
          <a:noFill/>
          <a:ln w="11430">
            <a:solidFill>
              <a:srgbClr val="173242"/>
            </a:solidFill>
            <a:prstDash val="solid"/>
          </a:ln>
        </p:spPr>
      </p:sp>
      <p:sp>
        <p:nvSpPr>
          <p:cNvPr id="7" name="Shape 5"/>
          <p:cNvSpPr/>
          <p:nvPr/>
        </p:nvSpPr>
        <p:spPr>
          <a:xfrm>
            <a:off x="393192" y="1060704"/>
            <a:ext cx="11411712" cy="0"/>
          </a:xfrm>
          <a:prstGeom prst="line">
            <a:avLst/>
          </a:prstGeom>
          <a:noFill/>
          <a:ln w="11430">
            <a:solidFill>
              <a:srgbClr val="173242"/>
            </a:solidFill>
            <a:prstDash val="solid"/>
          </a:ln>
        </p:spPr>
      </p:sp>
      <p:pic>
        <p:nvPicPr>
          <p:cNvPr id="8" name="Image 0" descr="/mnt/data/3b6ce1a3-ac36-48dc-a15a-81eb8802b178.png"/>
          <p:cNvPicPr>
            <a:picLocks noChangeAspect="1"/>
          </p:cNvPicPr>
          <p:nvPr/>
        </p:nvPicPr>
        <p:blipFill>
          <a:blip r:embed="rId3"/>
          <a:stretch>
            <a:fillRect/>
          </a:stretch>
        </p:blipFill>
        <p:spPr>
          <a:xfrm>
            <a:off x="655799" y="182880"/>
            <a:ext cx="1230433" cy="438912"/>
          </a:xfrm>
          <a:prstGeom prst="rect">
            <a:avLst/>
          </a:prstGeom>
        </p:spPr>
      </p:pic>
      <p:sp>
        <p:nvSpPr>
          <p:cNvPr id="9" name="Text 6"/>
          <p:cNvSpPr/>
          <p:nvPr/>
        </p:nvSpPr>
        <p:spPr>
          <a:xfrm>
            <a:off x="2029968" y="182880"/>
            <a:ext cx="6949440" cy="411480"/>
          </a:xfrm>
          <a:prstGeom prst="rect">
            <a:avLst/>
          </a:prstGeom>
          <a:noFill/>
          <a:ln/>
        </p:spPr>
        <p:txBody>
          <a:bodyPr wrap="square" lIns="254" tIns="254" rIns="254" bIns="254" rtlCol="0" anchor="ctr">
            <a:normAutofit/>
          </a:bodyPr>
          <a:lstStyle/>
          <a:p>
            <a:pPr marL="0" indent="0">
              <a:buNone/>
            </a:pPr>
            <a:r>
              <a:rPr lang="en-US" sz="2600" b="1" dirty="0">
                <a:solidFill>
                  <a:srgbClr val="173242"/>
                </a:solidFill>
                <a:latin typeface="Lato" pitchFamily="34" charset="0"/>
                <a:ea typeface="Lato" pitchFamily="34" charset="-122"/>
                <a:cs typeface="Lato" pitchFamily="34" charset="-120"/>
              </a:rPr>
              <a:t>INTRODUCTION TO THE PROJECT</a:t>
            </a:r>
            <a:endParaRPr lang="en-US" sz="2600" dirty="0"/>
          </a:p>
        </p:txBody>
      </p:sp>
      <p:sp>
        <p:nvSpPr>
          <p:cNvPr id="10" name="Text 7"/>
          <p:cNvSpPr/>
          <p:nvPr/>
        </p:nvSpPr>
        <p:spPr>
          <a:xfrm>
            <a:off x="8549640" y="832104"/>
            <a:ext cx="2788920" cy="146304"/>
          </a:xfrm>
          <a:prstGeom prst="rect">
            <a:avLst/>
          </a:prstGeom>
          <a:noFill/>
          <a:ln/>
        </p:spPr>
        <p:txBody>
          <a:bodyPr wrap="square" lIns="127" tIns="127" rIns="127" bIns="127" rtlCol="0" anchor="ctr">
            <a:normAutofit/>
          </a:bodyPr>
          <a:lstStyle/>
          <a:p>
            <a:pPr marL="0" indent="0" algn="r">
              <a:buNone/>
            </a:pPr>
            <a:r>
              <a:rPr lang="en-US" sz="860" dirty="0">
                <a:solidFill>
                  <a:srgbClr val="173242"/>
                </a:solidFill>
                <a:latin typeface="Lato" pitchFamily="34" charset="0"/>
                <a:ea typeface="Lato" pitchFamily="34" charset="-122"/>
                <a:cs typeface="Lato" pitchFamily="34" charset="-120"/>
              </a:rPr>
              <a:t>ML PROJECT | CSE | SECTION 4</a:t>
            </a:r>
            <a:endParaRPr lang="en-US" sz="860" dirty="0"/>
          </a:p>
        </p:txBody>
      </p:sp>
      <p:sp>
        <p:nvSpPr>
          <p:cNvPr id="11" name="Shape 8"/>
          <p:cNvSpPr/>
          <p:nvPr/>
        </p:nvSpPr>
        <p:spPr>
          <a:xfrm>
            <a:off x="393192" y="5989320"/>
            <a:ext cx="11411712" cy="0"/>
          </a:xfrm>
          <a:prstGeom prst="line">
            <a:avLst/>
          </a:prstGeom>
          <a:noFill/>
          <a:ln w="11430">
            <a:solidFill>
              <a:srgbClr val="173242"/>
            </a:solidFill>
            <a:prstDash val="solid"/>
          </a:ln>
        </p:spPr>
      </p:sp>
      <p:sp>
        <p:nvSpPr>
          <p:cNvPr id="12" name="Shape 9"/>
          <p:cNvSpPr/>
          <p:nvPr/>
        </p:nvSpPr>
        <p:spPr>
          <a:xfrm>
            <a:off x="393192" y="6309360"/>
            <a:ext cx="11411712" cy="0"/>
          </a:xfrm>
          <a:prstGeom prst="line">
            <a:avLst/>
          </a:prstGeom>
          <a:noFill/>
          <a:ln w="11430">
            <a:solidFill>
              <a:srgbClr val="173242"/>
            </a:solidFill>
            <a:prstDash val="solid"/>
          </a:ln>
        </p:spPr>
      </p:sp>
      <p:sp>
        <p:nvSpPr>
          <p:cNvPr id="13" name="Text 10"/>
          <p:cNvSpPr/>
          <p:nvPr/>
        </p:nvSpPr>
        <p:spPr>
          <a:xfrm>
            <a:off x="713232" y="6108192"/>
            <a:ext cx="8138160" cy="146304"/>
          </a:xfrm>
          <a:prstGeom prst="rect">
            <a:avLst/>
          </a:prstGeom>
          <a:noFill/>
          <a:ln/>
        </p:spPr>
        <p:txBody>
          <a:bodyPr wrap="square" lIns="127" tIns="127" rIns="127" bIns="127" rtlCol="0" anchor="ctr">
            <a:normAutofit/>
          </a:bodyPr>
          <a:lstStyle/>
          <a:p>
            <a:pPr marL="0" indent="0">
              <a:buNone/>
            </a:pPr>
            <a:r>
              <a:rPr lang="en-US" sz="800" dirty="0">
                <a:solidFill>
                  <a:srgbClr val="173242"/>
                </a:solidFill>
                <a:latin typeface="Lato" pitchFamily="34" charset="0"/>
                <a:ea typeface="Lato" pitchFamily="34" charset="-122"/>
                <a:cs typeface="Lato" pitchFamily="34" charset="-120"/>
              </a:rPr>
              <a:t>SPAM EMAIL CLASSIFICATION USING NAIVE BAYES AND SUPPORT VECTOR MACHINE</a:t>
            </a:r>
            <a:endParaRPr lang="en-US" sz="800" dirty="0"/>
          </a:p>
        </p:txBody>
      </p:sp>
      <p:sp>
        <p:nvSpPr>
          <p:cNvPr id="14" name="Text 11"/>
          <p:cNvSpPr/>
          <p:nvPr/>
        </p:nvSpPr>
        <p:spPr>
          <a:xfrm>
            <a:off x="10058400" y="6108192"/>
            <a:ext cx="1298448" cy="146304"/>
          </a:xfrm>
          <a:prstGeom prst="rect">
            <a:avLst/>
          </a:prstGeom>
          <a:noFill/>
          <a:ln/>
        </p:spPr>
        <p:txBody>
          <a:bodyPr wrap="square" lIns="127" tIns="127" rIns="127" bIns="127" rtlCol="0" anchor="ctr"/>
          <a:lstStyle/>
          <a:p>
            <a:pPr marL="0" indent="0" algn="r">
              <a:buNone/>
            </a:pPr>
            <a:r>
              <a:rPr lang="en-US" sz="800" dirty="0">
                <a:solidFill>
                  <a:srgbClr val="173242"/>
                </a:solidFill>
                <a:latin typeface="Lato" pitchFamily="34" charset="0"/>
                <a:ea typeface="Lato" pitchFamily="34" charset="-122"/>
                <a:cs typeface="Lato" pitchFamily="34" charset="-120"/>
              </a:rPr>
              <a:t>A.Y. 2026–27</a:t>
            </a:r>
            <a:endParaRPr lang="en-US" sz="800" dirty="0"/>
          </a:p>
        </p:txBody>
      </p:sp>
      <p:sp>
        <p:nvSpPr>
          <p:cNvPr id="15" name="Text 12"/>
          <p:cNvSpPr/>
          <p:nvPr/>
        </p:nvSpPr>
        <p:spPr>
          <a:xfrm>
            <a:off x="868680" y="1335024"/>
            <a:ext cx="4572000" cy="1005840"/>
          </a:xfrm>
          <a:prstGeom prst="rect">
            <a:avLst/>
          </a:prstGeom>
          <a:noFill/>
          <a:ln/>
        </p:spPr>
        <p:txBody>
          <a:bodyPr wrap="square" lIns="127" tIns="127" rIns="127" bIns="127" rtlCol="0" anchor="ctr">
            <a:normAutofit/>
          </a:bodyPr>
          <a:lstStyle/>
          <a:p>
            <a:pPr marL="0" indent="0" algn="l">
              <a:buNone/>
            </a:pPr>
            <a:r>
              <a:rPr lang="en-US" sz="3800" b="1" dirty="0">
                <a:solidFill>
                  <a:srgbClr val="173242"/>
                </a:solidFill>
                <a:latin typeface="Lato" pitchFamily="34" charset="0"/>
                <a:ea typeface="Lato" pitchFamily="34" charset="-122"/>
                <a:cs typeface="Lato" pitchFamily="34" charset="-120"/>
              </a:rPr>
              <a:t>WHY SPAM</a:t>
            </a:r>
            <a:endParaRPr lang="en-US" sz="3800" dirty="0"/>
          </a:p>
          <a:p>
            <a:pPr marL="0" indent="0" algn="l">
              <a:buNone/>
            </a:pPr>
            <a:r>
              <a:rPr lang="en-US" sz="3800" b="1" dirty="0">
                <a:solidFill>
                  <a:srgbClr val="173242"/>
                </a:solidFill>
                <a:latin typeface="Lato" pitchFamily="34" charset="0"/>
                <a:ea typeface="Lato" pitchFamily="34" charset="-122"/>
                <a:cs typeface="Lato" pitchFamily="34" charset="-120"/>
              </a:rPr>
              <a:t>DETECTION?</a:t>
            </a:r>
            <a:endParaRPr lang="en-US" sz="3800" dirty="0"/>
          </a:p>
        </p:txBody>
      </p:sp>
      <p:sp>
        <p:nvSpPr>
          <p:cNvPr id="16" name="Text 13"/>
          <p:cNvSpPr/>
          <p:nvPr/>
        </p:nvSpPr>
        <p:spPr>
          <a:xfrm>
            <a:off x="762001" y="2479328"/>
            <a:ext cx="5334000" cy="2284693"/>
          </a:xfrm>
          <a:prstGeom prst="rect">
            <a:avLst/>
          </a:prstGeom>
          <a:solidFill>
            <a:srgbClr val="FAFCF0"/>
          </a:solidFill>
          <a:ln w="12700">
            <a:solidFill>
              <a:srgbClr val="176563"/>
            </a:solidFill>
          </a:ln>
        </p:spPr>
        <p:txBody>
          <a:bodyPr wrap="square" lIns="1524" tIns="1524" rIns="1524" bIns="1524" rtlCol="0" anchor="ctr">
            <a:normAutofit/>
          </a:bodyPr>
          <a:lstStyle/>
          <a:p>
            <a:pPr marL="0" indent="0" algn="l">
              <a:buNone/>
            </a:pPr>
            <a:r>
              <a:rPr lang="en-US" sz="1680" dirty="0">
                <a:solidFill>
                  <a:srgbClr val="173242"/>
                </a:solidFill>
                <a:latin typeface="Lato" pitchFamily="34" charset="0"/>
                <a:ea typeface="Lato" pitchFamily="34" charset="-122"/>
                <a:cs typeface="Lato" pitchFamily="34" charset="-120"/>
              </a:rPr>
              <a:t>Unsolicited bulk messages affect productivity, storage management and cyber security. Spam messages often include advertisements, phishing attempts, fraudulent links and misleading content. Since the volume of digital messages is high, manual filtering is slow and unreliable. Therefore, an automated machine learning approach is useful for identifying suspicious text patterns and separating spam from legitimate messages.</a:t>
            </a:r>
            <a:endParaRPr lang="en-US" sz="1680" dirty="0"/>
          </a:p>
        </p:txBody>
      </p:sp>
      <p:sp>
        <p:nvSpPr>
          <p:cNvPr id="17" name="Text 14"/>
          <p:cNvSpPr/>
          <p:nvPr/>
        </p:nvSpPr>
        <p:spPr>
          <a:xfrm>
            <a:off x="6537960" y="1335024"/>
            <a:ext cx="4297680" cy="1005840"/>
          </a:xfrm>
          <a:prstGeom prst="rect">
            <a:avLst/>
          </a:prstGeom>
          <a:noFill/>
          <a:ln/>
        </p:spPr>
        <p:txBody>
          <a:bodyPr wrap="square" lIns="127" tIns="127" rIns="127" bIns="127" rtlCol="0" anchor="ctr">
            <a:normAutofit/>
          </a:bodyPr>
          <a:lstStyle/>
          <a:p>
            <a:pPr marL="0" indent="0" algn="l">
              <a:buNone/>
            </a:pPr>
            <a:r>
              <a:rPr lang="en-US" sz="4000" b="1" dirty="0">
                <a:solidFill>
                  <a:srgbClr val="173242"/>
                </a:solidFill>
                <a:latin typeface="Lato" pitchFamily="34" charset="0"/>
                <a:ea typeface="Lato" pitchFamily="34" charset="-122"/>
                <a:cs typeface="Lato" pitchFamily="34" charset="-120"/>
              </a:rPr>
              <a:t>ML WORKFLOW</a:t>
            </a:r>
            <a:endParaRPr lang="en-US" sz="4000" dirty="0"/>
          </a:p>
        </p:txBody>
      </p:sp>
      <p:sp>
        <p:nvSpPr>
          <p:cNvPr id="18" name="Text 15"/>
          <p:cNvSpPr/>
          <p:nvPr/>
        </p:nvSpPr>
        <p:spPr>
          <a:xfrm>
            <a:off x="6291072" y="2286004"/>
            <a:ext cx="5138928" cy="2478020"/>
          </a:xfrm>
          <a:prstGeom prst="rect">
            <a:avLst/>
          </a:prstGeom>
          <a:solidFill>
            <a:srgbClr val="EEF4DD"/>
          </a:solidFill>
          <a:ln w="12700">
            <a:solidFill>
              <a:srgbClr val="9F303A"/>
            </a:solidFill>
          </a:ln>
        </p:spPr>
        <p:txBody>
          <a:bodyPr wrap="square" lIns="1524" tIns="1524" rIns="1524" bIns="1524" rtlCol="0" anchor="ctr">
            <a:normAutofit/>
          </a:bodyPr>
          <a:lstStyle/>
          <a:p>
            <a:pPr marL="0" indent="0" algn="l">
              <a:buNone/>
            </a:pPr>
            <a:r>
              <a:rPr lang="en-US" sz="1680" dirty="0">
                <a:solidFill>
                  <a:srgbClr val="173242"/>
                </a:solidFill>
                <a:latin typeface="Lato" pitchFamily="34" charset="0"/>
                <a:ea typeface="Lato" pitchFamily="34" charset="-122"/>
                <a:cs typeface="Lato" pitchFamily="34" charset="-120"/>
              </a:rPr>
              <a:t>The project follows a standard text-classification pipeline. The raw message is cleaned, converted into numerical vectors using CountVectorizer and TF-IDF, and then passed to Naive Bayes and Support Vector Machine classifiers. Comparing these models helps identify which method gives stronger spam detection with lower false positives and false negatives.</a:t>
            </a:r>
            <a:endParaRPr lang="en-US" sz="1680" dirty="0"/>
          </a:p>
        </p:txBody>
      </p:sp>
      <p:sp>
        <p:nvSpPr>
          <p:cNvPr id="19" name="Text 16"/>
          <p:cNvSpPr/>
          <p:nvPr/>
        </p:nvSpPr>
        <p:spPr>
          <a:xfrm>
            <a:off x="914400" y="5084064"/>
            <a:ext cx="1444752" cy="438912"/>
          </a:xfrm>
          <a:prstGeom prst="rect">
            <a:avLst/>
          </a:prstGeom>
          <a:solidFill>
            <a:srgbClr val="176563"/>
          </a:solidFill>
          <a:ln w="12700">
            <a:solidFill>
              <a:srgbClr val="176563"/>
            </a:solidFill>
          </a:ln>
        </p:spPr>
        <p:txBody>
          <a:bodyPr wrap="square" lIns="635" tIns="635" rIns="635" bIns="635" rtlCol="0" anchor="ctr">
            <a:normAutofit/>
          </a:bodyPr>
          <a:lstStyle/>
          <a:p>
            <a:pPr marL="0" indent="0" algn="ctr">
              <a:buNone/>
            </a:pPr>
            <a:r>
              <a:rPr lang="en-US" sz="1200" b="1" dirty="0">
                <a:solidFill>
                  <a:srgbClr val="FFFFFF"/>
                </a:solidFill>
                <a:latin typeface="Lato" pitchFamily="34" charset="0"/>
                <a:ea typeface="Lato" pitchFamily="34" charset="-122"/>
                <a:cs typeface="Lato" pitchFamily="34" charset="-120"/>
              </a:rPr>
              <a:t>TEXT</a:t>
            </a:r>
            <a:endParaRPr lang="en-US" sz="1200" dirty="0"/>
          </a:p>
        </p:txBody>
      </p:sp>
      <p:sp>
        <p:nvSpPr>
          <p:cNvPr id="20" name="Text 17"/>
          <p:cNvSpPr/>
          <p:nvPr/>
        </p:nvSpPr>
        <p:spPr>
          <a:xfrm>
            <a:off x="2441448" y="5102352"/>
            <a:ext cx="384048" cy="274320"/>
          </a:xfrm>
          <a:prstGeom prst="rect">
            <a:avLst/>
          </a:prstGeom>
          <a:noFill/>
          <a:ln/>
        </p:spPr>
        <p:txBody>
          <a:bodyPr wrap="square" lIns="127" tIns="127" rIns="127" bIns="127" rtlCol="0" anchor="ctr"/>
          <a:lstStyle/>
          <a:p>
            <a:pPr marL="0" indent="0" algn="ctr">
              <a:buNone/>
            </a:pPr>
            <a:r>
              <a:rPr lang="en-US" sz="1800" dirty="0">
                <a:solidFill>
                  <a:srgbClr val="173242"/>
                </a:solidFill>
                <a:latin typeface="Lato" pitchFamily="34" charset="0"/>
                <a:ea typeface="Lato" pitchFamily="34" charset="-122"/>
                <a:cs typeface="Lato" pitchFamily="34" charset="-120"/>
              </a:rPr>
              <a:t>→</a:t>
            </a:r>
            <a:endParaRPr lang="en-US" sz="1800" dirty="0"/>
          </a:p>
        </p:txBody>
      </p:sp>
      <p:sp>
        <p:nvSpPr>
          <p:cNvPr id="21" name="Text 18"/>
          <p:cNvSpPr/>
          <p:nvPr/>
        </p:nvSpPr>
        <p:spPr>
          <a:xfrm>
            <a:off x="3063240" y="5084064"/>
            <a:ext cx="1444752" cy="438912"/>
          </a:xfrm>
          <a:prstGeom prst="rect">
            <a:avLst/>
          </a:prstGeom>
          <a:solidFill>
            <a:srgbClr val="9F303A"/>
          </a:solidFill>
          <a:ln w="12700">
            <a:solidFill>
              <a:srgbClr val="9F303A"/>
            </a:solidFill>
          </a:ln>
        </p:spPr>
        <p:txBody>
          <a:bodyPr wrap="square" lIns="635" tIns="635" rIns="635" bIns="635" rtlCol="0" anchor="ctr">
            <a:normAutofit/>
          </a:bodyPr>
          <a:lstStyle/>
          <a:p>
            <a:pPr marL="0" indent="0" algn="ctr">
              <a:buNone/>
            </a:pPr>
            <a:r>
              <a:rPr lang="en-US" sz="1200" b="1" dirty="0">
                <a:solidFill>
                  <a:srgbClr val="FFFFFF"/>
                </a:solidFill>
                <a:latin typeface="Lato" pitchFamily="34" charset="0"/>
                <a:ea typeface="Lato" pitchFamily="34" charset="-122"/>
                <a:cs typeface="Lato" pitchFamily="34" charset="-120"/>
              </a:rPr>
              <a:t>CLEAN</a:t>
            </a:r>
            <a:endParaRPr lang="en-US" sz="1200" dirty="0"/>
          </a:p>
        </p:txBody>
      </p:sp>
      <p:sp>
        <p:nvSpPr>
          <p:cNvPr id="22" name="Text 19"/>
          <p:cNvSpPr/>
          <p:nvPr/>
        </p:nvSpPr>
        <p:spPr>
          <a:xfrm>
            <a:off x="4590288" y="5102352"/>
            <a:ext cx="384048" cy="274320"/>
          </a:xfrm>
          <a:prstGeom prst="rect">
            <a:avLst/>
          </a:prstGeom>
          <a:noFill/>
          <a:ln/>
        </p:spPr>
        <p:txBody>
          <a:bodyPr wrap="square" lIns="127" tIns="127" rIns="127" bIns="127" rtlCol="0" anchor="ctr"/>
          <a:lstStyle/>
          <a:p>
            <a:pPr marL="0" indent="0" algn="ctr">
              <a:buNone/>
            </a:pPr>
            <a:r>
              <a:rPr lang="en-US" sz="1800" dirty="0">
                <a:solidFill>
                  <a:srgbClr val="173242"/>
                </a:solidFill>
                <a:latin typeface="Lato" pitchFamily="34" charset="0"/>
                <a:ea typeface="Lato" pitchFamily="34" charset="-122"/>
                <a:cs typeface="Lato" pitchFamily="34" charset="-120"/>
              </a:rPr>
              <a:t>→</a:t>
            </a:r>
            <a:endParaRPr lang="en-US" sz="1800" dirty="0"/>
          </a:p>
        </p:txBody>
      </p:sp>
      <p:sp>
        <p:nvSpPr>
          <p:cNvPr id="23" name="Text 20"/>
          <p:cNvSpPr/>
          <p:nvPr/>
        </p:nvSpPr>
        <p:spPr>
          <a:xfrm>
            <a:off x="5212080" y="5084064"/>
            <a:ext cx="1444752" cy="438912"/>
          </a:xfrm>
          <a:prstGeom prst="rect">
            <a:avLst/>
          </a:prstGeom>
          <a:solidFill>
            <a:srgbClr val="176563"/>
          </a:solidFill>
          <a:ln w="12700">
            <a:solidFill>
              <a:srgbClr val="176563"/>
            </a:solidFill>
          </a:ln>
        </p:spPr>
        <p:txBody>
          <a:bodyPr wrap="square" lIns="635" tIns="635" rIns="635" bIns="635" rtlCol="0" anchor="ctr">
            <a:normAutofit/>
          </a:bodyPr>
          <a:lstStyle/>
          <a:p>
            <a:pPr marL="0" indent="0" algn="ctr">
              <a:buNone/>
            </a:pPr>
            <a:r>
              <a:rPr lang="en-US" sz="1200" b="1" dirty="0">
                <a:solidFill>
                  <a:srgbClr val="FFFFFF"/>
                </a:solidFill>
                <a:latin typeface="Lato" pitchFamily="34" charset="0"/>
                <a:ea typeface="Lato" pitchFamily="34" charset="-122"/>
                <a:cs typeface="Lato" pitchFamily="34" charset="-120"/>
              </a:rPr>
              <a:t>VECTORIZE</a:t>
            </a:r>
            <a:endParaRPr lang="en-US" sz="1200" dirty="0"/>
          </a:p>
        </p:txBody>
      </p:sp>
      <p:sp>
        <p:nvSpPr>
          <p:cNvPr id="24" name="Text 21"/>
          <p:cNvSpPr/>
          <p:nvPr/>
        </p:nvSpPr>
        <p:spPr>
          <a:xfrm>
            <a:off x="6739128" y="5102352"/>
            <a:ext cx="384048" cy="274320"/>
          </a:xfrm>
          <a:prstGeom prst="rect">
            <a:avLst/>
          </a:prstGeom>
          <a:noFill/>
          <a:ln/>
        </p:spPr>
        <p:txBody>
          <a:bodyPr wrap="square" lIns="127" tIns="127" rIns="127" bIns="127" rtlCol="0" anchor="ctr"/>
          <a:lstStyle/>
          <a:p>
            <a:pPr marL="0" indent="0" algn="ctr">
              <a:buNone/>
            </a:pPr>
            <a:r>
              <a:rPr lang="en-US" sz="1800" dirty="0">
                <a:solidFill>
                  <a:srgbClr val="173242"/>
                </a:solidFill>
                <a:latin typeface="Lato" pitchFamily="34" charset="0"/>
                <a:ea typeface="Lato" pitchFamily="34" charset="-122"/>
                <a:cs typeface="Lato" pitchFamily="34" charset="-120"/>
              </a:rPr>
              <a:t>→</a:t>
            </a:r>
            <a:endParaRPr lang="en-US" sz="1800" dirty="0"/>
          </a:p>
        </p:txBody>
      </p:sp>
      <p:sp>
        <p:nvSpPr>
          <p:cNvPr id="25" name="Text 22"/>
          <p:cNvSpPr/>
          <p:nvPr/>
        </p:nvSpPr>
        <p:spPr>
          <a:xfrm>
            <a:off x="7360920" y="5084064"/>
            <a:ext cx="1444752" cy="438912"/>
          </a:xfrm>
          <a:prstGeom prst="rect">
            <a:avLst/>
          </a:prstGeom>
          <a:solidFill>
            <a:srgbClr val="9F303A"/>
          </a:solidFill>
          <a:ln w="12700">
            <a:solidFill>
              <a:srgbClr val="9F303A"/>
            </a:solidFill>
          </a:ln>
        </p:spPr>
        <p:txBody>
          <a:bodyPr wrap="square" lIns="635" tIns="635" rIns="635" bIns="635" rtlCol="0" anchor="ctr">
            <a:normAutofit/>
          </a:bodyPr>
          <a:lstStyle/>
          <a:p>
            <a:pPr marL="0" indent="0" algn="ctr">
              <a:buNone/>
            </a:pPr>
            <a:r>
              <a:rPr lang="en-US" sz="1200" b="1" dirty="0">
                <a:solidFill>
                  <a:srgbClr val="FFFFFF"/>
                </a:solidFill>
                <a:latin typeface="Lato" pitchFamily="34" charset="0"/>
                <a:ea typeface="Lato" pitchFamily="34" charset="-122"/>
                <a:cs typeface="Lato" pitchFamily="34" charset="-120"/>
              </a:rPr>
              <a:t>CLASSIFY</a:t>
            </a:r>
            <a:endParaRPr lang="en-US" sz="1200" dirty="0"/>
          </a:p>
        </p:txBody>
      </p:sp>
      <p:sp>
        <p:nvSpPr>
          <p:cNvPr id="26" name="Text 23"/>
          <p:cNvSpPr/>
          <p:nvPr/>
        </p:nvSpPr>
        <p:spPr>
          <a:xfrm>
            <a:off x="8887968" y="5102352"/>
            <a:ext cx="384048" cy="274320"/>
          </a:xfrm>
          <a:prstGeom prst="rect">
            <a:avLst/>
          </a:prstGeom>
          <a:noFill/>
          <a:ln/>
        </p:spPr>
        <p:txBody>
          <a:bodyPr wrap="square" lIns="127" tIns="127" rIns="127" bIns="127" rtlCol="0" anchor="ctr"/>
          <a:lstStyle/>
          <a:p>
            <a:pPr marL="0" indent="0" algn="ctr">
              <a:buNone/>
            </a:pPr>
            <a:r>
              <a:rPr lang="en-US" sz="1800" dirty="0">
                <a:solidFill>
                  <a:srgbClr val="173242"/>
                </a:solidFill>
                <a:latin typeface="Lato" pitchFamily="34" charset="0"/>
                <a:ea typeface="Lato" pitchFamily="34" charset="-122"/>
                <a:cs typeface="Lato" pitchFamily="34" charset="-120"/>
              </a:rPr>
              <a:t>→</a:t>
            </a:r>
            <a:endParaRPr lang="en-US" sz="1800" dirty="0"/>
          </a:p>
        </p:txBody>
      </p:sp>
      <p:sp>
        <p:nvSpPr>
          <p:cNvPr id="27" name="Text 24"/>
          <p:cNvSpPr/>
          <p:nvPr/>
        </p:nvSpPr>
        <p:spPr>
          <a:xfrm>
            <a:off x="9509760" y="5084064"/>
            <a:ext cx="1444752" cy="438912"/>
          </a:xfrm>
          <a:prstGeom prst="rect">
            <a:avLst/>
          </a:prstGeom>
          <a:solidFill>
            <a:srgbClr val="176563"/>
          </a:solidFill>
          <a:ln w="12700">
            <a:solidFill>
              <a:srgbClr val="176563"/>
            </a:solidFill>
          </a:ln>
        </p:spPr>
        <p:txBody>
          <a:bodyPr wrap="square" lIns="635" tIns="635" rIns="635" bIns="635" rtlCol="0" anchor="ctr">
            <a:normAutofit/>
          </a:bodyPr>
          <a:lstStyle/>
          <a:p>
            <a:pPr marL="0" indent="0" algn="ctr">
              <a:buNone/>
            </a:pPr>
            <a:r>
              <a:rPr lang="en-US" sz="1200" b="1" dirty="0">
                <a:solidFill>
                  <a:srgbClr val="FFFFFF"/>
                </a:solidFill>
                <a:latin typeface="Lato" pitchFamily="34" charset="0"/>
                <a:ea typeface="Lato" pitchFamily="34" charset="-122"/>
                <a:cs typeface="Lato" pitchFamily="34" charset="-120"/>
              </a:rPr>
              <a:t>OUTPUT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E8"/>
        </a:solidFill>
        <a:effectLst/>
      </p:bgPr>
    </p:bg>
    <p:spTree>
      <p:nvGrpSpPr>
        <p:cNvPr id="1" name=""/>
        <p:cNvGrpSpPr/>
        <p:nvPr/>
      </p:nvGrpSpPr>
      <p:grpSpPr>
        <a:xfrm>
          <a:off x="0" y="0"/>
          <a:ext cx="0" cy="0"/>
          <a:chOff x="0" y="0"/>
          <a:chExt cx="0" cy="0"/>
        </a:xfrm>
      </p:grpSpPr>
      <p:sp>
        <p:nvSpPr>
          <p:cNvPr id="2" name="Shape 0"/>
          <p:cNvSpPr/>
          <p:nvPr/>
        </p:nvSpPr>
        <p:spPr>
          <a:xfrm>
            <a:off x="393192" y="91440"/>
            <a:ext cx="11411712" cy="0"/>
          </a:xfrm>
          <a:prstGeom prst="line">
            <a:avLst/>
          </a:prstGeom>
          <a:noFill/>
          <a:ln w="13970">
            <a:solidFill>
              <a:srgbClr val="CBD6BB"/>
            </a:solidFill>
            <a:prstDash val="solid"/>
          </a:ln>
        </p:spPr>
      </p:sp>
      <p:sp>
        <p:nvSpPr>
          <p:cNvPr id="3" name="Shape 1"/>
          <p:cNvSpPr/>
          <p:nvPr/>
        </p:nvSpPr>
        <p:spPr>
          <a:xfrm>
            <a:off x="393192" y="6601968"/>
            <a:ext cx="11411712" cy="0"/>
          </a:xfrm>
          <a:prstGeom prst="line">
            <a:avLst/>
          </a:prstGeom>
          <a:noFill/>
          <a:ln w="13970">
            <a:solidFill>
              <a:srgbClr val="CBD6BB"/>
            </a:solidFill>
            <a:prstDash val="solid"/>
          </a:ln>
        </p:spPr>
      </p:sp>
      <p:sp>
        <p:nvSpPr>
          <p:cNvPr id="4" name="Shape 2"/>
          <p:cNvSpPr/>
          <p:nvPr/>
        </p:nvSpPr>
        <p:spPr>
          <a:xfrm>
            <a:off x="393192" y="91440"/>
            <a:ext cx="0" cy="6510528"/>
          </a:xfrm>
          <a:prstGeom prst="line">
            <a:avLst/>
          </a:prstGeom>
          <a:noFill/>
          <a:ln w="13970">
            <a:solidFill>
              <a:srgbClr val="CBD6BB"/>
            </a:solidFill>
            <a:prstDash val="solid"/>
          </a:ln>
        </p:spPr>
      </p:sp>
      <p:sp>
        <p:nvSpPr>
          <p:cNvPr id="5" name="Shape 3"/>
          <p:cNvSpPr/>
          <p:nvPr/>
        </p:nvSpPr>
        <p:spPr>
          <a:xfrm>
            <a:off x="11804904" y="91440"/>
            <a:ext cx="0" cy="6510528"/>
          </a:xfrm>
          <a:prstGeom prst="line">
            <a:avLst/>
          </a:prstGeom>
          <a:noFill/>
          <a:ln w="13970">
            <a:solidFill>
              <a:srgbClr val="CBD6BB"/>
            </a:solidFill>
            <a:prstDash val="solid"/>
          </a:ln>
        </p:spPr>
      </p:sp>
      <p:sp>
        <p:nvSpPr>
          <p:cNvPr id="6" name="Shape 4"/>
          <p:cNvSpPr/>
          <p:nvPr/>
        </p:nvSpPr>
        <p:spPr>
          <a:xfrm>
            <a:off x="393192" y="749808"/>
            <a:ext cx="11411712" cy="0"/>
          </a:xfrm>
          <a:prstGeom prst="line">
            <a:avLst/>
          </a:prstGeom>
          <a:noFill/>
          <a:ln w="11430">
            <a:solidFill>
              <a:srgbClr val="173242"/>
            </a:solidFill>
            <a:prstDash val="solid"/>
          </a:ln>
        </p:spPr>
      </p:sp>
      <p:sp>
        <p:nvSpPr>
          <p:cNvPr id="7" name="Shape 5"/>
          <p:cNvSpPr/>
          <p:nvPr/>
        </p:nvSpPr>
        <p:spPr>
          <a:xfrm>
            <a:off x="393192" y="1060704"/>
            <a:ext cx="11411712" cy="0"/>
          </a:xfrm>
          <a:prstGeom prst="line">
            <a:avLst/>
          </a:prstGeom>
          <a:noFill/>
          <a:ln w="11430">
            <a:solidFill>
              <a:srgbClr val="173242"/>
            </a:solidFill>
            <a:prstDash val="solid"/>
          </a:ln>
        </p:spPr>
      </p:sp>
      <p:pic>
        <p:nvPicPr>
          <p:cNvPr id="8" name="Image 0" descr="/mnt/data/3b6ce1a3-ac36-48dc-a15a-81eb8802b178.png"/>
          <p:cNvPicPr>
            <a:picLocks noChangeAspect="1"/>
          </p:cNvPicPr>
          <p:nvPr/>
        </p:nvPicPr>
        <p:blipFill>
          <a:blip r:embed="rId3"/>
          <a:stretch>
            <a:fillRect/>
          </a:stretch>
        </p:blipFill>
        <p:spPr>
          <a:xfrm>
            <a:off x="655799" y="182880"/>
            <a:ext cx="1230433" cy="438912"/>
          </a:xfrm>
          <a:prstGeom prst="rect">
            <a:avLst/>
          </a:prstGeom>
        </p:spPr>
      </p:pic>
      <p:sp>
        <p:nvSpPr>
          <p:cNvPr id="9" name="Text 6"/>
          <p:cNvSpPr/>
          <p:nvPr/>
        </p:nvSpPr>
        <p:spPr>
          <a:xfrm>
            <a:off x="2029968" y="182880"/>
            <a:ext cx="6949440" cy="411480"/>
          </a:xfrm>
          <a:prstGeom prst="rect">
            <a:avLst/>
          </a:prstGeom>
          <a:noFill/>
          <a:ln/>
        </p:spPr>
        <p:txBody>
          <a:bodyPr wrap="square" lIns="254" tIns="254" rIns="254" bIns="254" rtlCol="0" anchor="ctr">
            <a:normAutofit/>
          </a:bodyPr>
          <a:lstStyle/>
          <a:p>
            <a:pPr marL="0" indent="0">
              <a:buNone/>
            </a:pPr>
            <a:r>
              <a:rPr lang="en-US" sz="2600" b="1" dirty="0">
                <a:solidFill>
                  <a:srgbClr val="173242"/>
                </a:solidFill>
                <a:latin typeface="Lato" pitchFamily="34" charset="0"/>
                <a:ea typeface="Lato" pitchFamily="34" charset="-122"/>
                <a:cs typeface="Lato" pitchFamily="34" charset="-120"/>
              </a:rPr>
              <a:t>REQUIREMENT ANALYSIS</a:t>
            </a:r>
            <a:endParaRPr lang="en-US" sz="2600" dirty="0"/>
          </a:p>
        </p:txBody>
      </p:sp>
      <p:sp>
        <p:nvSpPr>
          <p:cNvPr id="10" name="Text 7"/>
          <p:cNvSpPr/>
          <p:nvPr/>
        </p:nvSpPr>
        <p:spPr>
          <a:xfrm>
            <a:off x="8549640" y="832104"/>
            <a:ext cx="2788920" cy="146304"/>
          </a:xfrm>
          <a:prstGeom prst="rect">
            <a:avLst/>
          </a:prstGeom>
          <a:noFill/>
          <a:ln/>
        </p:spPr>
        <p:txBody>
          <a:bodyPr wrap="square" lIns="127" tIns="127" rIns="127" bIns="127" rtlCol="0" anchor="ctr">
            <a:normAutofit/>
          </a:bodyPr>
          <a:lstStyle/>
          <a:p>
            <a:pPr marL="0" indent="0" algn="r">
              <a:buNone/>
            </a:pPr>
            <a:r>
              <a:rPr lang="en-US" sz="860" dirty="0">
                <a:solidFill>
                  <a:srgbClr val="173242"/>
                </a:solidFill>
                <a:latin typeface="Lato" pitchFamily="34" charset="0"/>
                <a:ea typeface="Lato" pitchFamily="34" charset="-122"/>
                <a:cs typeface="Lato" pitchFamily="34" charset="-120"/>
              </a:rPr>
              <a:t>ML PROJECT | CSE | SECTION 4</a:t>
            </a:r>
            <a:endParaRPr lang="en-US" sz="860" dirty="0"/>
          </a:p>
        </p:txBody>
      </p:sp>
      <p:sp>
        <p:nvSpPr>
          <p:cNvPr id="11" name="Shape 8"/>
          <p:cNvSpPr/>
          <p:nvPr/>
        </p:nvSpPr>
        <p:spPr>
          <a:xfrm>
            <a:off x="393192" y="5989320"/>
            <a:ext cx="11411712" cy="0"/>
          </a:xfrm>
          <a:prstGeom prst="line">
            <a:avLst/>
          </a:prstGeom>
          <a:noFill/>
          <a:ln w="11430">
            <a:solidFill>
              <a:srgbClr val="173242"/>
            </a:solidFill>
            <a:prstDash val="solid"/>
          </a:ln>
        </p:spPr>
      </p:sp>
      <p:sp>
        <p:nvSpPr>
          <p:cNvPr id="12" name="Shape 9"/>
          <p:cNvSpPr/>
          <p:nvPr/>
        </p:nvSpPr>
        <p:spPr>
          <a:xfrm>
            <a:off x="393192" y="6309360"/>
            <a:ext cx="11411712" cy="0"/>
          </a:xfrm>
          <a:prstGeom prst="line">
            <a:avLst/>
          </a:prstGeom>
          <a:noFill/>
          <a:ln w="11430">
            <a:solidFill>
              <a:srgbClr val="173242"/>
            </a:solidFill>
            <a:prstDash val="solid"/>
          </a:ln>
        </p:spPr>
      </p:sp>
      <p:sp>
        <p:nvSpPr>
          <p:cNvPr id="13" name="Text 10"/>
          <p:cNvSpPr/>
          <p:nvPr/>
        </p:nvSpPr>
        <p:spPr>
          <a:xfrm>
            <a:off x="713232" y="6108192"/>
            <a:ext cx="8138160" cy="146304"/>
          </a:xfrm>
          <a:prstGeom prst="rect">
            <a:avLst/>
          </a:prstGeom>
          <a:noFill/>
          <a:ln/>
        </p:spPr>
        <p:txBody>
          <a:bodyPr wrap="square" lIns="127" tIns="127" rIns="127" bIns="127" rtlCol="0" anchor="ctr">
            <a:normAutofit/>
          </a:bodyPr>
          <a:lstStyle/>
          <a:p>
            <a:pPr marL="0" indent="0">
              <a:buNone/>
            </a:pPr>
            <a:r>
              <a:rPr lang="en-US" sz="800" dirty="0">
                <a:solidFill>
                  <a:srgbClr val="173242"/>
                </a:solidFill>
                <a:latin typeface="Lato" pitchFamily="34" charset="0"/>
                <a:ea typeface="Lato" pitchFamily="34" charset="-122"/>
                <a:cs typeface="Lato" pitchFamily="34" charset="-120"/>
              </a:rPr>
              <a:t>SPAM EMAIL CLASSIFICATION USING NAIVE BAYES AND SUPPORT VECTOR MACHINE</a:t>
            </a:r>
            <a:endParaRPr lang="en-US" sz="800" dirty="0"/>
          </a:p>
        </p:txBody>
      </p:sp>
      <p:sp>
        <p:nvSpPr>
          <p:cNvPr id="14" name="Text 11"/>
          <p:cNvSpPr/>
          <p:nvPr/>
        </p:nvSpPr>
        <p:spPr>
          <a:xfrm>
            <a:off x="10058400" y="6108192"/>
            <a:ext cx="1298448" cy="146304"/>
          </a:xfrm>
          <a:prstGeom prst="rect">
            <a:avLst/>
          </a:prstGeom>
          <a:noFill/>
          <a:ln/>
        </p:spPr>
        <p:txBody>
          <a:bodyPr wrap="square" lIns="127" tIns="127" rIns="127" bIns="127" rtlCol="0" anchor="ctr"/>
          <a:lstStyle/>
          <a:p>
            <a:pPr marL="0" indent="0" algn="r">
              <a:buNone/>
            </a:pPr>
            <a:r>
              <a:rPr lang="en-US" sz="800" dirty="0">
                <a:solidFill>
                  <a:srgbClr val="173242"/>
                </a:solidFill>
                <a:latin typeface="Lato" pitchFamily="34" charset="0"/>
                <a:ea typeface="Lato" pitchFamily="34" charset="-122"/>
                <a:cs typeface="Lato" pitchFamily="34" charset="-120"/>
              </a:rPr>
              <a:t>A.Y. 2026–27</a:t>
            </a:r>
            <a:endParaRPr lang="en-US" sz="800" dirty="0"/>
          </a:p>
        </p:txBody>
      </p:sp>
      <p:sp>
        <p:nvSpPr>
          <p:cNvPr id="15" name="Text 12"/>
          <p:cNvSpPr/>
          <p:nvPr/>
        </p:nvSpPr>
        <p:spPr>
          <a:xfrm>
            <a:off x="749808" y="1325880"/>
            <a:ext cx="2944368" cy="512064"/>
          </a:xfrm>
          <a:prstGeom prst="rect">
            <a:avLst/>
          </a:prstGeom>
          <a:solidFill>
            <a:srgbClr val="173242"/>
          </a:solidFill>
          <a:ln w="8890">
            <a:solidFill>
              <a:srgbClr val="879587"/>
            </a:solidFill>
          </a:ln>
        </p:spPr>
        <p:txBody>
          <a:bodyPr wrap="square" lIns="762" tIns="762" rIns="762" bIns="762" rtlCol="0" anchor="ctr">
            <a:normAutofit/>
          </a:bodyPr>
          <a:lstStyle/>
          <a:p>
            <a:pPr marL="0" indent="0" algn="ctr">
              <a:buNone/>
            </a:pPr>
            <a:r>
              <a:rPr lang="en-US" sz="1500" b="1" dirty="0">
                <a:solidFill>
                  <a:srgbClr val="FFFFFF"/>
                </a:solidFill>
                <a:latin typeface="Lato" pitchFamily="34" charset="0"/>
                <a:ea typeface="Lato" pitchFamily="34" charset="-122"/>
                <a:cs typeface="Lato" pitchFamily="34" charset="-120"/>
              </a:rPr>
              <a:t>REQUIREMENTS</a:t>
            </a:r>
            <a:endParaRPr lang="en-US" sz="1500" dirty="0"/>
          </a:p>
        </p:txBody>
      </p:sp>
      <p:sp>
        <p:nvSpPr>
          <p:cNvPr id="16" name="Text 13"/>
          <p:cNvSpPr/>
          <p:nvPr/>
        </p:nvSpPr>
        <p:spPr>
          <a:xfrm>
            <a:off x="3694176" y="1325880"/>
            <a:ext cx="7607808" cy="512064"/>
          </a:xfrm>
          <a:prstGeom prst="rect">
            <a:avLst/>
          </a:prstGeom>
          <a:solidFill>
            <a:srgbClr val="173242"/>
          </a:solidFill>
          <a:ln w="8890">
            <a:solidFill>
              <a:srgbClr val="879587"/>
            </a:solidFill>
          </a:ln>
        </p:spPr>
        <p:txBody>
          <a:bodyPr wrap="square" lIns="762" tIns="762" rIns="762" bIns="762" rtlCol="0" anchor="ctr">
            <a:normAutofit/>
          </a:bodyPr>
          <a:lstStyle/>
          <a:p>
            <a:pPr marL="0" indent="0" algn="ctr">
              <a:buNone/>
            </a:pPr>
            <a:r>
              <a:rPr lang="en-US" sz="1500" b="1" dirty="0">
                <a:solidFill>
                  <a:srgbClr val="FFFFFF"/>
                </a:solidFill>
                <a:latin typeface="Lato" pitchFamily="34" charset="0"/>
                <a:ea typeface="Lato" pitchFamily="34" charset="-122"/>
                <a:cs typeface="Lato" pitchFamily="34" charset="-120"/>
              </a:rPr>
              <a:t>SPECIFICATIONS</a:t>
            </a:r>
            <a:endParaRPr lang="en-US" sz="1500" dirty="0"/>
          </a:p>
        </p:txBody>
      </p:sp>
      <p:sp>
        <p:nvSpPr>
          <p:cNvPr id="17" name="Text 14"/>
          <p:cNvSpPr/>
          <p:nvPr/>
        </p:nvSpPr>
        <p:spPr>
          <a:xfrm>
            <a:off x="749808" y="1837944"/>
            <a:ext cx="2944368" cy="749808"/>
          </a:xfrm>
          <a:prstGeom prst="rect">
            <a:avLst/>
          </a:prstGeom>
          <a:solidFill>
            <a:srgbClr val="FAFCF0"/>
          </a:solidFill>
          <a:ln w="8890">
            <a:solidFill>
              <a:srgbClr val="879587"/>
            </a:solidFill>
          </a:ln>
        </p:spPr>
        <p:txBody>
          <a:bodyPr wrap="square" lIns="762" tIns="762" rIns="762" bIns="762" rtlCol="0" anchor="ctr">
            <a:normAutofit/>
          </a:bodyPr>
          <a:lstStyle/>
          <a:p>
            <a:pPr marL="0" indent="0" algn="l">
              <a:buNone/>
            </a:pPr>
            <a:r>
              <a:rPr lang="en-US" sz="1520" b="1" dirty="0">
                <a:solidFill>
                  <a:srgbClr val="173242"/>
                </a:solidFill>
                <a:latin typeface="Lato" pitchFamily="34" charset="0"/>
                <a:ea typeface="Lato" pitchFamily="34" charset="-122"/>
                <a:cs typeface="Lato" pitchFamily="34" charset="-120"/>
              </a:rPr>
              <a:t>Operating System &amp; IDE</a:t>
            </a:r>
            <a:endParaRPr lang="en-US" sz="1520" dirty="0"/>
          </a:p>
        </p:txBody>
      </p:sp>
      <p:sp>
        <p:nvSpPr>
          <p:cNvPr id="18" name="Text 15"/>
          <p:cNvSpPr/>
          <p:nvPr/>
        </p:nvSpPr>
        <p:spPr>
          <a:xfrm>
            <a:off x="3694176" y="1837944"/>
            <a:ext cx="7607808" cy="749808"/>
          </a:xfrm>
          <a:prstGeom prst="rect">
            <a:avLst/>
          </a:prstGeom>
          <a:solidFill>
            <a:srgbClr val="FAFCF0"/>
          </a:solidFill>
          <a:ln w="8890">
            <a:solidFill>
              <a:srgbClr val="879587"/>
            </a:solidFill>
          </a:ln>
        </p:spPr>
        <p:txBody>
          <a:bodyPr wrap="square" lIns="762" tIns="762" rIns="762" bIns="762" rtlCol="0" anchor="ctr">
            <a:normAutofit/>
          </a:bodyPr>
          <a:lstStyle/>
          <a:p>
            <a:pPr marL="0" indent="0" algn="l">
              <a:buNone/>
            </a:pPr>
            <a:r>
              <a:rPr lang="en-US" sz="1500" b="1" dirty="0">
                <a:solidFill>
                  <a:srgbClr val="173242"/>
                </a:solidFill>
                <a:latin typeface="Lato" pitchFamily="34" charset="0"/>
                <a:ea typeface="Lato" pitchFamily="34" charset="-122"/>
                <a:cs typeface="Lato" pitchFamily="34" charset="-120"/>
              </a:rPr>
              <a:t>Windows 10/11 or Ubuntu Linux; Jupyter Notebook, Google Colab or Visual Studio Code</a:t>
            </a:r>
            <a:endParaRPr lang="en-US" sz="1500" dirty="0"/>
          </a:p>
        </p:txBody>
      </p:sp>
      <p:sp>
        <p:nvSpPr>
          <p:cNvPr id="19" name="Text 16"/>
          <p:cNvSpPr/>
          <p:nvPr/>
        </p:nvSpPr>
        <p:spPr>
          <a:xfrm>
            <a:off x="749808" y="2587752"/>
            <a:ext cx="2944368" cy="749808"/>
          </a:xfrm>
          <a:prstGeom prst="rect">
            <a:avLst/>
          </a:prstGeom>
          <a:solidFill>
            <a:srgbClr val="E8F0D6"/>
          </a:solidFill>
          <a:ln w="8890">
            <a:solidFill>
              <a:srgbClr val="879587"/>
            </a:solidFill>
          </a:ln>
        </p:spPr>
        <p:txBody>
          <a:bodyPr wrap="square" lIns="762" tIns="762" rIns="762" bIns="762" rtlCol="0" anchor="ctr">
            <a:normAutofit/>
          </a:bodyPr>
          <a:lstStyle/>
          <a:p>
            <a:pPr marL="0" indent="0" algn="l">
              <a:buNone/>
            </a:pPr>
            <a:r>
              <a:rPr lang="en-US" sz="1520" b="1" dirty="0">
                <a:solidFill>
                  <a:srgbClr val="173242"/>
                </a:solidFill>
                <a:latin typeface="Lato" pitchFamily="34" charset="0"/>
                <a:ea typeface="Lato" pitchFamily="34" charset="-122"/>
                <a:cs typeface="Lato" pitchFamily="34" charset="-120"/>
              </a:rPr>
              <a:t>Programming &amp; Libraries</a:t>
            </a:r>
            <a:endParaRPr lang="en-US" sz="1520" dirty="0"/>
          </a:p>
        </p:txBody>
      </p:sp>
      <p:sp>
        <p:nvSpPr>
          <p:cNvPr id="20" name="Text 17"/>
          <p:cNvSpPr/>
          <p:nvPr/>
        </p:nvSpPr>
        <p:spPr>
          <a:xfrm>
            <a:off x="3694176" y="2587752"/>
            <a:ext cx="7607808" cy="749808"/>
          </a:xfrm>
          <a:prstGeom prst="rect">
            <a:avLst/>
          </a:prstGeom>
          <a:solidFill>
            <a:srgbClr val="E8F0D6"/>
          </a:solidFill>
          <a:ln w="8890">
            <a:solidFill>
              <a:srgbClr val="879587"/>
            </a:solidFill>
          </a:ln>
        </p:spPr>
        <p:txBody>
          <a:bodyPr wrap="square" lIns="762" tIns="762" rIns="762" bIns="762" rtlCol="0" anchor="ctr">
            <a:normAutofit/>
          </a:bodyPr>
          <a:lstStyle/>
          <a:p>
            <a:pPr marL="0" indent="0" algn="l">
              <a:buNone/>
            </a:pPr>
            <a:r>
              <a:rPr lang="en-US" sz="1500" b="1" dirty="0">
                <a:solidFill>
                  <a:srgbClr val="173242"/>
                </a:solidFill>
                <a:latin typeface="Lato" pitchFamily="34" charset="0"/>
                <a:ea typeface="Lato" pitchFamily="34" charset="-122"/>
                <a:cs typeface="Lato" pitchFamily="34" charset="-120"/>
              </a:rPr>
              <a:t>Python 3.10+, Scikit-learn, Pandas, NumPy, Matplotlib and Seaborn</a:t>
            </a:r>
            <a:endParaRPr lang="en-US" sz="1500" dirty="0"/>
          </a:p>
        </p:txBody>
      </p:sp>
      <p:sp>
        <p:nvSpPr>
          <p:cNvPr id="21" name="Text 18"/>
          <p:cNvSpPr/>
          <p:nvPr/>
        </p:nvSpPr>
        <p:spPr>
          <a:xfrm>
            <a:off x="749808" y="3337560"/>
            <a:ext cx="2944368" cy="749808"/>
          </a:xfrm>
          <a:prstGeom prst="rect">
            <a:avLst/>
          </a:prstGeom>
          <a:solidFill>
            <a:srgbClr val="FAFCF0"/>
          </a:solidFill>
          <a:ln w="8890">
            <a:solidFill>
              <a:srgbClr val="879587"/>
            </a:solidFill>
          </a:ln>
        </p:spPr>
        <p:txBody>
          <a:bodyPr wrap="square" lIns="762" tIns="762" rIns="762" bIns="762" rtlCol="0" anchor="ctr">
            <a:normAutofit/>
          </a:bodyPr>
          <a:lstStyle/>
          <a:p>
            <a:pPr marL="0" indent="0" algn="l">
              <a:buNone/>
            </a:pPr>
            <a:r>
              <a:rPr lang="en-US" sz="1520" b="1" dirty="0">
                <a:solidFill>
                  <a:srgbClr val="173242"/>
                </a:solidFill>
                <a:latin typeface="Lato" pitchFamily="34" charset="0"/>
                <a:ea typeface="Lato" pitchFamily="34" charset="-122"/>
                <a:cs typeface="Lato" pitchFamily="34" charset="-120"/>
              </a:rPr>
              <a:t>Dataset &amp; Storage</a:t>
            </a:r>
            <a:endParaRPr lang="en-US" sz="1520" dirty="0"/>
          </a:p>
        </p:txBody>
      </p:sp>
      <p:sp>
        <p:nvSpPr>
          <p:cNvPr id="22" name="Text 19"/>
          <p:cNvSpPr/>
          <p:nvPr/>
        </p:nvSpPr>
        <p:spPr>
          <a:xfrm>
            <a:off x="3694176" y="3337560"/>
            <a:ext cx="7607808" cy="749808"/>
          </a:xfrm>
          <a:prstGeom prst="rect">
            <a:avLst/>
          </a:prstGeom>
          <a:solidFill>
            <a:srgbClr val="FAFCF0"/>
          </a:solidFill>
          <a:ln w="8890">
            <a:solidFill>
              <a:srgbClr val="879587"/>
            </a:solidFill>
          </a:ln>
        </p:spPr>
        <p:txBody>
          <a:bodyPr wrap="square" lIns="762" tIns="762" rIns="762" bIns="762" rtlCol="0" anchor="ctr">
            <a:normAutofit/>
          </a:bodyPr>
          <a:lstStyle/>
          <a:p>
            <a:pPr marL="0" indent="0" algn="l">
              <a:buNone/>
            </a:pPr>
            <a:r>
              <a:rPr lang="en-US" sz="1500" b="1" dirty="0">
                <a:solidFill>
                  <a:srgbClr val="173242"/>
                </a:solidFill>
                <a:latin typeface="Lato" pitchFamily="34" charset="0"/>
                <a:ea typeface="Lato" pitchFamily="34" charset="-122"/>
                <a:cs typeface="Lato" pitchFamily="34" charset="-120"/>
              </a:rPr>
              <a:t>spam.csv dataset containing labelled ham/spam text messages; CSV-based storage</a:t>
            </a:r>
            <a:endParaRPr lang="en-US" sz="1500" dirty="0"/>
          </a:p>
        </p:txBody>
      </p:sp>
      <p:sp>
        <p:nvSpPr>
          <p:cNvPr id="23" name="Text 20"/>
          <p:cNvSpPr/>
          <p:nvPr/>
        </p:nvSpPr>
        <p:spPr>
          <a:xfrm>
            <a:off x="749808" y="4087368"/>
            <a:ext cx="2944368" cy="749808"/>
          </a:xfrm>
          <a:prstGeom prst="rect">
            <a:avLst/>
          </a:prstGeom>
          <a:solidFill>
            <a:srgbClr val="E8F0D6"/>
          </a:solidFill>
          <a:ln w="8890">
            <a:solidFill>
              <a:srgbClr val="879587"/>
            </a:solidFill>
          </a:ln>
        </p:spPr>
        <p:txBody>
          <a:bodyPr wrap="square" lIns="762" tIns="762" rIns="762" bIns="762" rtlCol="0" anchor="ctr">
            <a:normAutofit/>
          </a:bodyPr>
          <a:lstStyle/>
          <a:p>
            <a:pPr marL="0" indent="0" algn="l">
              <a:buNone/>
            </a:pPr>
            <a:r>
              <a:rPr lang="en-US" sz="1520" b="1" dirty="0">
                <a:solidFill>
                  <a:srgbClr val="173242"/>
                </a:solidFill>
                <a:latin typeface="Lato" pitchFamily="34" charset="0"/>
                <a:ea typeface="Lato" pitchFamily="34" charset="-122"/>
                <a:cs typeface="Lato" pitchFamily="34" charset="-120"/>
              </a:rPr>
              <a:t>ML Pipeline</a:t>
            </a:r>
            <a:endParaRPr lang="en-US" sz="1520" dirty="0"/>
          </a:p>
        </p:txBody>
      </p:sp>
      <p:sp>
        <p:nvSpPr>
          <p:cNvPr id="24" name="Text 21"/>
          <p:cNvSpPr/>
          <p:nvPr/>
        </p:nvSpPr>
        <p:spPr>
          <a:xfrm>
            <a:off x="3694176" y="4087368"/>
            <a:ext cx="7607808" cy="749808"/>
          </a:xfrm>
          <a:prstGeom prst="rect">
            <a:avLst/>
          </a:prstGeom>
          <a:solidFill>
            <a:srgbClr val="E8F0D6"/>
          </a:solidFill>
          <a:ln w="8890">
            <a:solidFill>
              <a:srgbClr val="879587"/>
            </a:solidFill>
          </a:ln>
        </p:spPr>
        <p:txBody>
          <a:bodyPr wrap="square" lIns="762" tIns="762" rIns="762" bIns="762" rtlCol="0" anchor="ctr">
            <a:normAutofit/>
          </a:bodyPr>
          <a:lstStyle/>
          <a:p>
            <a:pPr marL="0" indent="0" algn="l">
              <a:buNone/>
            </a:pPr>
            <a:r>
              <a:rPr lang="en-US" sz="1500" b="1" dirty="0">
                <a:solidFill>
                  <a:srgbClr val="173242"/>
                </a:solidFill>
                <a:latin typeface="Lato" pitchFamily="34" charset="0"/>
                <a:ea typeface="Lato" pitchFamily="34" charset="-122"/>
                <a:cs typeface="Lato" pitchFamily="34" charset="-120"/>
              </a:rPr>
              <a:t>Text cleaning, CountVectorizer / TF-IDF Vectorizer, Naive Bayes and Support Vector Machine</a:t>
            </a:r>
            <a:endParaRPr lang="en-US" sz="1500" dirty="0"/>
          </a:p>
        </p:txBody>
      </p:sp>
      <p:sp>
        <p:nvSpPr>
          <p:cNvPr id="25" name="Text 22"/>
          <p:cNvSpPr/>
          <p:nvPr/>
        </p:nvSpPr>
        <p:spPr>
          <a:xfrm>
            <a:off x="749808" y="4837176"/>
            <a:ext cx="2944368" cy="749808"/>
          </a:xfrm>
          <a:prstGeom prst="rect">
            <a:avLst/>
          </a:prstGeom>
          <a:solidFill>
            <a:srgbClr val="FAFCF0"/>
          </a:solidFill>
          <a:ln w="8890">
            <a:solidFill>
              <a:srgbClr val="879587"/>
            </a:solidFill>
          </a:ln>
        </p:spPr>
        <p:txBody>
          <a:bodyPr wrap="square" lIns="762" tIns="762" rIns="762" bIns="762" rtlCol="0" anchor="ctr">
            <a:normAutofit/>
          </a:bodyPr>
          <a:lstStyle/>
          <a:p>
            <a:pPr marL="0" indent="0" algn="l">
              <a:buNone/>
            </a:pPr>
            <a:r>
              <a:rPr lang="en-US" sz="1520" b="1" dirty="0">
                <a:solidFill>
                  <a:srgbClr val="173242"/>
                </a:solidFill>
                <a:latin typeface="Lato" pitchFamily="34" charset="0"/>
                <a:ea typeface="Lato" pitchFamily="34" charset="-122"/>
                <a:cs typeface="Lato" pitchFamily="34" charset="-120"/>
              </a:rPr>
              <a:t>Evaluation &amp; Hardware</a:t>
            </a:r>
            <a:endParaRPr lang="en-US" sz="1520" dirty="0"/>
          </a:p>
        </p:txBody>
      </p:sp>
      <p:sp>
        <p:nvSpPr>
          <p:cNvPr id="26" name="Text 23"/>
          <p:cNvSpPr/>
          <p:nvPr/>
        </p:nvSpPr>
        <p:spPr>
          <a:xfrm>
            <a:off x="3694176" y="4837176"/>
            <a:ext cx="7607808" cy="749808"/>
          </a:xfrm>
          <a:prstGeom prst="rect">
            <a:avLst/>
          </a:prstGeom>
          <a:solidFill>
            <a:srgbClr val="FAFCF0"/>
          </a:solidFill>
          <a:ln w="8890">
            <a:solidFill>
              <a:srgbClr val="879587"/>
            </a:solidFill>
          </a:ln>
        </p:spPr>
        <p:txBody>
          <a:bodyPr wrap="square" lIns="762" tIns="762" rIns="762" bIns="762" rtlCol="0" anchor="ctr">
            <a:normAutofit/>
          </a:bodyPr>
          <a:lstStyle/>
          <a:p>
            <a:pPr marL="0" indent="0" algn="l">
              <a:buNone/>
            </a:pPr>
            <a:r>
              <a:rPr lang="en-US" sz="1500" b="1" dirty="0">
                <a:solidFill>
                  <a:srgbClr val="173242"/>
                </a:solidFill>
                <a:latin typeface="Lato" pitchFamily="34" charset="0"/>
                <a:ea typeface="Lato" pitchFamily="34" charset="-122"/>
                <a:cs typeface="Lato" pitchFamily="34" charset="-120"/>
              </a:rPr>
              <a:t>Accuracy, Precision, Recall, F1-Score and Confusion Matrix; 4 GB RAM minimum; GPU not required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E8"/>
        </a:solidFill>
        <a:effectLst/>
      </p:bgPr>
    </p:bg>
    <p:spTree>
      <p:nvGrpSpPr>
        <p:cNvPr id="1" name=""/>
        <p:cNvGrpSpPr/>
        <p:nvPr/>
      </p:nvGrpSpPr>
      <p:grpSpPr>
        <a:xfrm>
          <a:off x="0" y="0"/>
          <a:ext cx="0" cy="0"/>
          <a:chOff x="0" y="0"/>
          <a:chExt cx="0" cy="0"/>
        </a:xfrm>
      </p:grpSpPr>
      <p:sp>
        <p:nvSpPr>
          <p:cNvPr id="2" name="Shape 0"/>
          <p:cNvSpPr/>
          <p:nvPr/>
        </p:nvSpPr>
        <p:spPr>
          <a:xfrm>
            <a:off x="393192" y="91440"/>
            <a:ext cx="11411712" cy="0"/>
          </a:xfrm>
          <a:prstGeom prst="line">
            <a:avLst/>
          </a:prstGeom>
          <a:noFill/>
          <a:ln w="13970">
            <a:solidFill>
              <a:srgbClr val="CBD6BB"/>
            </a:solidFill>
            <a:prstDash val="solid"/>
          </a:ln>
        </p:spPr>
      </p:sp>
      <p:sp>
        <p:nvSpPr>
          <p:cNvPr id="3" name="Shape 1"/>
          <p:cNvSpPr/>
          <p:nvPr/>
        </p:nvSpPr>
        <p:spPr>
          <a:xfrm>
            <a:off x="393192" y="6601968"/>
            <a:ext cx="11411712" cy="0"/>
          </a:xfrm>
          <a:prstGeom prst="line">
            <a:avLst/>
          </a:prstGeom>
          <a:noFill/>
          <a:ln w="13970">
            <a:solidFill>
              <a:srgbClr val="CBD6BB"/>
            </a:solidFill>
            <a:prstDash val="solid"/>
          </a:ln>
        </p:spPr>
      </p:sp>
      <p:sp>
        <p:nvSpPr>
          <p:cNvPr id="4" name="Shape 2"/>
          <p:cNvSpPr/>
          <p:nvPr/>
        </p:nvSpPr>
        <p:spPr>
          <a:xfrm>
            <a:off x="393192" y="91440"/>
            <a:ext cx="0" cy="6510528"/>
          </a:xfrm>
          <a:prstGeom prst="line">
            <a:avLst/>
          </a:prstGeom>
          <a:noFill/>
          <a:ln w="13970">
            <a:solidFill>
              <a:srgbClr val="CBD6BB"/>
            </a:solidFill>
            <a:prstDash val="solid"/>
          </a:ln>
        </p:spPr>
      </p:sp>
      <p:sp>
        <p:nvSpPr>
          <p:cNvPr id="5" name="Shape 3"/>
          <p:cNvSpPr/>
          <p:nvPr/>
        </p:nvSpPr>
        <p:spPr>
          <a:xfrm>
            <a:off x="11804904" y="91440"/>
            <a:ext cx="0" cy="6510528"/>
          </a:xfrm>
          <a:prstGeom prst="line">
            <a:avLst/>
          </a:prstGeom>
          <a:noFill/>
          <a:ln w="13970">
            <a:solidFill>
              <a:srgbClr val="CBD6BB"/>
            </a:solidFill>
            <a:prstDash val="solid"/>
          </a:ln>
        </p:spPr>
      </p:sp>
      <p:sp>
        <p:nvSpPr>
          <p:cNvPr id="6" name="Shape 4"/>
          <p:cNvSpPr/>
          <p:nvPr/>
        </p:nvSpPr>
        <p:spPr>
          <a:xfrm>
            <a:off x="393192" y="749808"/>
            <a:ext cx="11411712" cy="0"/>
          </a:xfrm>
          <a:prstGeom prst="line">
            <a:avLst/>
          </a:prstGeom>
          <a:noFill/>
          <a:ln w="11430">
            <a:solidFill>
              <a:srgbClr val="173242"/>
            </a:solidFill>
            <a:prstDash val="solid"/>
          </a:ln>
        </p:spPr>
      </p:sp>
      <p:sp>
        <p:nvSpPr>
          <p:cNvPr id="7" name="Shape 5"/>
          <p:cNvSpPr/>
          <p:nvPr/>
        </p:nvSpPr>
        <p:spPr>
          <a:xfrm>
            <a:off x="393192" y="1060704"/>
            <a:ext cx="11411712" cy="0"/>
          </a:xfrm>
          <a:prstGeom prst="line">
            <a:avLst/>
          </a:prstGeom>
          <a:noFill/>
          <a:ln w="11430">
            <a:solidFill>
              <a:srgbClr val="173242"/>
            </a:solidFill>
            <a:prstDash val="solid"/>
          </a:ln>
        </p:spPr>
      </p:sp>
      <p:pic>
        <p:nvPicPr>
          <p:cNvPr id="8" name="Image 0" descr="/mnt/data/3b6ce1a3-ac36-48dc-a15a-81eb8802b178.png"/>
          <p:cNvPicPr>
            <a:picLocks noChangeAspect="1"/>
          </p:cNvPicPr>
          <p:nvPr/>
        </p:nvPicPr>
        <p:blipFill>
          <a:blip r:embed="rId3"/>
          <a:stretch>
            <a:fillRect/>
          </a:stretch>
        </p:blipFill>
        <p:spPr>
          <a:xfrm>
            <a:off x="655799" y="182880"/>
            <a:ext cx="1230433" cy="438912"/>
          </a:xfrm>
          <a:prstGeom prst="rect">
            <a:avLst/>
          </a:prstGeom>
        </p:spPr>
      </p:pic>
      <p:sp>
        <p:nvSpPr>
          <p:cNvPr id="9" name="Text 6"/>
          <p:cNvSpPr/>
          <p:nvPr/>
        </p:nvSpPr>
        <p:spPr>
          <a:xfrm>
            <a:off x="2029968" y="182880"/>
            <a:ext cx="6949440" cy="411480"/>
          </a:xfrm>
          <a:prstGeom prst="rect">
            <a:avLst/>
          </a:prstGeom>
          <a:noFill/>
          <a:ln/>
        </p:spPr>
        <p:txBody>
          <a:bodyPr wrap="square" lIns="254" tIns="254" rIns="254" bIns="254" rtlCol="0" anchor="ctr">
            <a:normAutofit/>
          </a:bodyPr>
          <a:lstStyle/>
          <a:p>
            <a:pPr marL="0" indent="0">
              <a:buNone/>
            </a:pPr>
            <a:r>
              <a:rPr lang="en-US" sz="2600" b="1" dirty="0">
                <a:solidFill>
                  <a:srgbClr val="173242"/>
                </a:solidFill>
                <a:latin typeface="Lato" pitchFamily="34" charset="0"/>
                <a:ea typeface="Lato" pitchFamily="34" charset="-122"/>
                <a:cs typeface="Lato" pitchFamily="34" charset="-120"/>
              </a:rPr>
              <a:t>LITERATURE REVIEW – PART 1</a:t>
            </a:r>
            <a:endParaRPr lang="en-US" sz="2600" dirty="0"/>
          </a:p>
        </p:txBody>
      </p:sp>
      <p:sp>
        <p:nvSpPr>
          <p:cNvPr id="10" name="Text 7"/>
          <p:cNvSpPr/>
          <p:nvPr/>
        </p:nvSpPr>
        <p:spPr>
          <a:xfrm>
            <a:off x="8549640" y="832104"/>
            <a:ext cx="2788920" cy="146304"/>
          </a:xfrm>
          <a:prstGeom prst="rect">
            <a:avLst/>
          </a:prstGeom>
          <a:noFill/>
          <a:ln/>
        </p:spPr>
        <p:txBody>
          <a:bodyPr wrap="square" lIns="127" tIns="127" rIns="127" bIns="127" rtlCol="0" anchor="ctr">
            <a:normAutofit/>
          </a:bodyPr>
          <a:lstStyle/>
          <a:p>
            <a:pPr marL="0" indent="0" algn="r">
              <a:buNone/>
            </a:pPr>
            <a:r>
              <a:rPr lang="en-US" sz="860" dirty="0">
                <a:solidFill>
                  <a:srgbClr val="173242"/>
                </a:solidFill>
                <a:latin typeface="Lato" pitchFamily="34" charset="0"/>
                <a:ea typeface="Lato" pitchFamily="34" charset="-122"/>
                <a:cs typeface="Lato" pitchFamily="34" charset="-120"/>
              </a:rPr>
              <a:t>ML PROJECT | CSE | SECTION 4</a:t>
            </a:r>
            <a:endParaRPr lang="en-US" sz="860" dirty="0"/>
          </a:p>
        </p:txBody>
      </p:sp>
      <p:sp>
        <p:nvSpPr>
          <p:cNvPr id="11" name="Shape 8"/>
          <p:cNvSpPr/>
          <p:nvPr/>
        </p:nvSpPr>
        <p:spPr>
          <a:xfrm>
            <a:off x="393192" y="5989320"/>
            <a:ext cx="11411712" cy="0"/>
          </a:xfrm>
          <a:prstGeom prst="line">
            <a:avLst/>
          </a:prstGeom>
          <a:noFill/>
          <a:ln w="11430">
            <a:solidFill>
              <a:srgbClr val="173242"/>
            </a:solidFill>
            <a:prstDash val="solid"/>
          </a:ln>
        </p:spPr>
      </p:sp>
      <p:sp>
        <p:nvSpPr>
          <p:cNvPr id="12" name="Shape 9"/>
          <p:cNvSpPr/>
          <p:nvPr/>
        </p:nvSpPr>
        <p:spPr>
          <a:xfrm>
            <a:off x="393192" y="6309360"/>
            <a:ext cx="11411712" cy="0"/>
          </a:xfrm>
          <a:prstGeom prst="line">
            <a:avLst/>
          </a:prstGeom>
          <a:noFill/>
          <a:ln w="11430">
            <a:solidFill>
              <a:srgbClr val="173242"/>
            </a:solidFill>
            <a:prstDash val="solid"/>
          </a:ln>
        </p:spPr>
      </p:sp>
      <p:sp>
        <p:nvSpPr>
          <p:cNvPr id="13" name="Text 10"/>
          <p:cNvSpPr/>
          <p:nvPr/>
        </p:nvSpPr>
        <p:spPr>
          <a:xfrm>
            <a:off x="713232" y="6108192"/>
            <a:ext cx="8138160" cy="146304"/>
          </a:xfrm>
          <a:prstGeom prst="rect">
            <a:avLst/>
          </a:prstGeom>
          <a:noFill/>
          <a:ln/>
        </p:spPr>
        <p:txBody>
          <a:bodyPr wrap="square" lIns="127" tIns="127" rIns="127" bIns="127" rtlCol="0" anchor="ctr">
            <a:normAutofit/>
          </a:bodyPr>
          <a:lstStyle/>
          <a:p>
            <a:pPr marL="0" indent="0">
              <a:buNone/>
            </a:pPr>
            <a:r>
              <a:rPr lang="en-US" sz="800" dirty="0">
                <a:solidFill>
                  <a:srgbClr val="173242"/>
                </a:solidFill>
                <a:latin typeface="Lato" pitchFamily="34" charset="0"/>
                <a:ea typeface="Lato" pitchFamily="34" charset="-122"/>
                <a:cs typeface="Lato" pitchFamily="34" charset="-120"/>
              </a:rPr>
              <a:t>SPAM EMAIL CLASSIFICATION USING NAIVE BAYES AND SUPPORT VECTOR MACHINE</a:t>
            </a:r>
            <a:endParaRPr lang="en-US" sz="800" dirty="0"/>
          </a:p>
        </p:txBody>
      </p:sp>
      <p:sp>
        <p:nvSpPr>
          <p:cNvPr id="14" name="Text 11"/>
          <p:cNvSpPr/>
          <p:nvPr/>
        </p:nvSpPr>
        <p:spPr>
          <a:xfrm>
            <a:off x="10058400" y="6108192"/>
            <a:ext cx="1298448" cy="146304"/>
          </a:xfrm>
          <a:prstGeom prst="rect">
            <a:avLst/>
          </a:prstGeom>
          <a:noFill/>
          <a:ln/>
        </p:spPr>
        <p:txBody>
          <a:bodyPr wrap="square" lIns="127" tIns="127" rIns="127" bIns="127" rtlCol="0" anchor="ctr"/>
          <a:lstStyle/>
          <a:p>
            <a:pPr marL="0" indent="0" algn="r">
              <a:buNone/>
            </a:pPr>
            <a:r>
              <a:rPr lang="en-US" sz="800" dirty="0">
                <a:solidFill>
                  <a:srgbClr val="173242"/>
                </a:solidFill>
                <a:latin typeface="Lato" pitchFamily="34" charset="0"/>
                <a:ea typeface="Lato" pitchFamily="34" charset="-122"/>
                <a:cs typeface="Lato" pitchFamily="34" charset="-120"/>
              </a:rPr>
              <a:t>A.Y. 2026–27</a:t>
            </a:r>
            <a:endParaRPr lang="en-US" sz="800" dirty="0"/>
          </a:p>
        </p:txBody>
      </p:sp>
      <p:sp>
        <p:nvSpPr>
          <p:cNvPr id="15" name="Text 12"/>
          <p:cNvSpPr/>
          <p:nvPr/>
        </p:nvSpPr>
        <p:spPr>
          <a:xfrm>
            <a:off x="768096" y="1170432"/>
            <a:ext cx="2011680" cy="274320"/>
          </a:xfrm>
          <a:prstGeom prst="rect">
            <a:avLst/>
          </a:prstGeom>
          <a:solidFill>
            <a:srgbClr val="9F303A"/>
          </a:solidFill>
          <a:ln w="12700">
            <a:solidFill>
              <a:srgbClr val="9F303A"/>
            </a:solidFill>
          </a:ln>
        </p:spPr>
        <p:txBody>
          <a:bodyPr wrap="square" lIns="381" tIns="381" rIns="381" bIns="381" rtlCol="0" anchor="ctr"/>
          <a:lstStyle/>
          <a:p>
            <a:pPr marL="0" indent="0" algn="ctr">
              <a:buNone/>
            </a:pPr>
            <a:r>
              <a:rPr lang="en-US" sz="1500" b="1" dirty="0">
                <a:solidFill>
                  <a:srgbClr val="FFFFFF"/>
                </a:solidFill>
                <a:latin typeface="Lato" pitchFamily="34" charset="0"/>
                <a:ea typeface="Lato" pitchFamily="34" charset="-122"/>
                <a:cs typeface="Lato" pitchFamily="34" charset="-120"/>
              </a:rPr>
              <a:t>PAPERS 1–5</a:t>
            </a:r>
            <a:endParaRPr lang="en-US" sz="1500" dirty="0"/>
          </a:p>
        </p:txBody>
      </p:sp>
      <p:pic>
        <p:nvPicPr>
          <p:cNvPr id="16" name="Image 1" descr="/mnt/data/5c2243d4-4244-4a02-a8e5-7f85c4d7965c.png"/>
          <p:cNvPicPr>
            <a:picLocks noChangeAspect="1"/>
          </p:cNvPicPr>
          <p:nvPr/>
        </p:nvPicPr>
        <p:blipFill>
          <a:blip r:embed="rId4"/>
          <a:stretch>
            <a:fillRect/>
          </a:stretch>
        </p:blipFill>
        <p:spPr>
          <a:xfrm>
            <a:off x="768096" y="1722401"/>
            <a:ext cx="10698480" cy="3842967"/>
          </a:xfrm>
          <a:prstGeom prst="rect">
            <a:avLst/>
          </a:prstGeom>
        </p:spPr>
      </p:pic>
      <p:sp>
        <p:nvSpPr>
          <p:cNvPr id="17" name="Text 13"/>
          <p:cNvSpPr/>
          <p:nvPr/>
        </p:nvSpPr>
        <p:spPr>
          <a:xfrm>
            <a:off x="768096" y="5797296"/>
            <a:ext cx="10698480" cy="182880"/>
          </a:xfrm>
          <a:prstGeom prst="rect">
            <a:avLst/>
          </a:prstGeom>
          <a:noFill/>
          <a:ln/>
        </p:spPr>
        <p:txBody>
          <a:bodyPr wrap="square" lIns="127" tIns="127" rIns="127" bIns="127" rtlCol="0" anchor="t">
            <a:normAutofit/>
          </a:bodyPr>
          <a:lstStyle/>
          <a:p>
            <a:pPr marL="0" indent="0" algn="ctr">
              <a:buNone/>
            </a:pPr>
            <a:r>
              <a:rPr lang="en-US" sz="930" dirty="0">
                <a:solidFill>
                  <a:srgbClr val="173242"/>
                </a:solidFill>
                <a:latin typeface="Lato" pitchFamily="34" charset="0"/>
                <a:ea typeface="Lato" pitchFamily="34" charset="-122"/>
                <a:cs typeface="Lato" pitchFamily="34" charset="-120"/>
              </a:rPr>
              <a:t>Literature papers are grouped exactly like the Excel sheet: five studies per slide, showing authors, title, year, dataset, methodology and limitation.</a:t>
            </a:r>
            <a:endParaRPr lang="en-US" sz="9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E8"/>
        </a:solidFill>
        <a:effectLst/>
      </p:bgPr>
    </p:bg>
    <p:spTree>
      <p:nvGrpSpPr>
        <p:cNvPr id="1" name=""/>
        <p:cNvGrpSpPr/>
        <p:nvPr/>
      </p:nvGrpSpPr>
      <p:grpSpPr>
        <a:xfrm>
          <a:off x="0" y="0"/>
          <a:ext cx="0" cy="0"/>
          <a:chOff x="0" y="0"/>
          <a:chExt cx="0" cy="0"/>
        </a:xfrm>
      </p:grpSpPr>
      <p:sp>
        <p:nvSpPr>
          <p:cNvPr id="2" name="Shape 0"/>
          <p:cNvSpPr/>
          <p:nvPr/>
        </p:nvSpPr>
        <p:spPr>
          <a:xfrm>
            <a:off x="393192" y="91440"/>
            <a:ext cx="11411712" cy="0"/>
          </a:xfrm>
          <a:prstGeom prst="line">
            <a:avLst/>
          </a:prstGeom>
          <a:noFill/>
          <a:ln w="13970">
            <a:solidFill>
              <a:srgbClr val="CBD6BB"/>
            </a:solidFill>
            <a:prstDash val="solid"/>
          </a:ln>
        </p:spPr>
      </p:sp>
      <p:sp>
        <p:nvSpPr>
          <p:cNvPr id="3" name="Shape 1"/>
          <p:cNvSpPr/>
          <p:nvPr/>
        </p:nvSpPr>
        <p:spPr>
          <a:xfrm>
            <a:off x="393192" y="6601968"/>
            <a:ext cx="11411712" cy="0"/>
          </a:xfrm>
          <a:prstGeom prst="line">
            <a:avLst/>
          </a:prstGeom>
          <a:noFill/>
          <a:ln w="13970">
            <a:solidFill>
              <a:srgbClr val="CBD6BB"/>
            </a:solidFill>
            <a:prstDash val="solid"/>
          </a:ln>
        </p:spPr>
      </p:sp>
      <p:sp>
        <p:nvSpPr>
          <p:cNvPr id="4" name="Shape 2"/>
          <p:cNvSpPr/>
          <p:nvPr/>
        </p:nvSpPr>
        <p:spPr>
          <a:xfrm>
            <a:off x="393192" y="91440"/>
            <a:ext cx="0" cy="6510528"/>
          </a:xfrm>
          <a:prstGeom prst="line">
            <a:avLst/>
          </a:prstGeom>
          <a:noFill/>
          <a:ln w="13970">
            <a:solidFill>
              <a:srgbClr val="CBD6BB"/>
            </a:solidFill>
            <a:prstDash val="solid"/>
          </a:ln>
        </p:spPr>
      </p:sp>
      <p:sp>
        <p:nvSpPr>
          <p:cNvPr id="5" name="Shape 3"/>
          <p:cNvSpPr/>
          <p:nvPr/>
        </p:nvSpPr>
        <p:spPr>
          <a:xfrm>
            <a:off x="11804904" y="91440"/>
            <a:ext cx="0" cy="6510528"/>
          </a:xfrm>
          <a:prstGeom prst="line">
            <a:avLst/>
          </a:prstGeom>
          <a:noFill/>
          <a:ln w="13970">
            <a:solidFill>
              <a:srgbClr val="CBD6BB"/>
            </a:solidFill>
            <a:prstDash val="solid"/>
          </a:ln>
        </p:spPr>
      </p:sp>
      <p:sp>
        <p:nvSpPr>
          <p:cNvPr id="6" name="Shape 4"/>
          <p:cNvSpPr/>
          <p:nvPr/>
        </p:nvSpPr>
        <p:spPr>
          <a:xfrm>
            <a:off x="393192" y="749808"/>
            <a:ext cx="11411712" cy="0"/>
          </a:xfrm>
          <a:prstGeom prst="line">
            <a:avLst/>
          </a:prstGeom>
          <a:noFill/>
          <a:ln w="11430">
            <a:solidFill>
              <a:srgbClr val="173242"/>
            </a:solidFill>
            <a:prstDash val="solid"/>
          </a:ln>
        </p:spPr>
      </p:sp>
      <p:sp>
        <p:nvSpPr>
          <p:cNvPr id="7" name="Shape 5"/>
          <p:cNvSpPr/>
          <p:nvPr/>
        </p:nvSpPr>
        <p:spPr>
          <a:xfrm>
            <a:off x="393192" y="1060704"/>
            <a:ext cx="11411712" cy="0"/>
          </a:xfrm>
          <a:prstGeom prst="line">
            <a:avLst/>
          </a:prstGeom>
          <a:noFill/>
          <a:ln w="11430">
            <a:solidFill>
              <a:srgbClr val="173242"/>
            </a:solidFill>
            <a:prstDash val="solid"/>
          </a:ln>
        </p:spPr>
      </p:sp>
      <p:pic>
        <p:nvPicPr>
          <p:cNvPr id="8" name="Image 0" descr="/mnt/data/3b6ce1a3-ac36-48dc-a15a-81eb8802b178.png"/>
          <p:cNvPicPr>
            <a:picLocks noChangeAspect="1"/>
          </p:cNvPicPr>
          <p:nvPr/>
        </p:nvPicPr>
        <p:blipFill>
          <a:blip r:embed="rId3"/>
          <a:stretch>
            <a:fillRect/>
          </a:stretch>
        </p:blipFill>
        <p:spPr>
          <a:xfrm>
            <a:off x="655799" y="182880"/>
            <a:ext cx="1230433" cy="438912"/>
          </a:xfrm>
          <a:prstGeom prst="rect">
            <a:avLst/>
          </a:prstGeom>
        </p:spPr>
      </p:pic>
      <p:sp>
        <p:nvSpPr>
          <p:cNvPr id="9" name="Text 6"/>
          <p:cNvSpPr/>
          <p:nvPr/>
        </p:nvSpPr>
        <p:spPr>
          <a:xfrm>
            <a:off x="2029968" y="182880"/>
            <a:ext cx="6949440" cy="411480"/>
          </a:xfrm>
          <a:prstGeom prst="rect">
            <a:avLst/>
          </a:prstGeom>
          <a:noFill/>
          <a:ln/>
        </p:spPr>
        <p:txBody>
          <a:bodyPr wrap="square" lIns="254" tIns="254" rIns="254" bIns="254" rtlCol="0" anchor="ctr">
            <a:normAutofit/>
          </a:bodyPr>
          <a:lstStyle/>
          <a:p>
            <a:pPr marL="0" indent="0">
              <a:buNone/>
            </a:pPr>
            <a:r>
              <a:rPr lang="en-US" sz="2600" b="1" dirty="0">
                <a:solidFill>
                  <a:srgbClr val="173242"/>
                </a:solidFill>
                <a:latin typeface="Lato" pitchFamily="34" charset="0"/>
                <a:ea typeface="Lato" pitchFamily="34" charset="-122"/>
                <a:cs typeface="Lato" pitchFamily="34" charset="-120"/>
              </a:rPr>
              <a:t>LITERATURE REVIEW – PART 2</a:t>
            </a:r>
            <a:endParaRPr lang="en-US" sz="2600" dirty="0"/>
          </a:p>
        </p:txBody>
      </p:sp>
      <p:sp>
        <p:nvSpPr>
          <p:cNvPr id="10" name="Text 7"/>
          <p:cNvSpPr/>
          <p:nvPr/>
        </p:nvSpPr>
        <p:spPr>
          <a:xfrm>
            <a:off x="8549640" y="832104"/>
            <a:ext cx="2788920" cy="146304"/>
          </a:xfrm>
          <a:prstGeom prst="rect">
            <a:avLst/>
          </a:prstGeom>
          <a:noFill/>
          <a:ln/>
        </p:spPr>
        <p:txBody>
          <a:bodyPr wrap="square" lIns="127" tIns="127" rIns="127" bIns="127" rtlCol="0" anchor="ctr">
            <a:normAutofit/>
          </a:bodyPr>
          <a:lstStyle/>
          <a:p>
            <a:pPr marL="0" indent="0" algn="r">
              <a:buNone/>
            </a:pPr>
            <a:r>
              <a:rPr lang="en-US" sz="860" dirty="0">
                <a:solidFill>
                  <a:srgbClr val="173242"/>
                </a:solidFill>
                <a:latin typeface="Lato" pitchFamily="34" charset="0"/>
                <a:ea typeface="Lato" pitchFamily="34" charset="-122"/>
                <a:cs typeface="Lato" pitchFamily="34" charset="-120"/>
              </a:rPr>
              <a:t>ML PROJECT | CSE | SECTION 4</a:t>
            </a:r>
            <a:endParaRPr lang="en-US" sz="860" dirty="0"/>
          </a:p>
        </p:txBody>
      </p:sp>
      <p:sp>
        <p:nvSpPr>
          <p:cNvPr id="11" name="Shape 8"/>
          <p:cNvSpPr/>
          <p:nvPr/>
        </p:nvSpPr>
        <p:spPr>
          <a:xfrm>
            <a:off x="393192" y="5989320"/>
            <a:ext cx="11411712" cy="0"/>
          </a:xfrm>
          <a:prstGeom prst="line">
            <a:avLst/>
          </a:prstGeom>
          <a:noFill/>
          <a:ln w="11430">
            <a:solidFill>
              <a:srgbClr val="173242"/>
            </a:solidFill>
            <a:prstDash val="solid"/>
          </a:ln>
        </p:spPr>
      </p:sp>
      <p:sp>
        <p:nvSpPr>
          <p:cNvPr id="12" name="Shape 9"/>
          <p:cNvSpPr/>
          <p:nvPr/>
        </p:nvSpPr>
        <p:spPr>
          <a:xfrm>
            <a:off x="393192" y="6309360"/>
            <a:ext cx="11411712" cy="0"/>
          </a:xfrm>
          <a:prstGeom prst="line">
            <a:avLst/>
          </a:prstGeom>
          <a:noFill/>
          <a:ln w="11430">
            <a:solidFill>
              <a:srgbClr val="173242"/>
            </a:solidFill>
            <a:prstDash val="solid"/>
          </a:ln>
        </p:spPr>
      </p:sp>
      <p:sp>
        <p:nvSpPr>
          <p:cNvPr id="13" name="Text 10"/>
          <p:cNvSpPr/>
          <p:nvPr/>
        </p:nvSpPr>
        <p:spPr>
          <a:xfrm>
            <a:off x="713232" y="6108192"/>
            <a:ext cx="8138160" cy="146304"/>
          </a:xfrm>
          <a:prstGeom prst="rect">
            <a:avLst/>
          </a:prstGeom>
          <a:noFill/>
          <a:ln/>
        </p:spPr>
        <p:txBody>
          <a:bodyPr wrap="square" lIns="127" tIns="127" rIns="127" bIns="127" rtlCol="0" anchor="ctr">
            <a:normAutofit/>
          </a:bodyPr>
          <a:lstStyle/>
          <a:p>
            <a:pPr marL="0" indent="0">
              <a:buNone/>
            </a:pPr>
            <a:r>
              <a:rPr lang="en-US" sz="800" dirty="0">
                <a:solidFill>
                  <a:srgbClr val="173242"/>
                </a:solidFill>
                <a:latin typeface="Lato" pitchFamily="34" charset="0"/>
                <a:ea typeface="Lato" pitchFamily="34" charset="-122"/>
                <a:cs typeface="Lato" pitchFamily="34" charset="-120"/>
              </a:rPr>
              <a:t>SPAM EMAIL CLASSIFICATION USING NAIVE BAYES AND SUPPORT VECTOR MACHINE</a:t>
            </a:r>
            <a:endParaRPr lang="en-US" sz="800" dirty="0"/>
          </a:p>
        </p:txBody>
      </p:sp>
      <p:sp>
        <p:nvSpPr>
          <p:cNvPr id="14" name="Text 11"/>
          <p:cNvSpPr/>
          <p:nvPr/>
        </p:nvSpPr>
        <p:spPr>
          <a:xfrm>
            <a:off x="10058400" y="6108192"/>
            <a:ext cx="1298448" cy="146304"/>
          </a:xfrm>
          <a:prstGeom prst="rect">
            <a:avLst/>
          </a:prstGeom>
          <a:noFill/>
          <a:ln/>
        </p:spPr>
        <p:txBody>
          <a:bodyPr wrap="square" lIns="127" tIns="127" rIns="127" bIns="127" rtlCol="0" anchor="ctr"/>
          <a:lstStyle/>
          <a:p>
            <a:pPr marL="0" indent="0" algn="r">
              <a:buNone/>
            </a:pPr>
            <a:r>
              <a:rPr lang="en-US" sz="800" dirty="0">
                <a:solidFill>
                  <a:srgbClr val="173242"/>
                </a:solidFill>
                <a:latin typeface="Lato" pitchFamily="34" charset="0"/>
                <a:ea typeface="Lato" pitchFamily="34" charset="-122"/>
                <a:cs typeface="Lato" pitchFamily="34" charset="-120"/>
              </a:rPr>
              <a:t>A.Y. 2026–27</a:t>
            </a:r>
            <a:endParaRPr lang="en-US" sz="800" dirty="0"/>
          </a:p>
        </p:txBody>
      </p:sp>
      <p:sp>
        <p:nvSpPr>
          <p:cNvPr id="15" name="Text 12"/>
          <p:cNvSpPr/>
          <p:nvPr/>
        </p:nvSpPr>
        <p:spPr>
          <a:xfrm>
            <a:off x="768096" y="1170432"/>
            <a:ext cx="2011680" cy="274320"/>
          </a:xfrm>
          <a:prstGeom prst="rect">
            <a:avLst/>
          </a:prstGeom>
          <a:solidFill>
            <a:srgbClr val="9F303A"/>
          </a:solidFill>
          <a:ln w="12700">
            <a:solidFill>
              <a:srgbClr val="9F303A"/>
            </a:solidFill>
          </a:ln>
        </p:spPr>
        <p:txBody>
          <a:bodyPr wrap="square" lIns="381" tIns="381" rIns="381" bIns="381" rtlCol="0" anchor="ctr"/>
          <a:lstStyle/>
          <a:p>
            <a:pPr marL="0" indent="0" algn="ctr">
              <a:buNone/>
            </a:pPr>
            <a:r>
              <a:rPr lang="en-US" sz="1500" b="1" dirty="0">
                <a:solidFill>
                  <a:srgbClr val="FFFFFF"/>
                </a:solidFill>
                <a:latin typeface="Lato" pitchFamily="34" charset="0"/>
                <a:ea typeface="Lato" pitchFamily="34" charset="-122"/>
                <a:cs typeface="Lato" pitchFamily="34" charset="-120"/>
              </a:rPr>
              <a:t>PAPERS 6–10</a:t>
            </a:r>
            <a:endParaRPr lang="en-US" sz="1500" dirty="0"/>
          </a:p>
        </p:txBody>
      </p:sp>
      <p:sp>
        <p:nvSpPr>
          <p:cNvPr id="16" name="Text 13"/>
          <p:cNvSpPr/>
          <p:nvPr/>
        </p:nvSpPr>
        <p:spPr>
          <a:xfrm>
            <a:off x="768096" y="1508760"/>
            <a:ext cx="411480" cy="310896"/>
          </a:xfrm>
          <a:prstGeom prst="rect">
            <a:avLst/>
          </a:prstGeom>
          <a:solidFill>
            <a:srgbClr val="9F303A"/>
          </a:solidFill>
          <a:ln w="8890">
            <a:solidFill>
              <a:srgbClr val="879587"/>
            </a:solidFill>
          </a:ln>
        </p:spPr>
        <p:txBody>
          <a:bodyPr wrap="square" lIns="762" tIns="762" rIns="762" bIns="762" rtlCol="0" anchor="ctr">
            <a:normAutofit/>
          </a:bodyPr>
          <a:lstStyle/>
          <a:p>
            <a:pPr marL="0" indent="0" algn="ctr">
              <a:buNone/>
            </a:pPr>
            <a:r>
              <a:rPr lang="en-US" sz="860" b="1" dirty="0">
                <a:solidFill>
                  <a:srgbClr val="FFFFFF"/>
                </a:solidFill>
                <a:latin typeface="Lato" pitchFamily="34" charset="0"/>
                <a:ea typeface="Lato" pitchFamily="34" charset="-122"/>
                <a:cs typeface="Lato" pitchFamily="34" charset="-120"/>
              </a:rPr>
              <a:t>SNO</a:t>
            </a:r>
            <a:endParaRPr lang="en-US" sz="860" dirty="0"/>
          </a:p>
        </p:txBody>
      </p:sp>
      <p:sp>
        <p:nvSpPr>
          <p:cNvPr id="17" name="Text 14"/>
          <p:cNvSpPr/>
          <p:nvPr/>
        </p:nvSpPr>
        <p:spPr>
          <a:xfrm>
            <a:off x="1179576" y="1508760"/>
            <a:ext cx="1234440" cy="310896"/>
          </a:xfrm>
          <a:prstGeom prst="rect">
            <a:avLst/>
          </a:prstGeom>
          <a:solidFill>
            <a:srgbClr val="173242"/>
          </a:solidFill>
          <a:ln w="8890">
            <a:solidFill>
              <a:srgbClr val="879587"/>
            </a:solidFill>
          </a:ln>
        </p:spPr>
        <p:txBody>
          <a:bodyPr wrap="square" lIns="762" tIns="762" rIns="762" bIns="762" rtlCol="0" anchor="ctr">
            <a:normAutofit/>
          </a:bodyPr>
          <a:lstStyle/>
          <a:p>
            <a:pPr marL="0" indent="0" algn="ctr">
              <a:buNone/>
            </a:pPr>
            <a:r>
              <a:rPr lang="en-US" sz="860" b="1" dirty="0">
                <a:solidFill>
                  <a:srgbClr val="FFFFFF"/>
                </a:solidFill>
                <a:latin typeface="Lato" pitchFamily="34" charset="0"/>
                <a:ea typeface="Lato" pitchFamily="34" charset="-122"/>
                <a:cs typeface="Lato" pitchFamily="34" charset="-120"/>
              </a:rPr>
              <a:t>AUTHORS</a:t>
            </a:r>
            <a:endParaRPr lang="en-US" sz="860" dirty="0"/>
          </a:p>
        </p:txBody>
      </p:sp>
      <p:sp>
        <p:nvSpPr>
          <p:cNvPr id="18" name="Text 15"/>
          <p:cNvSpPr/>
          <p:nvPr/>
        </p:nvSpPr>
        <p:spPr>
          <a:xfrm>
            <a:off x="2414016" y="1508760"/>
            <a:ext cx="1874520" cy="310896"/>
          </a:xfrm>
          <a:prstGeom prst="rect">
            <a:avLst/>
          </a:prstGeom>
          <a:solidFill>
            <a:srgbClr val="173242"/>
          </a:solidFill>
          <a:ln w="8890">
            <a:solidFill>
              <a:srgbClr val="879587"/>
            </a:solidFill>
          </a:ln>
        </p:spPr>
        <p:txBody>
          <a:bodyPr wrap="square" lIns="762" tIns="762" rIns="762" bIns="762" rtlCol="0" anchor="ctr">
            <a:normAutofit/>
          </a:bodyPr>
          <a:lstStyle/>
          <a:p>
            <a:pPr marL="0" indent="0" algn="ctr">
              <a:buNone/>
            </a:pPr>
            <a:r>
              <a:rPr lang="en-US" sz="860" b="1" dirty="0">
                <a:solidFill>
                  <a:srgbClr val="FFFFFF"/>
                </a:solidFill>
                <a:latin typeface="Lato" pitchFamily="34" charset="0"/>
                <a:ea typeface="Lato" pitchFamily="34" charset="-122"/>
                <a:cs typeface="Lato" pitchFamily="34" charset="-120"/>
              </a:rPr>
              <a:t>TITLE</a:t>
            </a:r>
            <a:endParaRPr lang="en-US" sz="860" dirty="0"/>
          </a:p>
        </p:txBody>
      </p:sp>
      <p:sp>
        <p:nvSpPr>
          <p:cNvPr id="19" name="Text 16"/>
          <p:cNvSpPr/>
          <p:nvPr/>
        </p:nvSpPr>
        <p:spPr>
          <a:xfrm>
            <a:off x="4288536" y="1508760"/>
            <a:ext cx="749808" cy="310896"/>
          </a:xfrm>
          <a:prstGeom prst="rect">
            <a:avLst/>
          </a:prstGeom>
          <a:solidFill>
            <a:srgbClr val="173242"/>
          </a:solidFill>
          <a:ln w="8890">
            <a:solidFill>
              <a:srgbClr val="879587"/>
            </a:solidFill>
          </a:ln>
        </p:spPr>
        <p:txBody>
          <a:bodyPr wrap="square" lIns="762" tIns="762" rIns="762" bIns="762" rtlCol="0" anchor="ctr">
            <a:normAutofit/>
          </a:bodyPr>
          <a:lstStyle/>
          <a:p>
            <a:pPr marL="0" indent="0" algn="ctr">
              <a:buNone/>
            </a:pPr>
            <a:r>
              <a:rPr lang="en-US" sz="860" b="1" dirty="0">
                <a:solidFill>
                  <a:srgbClr val="FFFFFF"/>
                </a:solidFill>
                <a:latin typeface="Lato" pitchFamily="34" charset="0"/>
                <a:ea typeface="Lato" pitchFamily="34" charset="-122"/>
                <a:cs typeface="Lato" pitchFamily="34" charset="-120"/>
              </a:rPr>
              <a:t>YEAR</a:t>
            </a:r>
            <a:endParaRPr lang="en-US" sz="860" dirty="0"/>
          </a:p>
        </p:txBody>
      </p:sp>
      <p:sp>
        <p:nvSpPr>
          <p:cNvPr id="20" name="Text 17"/>
          <p:cNvSpPr/>
          <p:nvPr/>
        </p:nvSpPr>
        <p:spPr>
          <a:xfrm>
            <a:off x="5038344" y="1508760"/>
            <a:ext cx="1874520" cy="310896"/>
          </a:xfrm>
          <a:prstGeom prst="rect">
            <a:avLst/>
          </a:prstGeom>
          <a:solidFill>
            <a:srgbClr val="173242"/>
          </a:solidFill>
          <a:ln w="8890">
            <a:solidFill>
              <a:srgbClr val="879587"/>
            </a:solidFill>
          </a:ln>
        </p:spPr>
        <p:txBody>
          <a:bodyPr wrap="square" lIns="762" tIns="762" rIns="762" bIns="762" rtlCol="0" anchor="ctr">
            <a:normAutofit/>
          </a:bodyPr>
          <a:lstStyle/>
          <a:p>
            <a:pPr marL="0" indent="0" algn="ctr">
              <a:buNone/>
            </a:pPr>
            <a:r>
              <a:rPr lang="en-US" sz="860" b="1" dirty="0">
                <a:solidFill>
                  <a:srgbClr val="FFFFFF"/>
                </a:solidFill>
                <a:latin typeface="Lato" pitchFamily="34" charset="0"/>
                <a:ea typeface="Lato" pitchFamily="34" charset="-122"/>
                <a:cs typeface="Lato" pitchFamily="34" charset="-120"/>
              </a:rPr>
              <a:t>DATASET</a:t>
            </a:r>
            <a:endParaRPr lang="en-US" sz="860" dirty="0"/>
          </a:p>
        </p:txBody>
      </p:sp>
      <p:sp>
        <p:nvSpPr>
          <p:cNvPr id="21" name="Text 18"/>
          <p:cNvSpPr/>
          <p:nvPr/>
        </p:nvSpPr>
        <p:spPr>
          <a:xfrm>
            <a:off x="6912864" y="1508760"/>
            <a:ext cx="2743200" cy="310896"/>
          </a:xfrm>
          <a:prstGeom prst="rect">
            <a:avLst/>
          </a:prstGeom>
          <a:solidFill>
            <a:srgbClr val="173242"/>
          </a:solidFill>
          <a:ln w="8890">
            <a:solidFill>
              <a:srgbClr val="879587"/>
            </a:solidFill>
          </a:ln>
        </p:spPr>
        <p:txBody>
          <a:bodyPr wrap="square" lIns="762" tIns="762" rIns="762" bIns="762" rtlCol="0" anchor="ctr">
            <a:normAutofit/>
          </a:bodyPr>
          <a:lstStyle/>
          <a:p>
            <a:pPr marL="0" indent="0" algn="ctr">
              <a:buNone/>
            </a:pPr>
            <a:r>
              <a:rPr lang="en-US" sz="860" b="1" dirty="0">
                <a:solidFill>
                  <a:srgbClr val="FFFFFF"/>
                </a:solidFill>
                <a:latin typeface="Lato" pitchFamily="34" charset="0"/>
                <a:ea typeface="Lato" pitchFamily="34" charset="-122"/>
                <a:cs typeface="Lato" pitchFamily="34" charset="-120"/>
              </a:rPr>
              <a:t>METHODOLOGY</a:t>
            </a:r>
            <a:endParaRPr lang="en-US" sz="860" dirty="0"/>
          </a:p>
        </p:txBody>
      </p:sp>
      <p:sp>
        <p:nvSpPr>
          <p:cNvPr id="22" name="Text 19"/>
          <p:cNvSpPr/>
          <p:nvPr/>
        </p:nvSpPr>
        <p:spPr>
          <a:xfrm>
            <a:off x="9656064" y="1508760"/>
            <a:ext cx="1810512" cy="310896"/>
          </a:xfrm>
          <a:prstGeom prst="rect">
            <a:avLst/>
          </a:prstGeom>
          <a:solidFill>
            <a:srgbClr val="173242"/>
          </a:solidFill>
          <a:ln w="8890">
            <a:solidFill>
              <a:srgbClr val="879587"/>
            </a:solidFill>
          </a:ln>
        </p:spPr>
        <p:txBody>
          <a:bodyPr wrap="square" lIns="762" tIns="762" rIns="762" bIns="762" rtlCol="0" anchor="ctr">
            <a:normAutofit/>
          </a:bodyPr>
          <a:lstStyle/>
          <a:p>
            <a:pPr marL="0" indent="0" algn="ctr">
              <a:buNone/>
            </a:pPr>
            <a:r>
              <a:rPr lang="en-US" sz="860" b="1" dirty="0">
                <a:solidFill>
                  <a:srgbClr val="FFFFFF"/>
                </a:solidFill>
                <a:latin typeface="Lato" pitchFamily="34" charset="0"/>
                <a:ea typeface="Lato" pitchFamily="34" charset="-122"/>
                <a:cs typeface="Lato" pitchFamily="34" charset="-120"/>
              </a:rPr>
              <a:t>LIMITATION</a:t>
            </a:r>
            <a:endParaRPr lang="en-US" sz="860" dirty="0"/>
          </a:p>
        </p:txBody>
      </p:sp>
      <p:pic>
        <p:nvPicPr>
          <p:cNvPr id="23" name="Image 1" descr="/mnt/data/821cb7aa-8103-4a21-8160-cf65e20ecb64.png"/>
          <p:cNvPicPr>
            <a:picLocks noChangeAspect="1"/>
          </p:cNvPicPr>
          <p:nvPr/>
        </p:nvPicPr>
        <p:blipFill>
          <a:blip r:embed="rId4"/>
          <a:stretch>
            <a:fillRect/>
          </a:stretch>
        </p:blipFill>
        <p:spPr>
          <a:xfrm>
            <a:off x="768096" y="1970566"/>
            <a:ext cx="10698480" cy="3684965"/>
          </a:xfrm>
          <a:prstGeom prst="rect">
            <a:avLst/>
          </a:prstGeom>
        </p:spPr>
      </p:pic>
      <p:sp>
        <p:nvSpPr>
          <p:cNvPr id="24" name="Text 20"/>
          <p:cNvSpPr/>
          <p:nvPr/>
        </p:nvSpPr>
        <p:spPr>
          <a:xfrm>
            <a:off x="768096" y="5797296"/>
            <a:ext cx="10698480" cy="182880"/>
          </a:xfrm>
          <a:prstGeom prst="rect">
            <a:avLst/>
          </a:prstGeom>
          <a:noFill/>
          <a:ln/>
        </p:spPr>
        <p:txBody>
          <a:bodyPr wrap="square" lIns="127" tIns="127" rIns="127" bIns="127" rtlCol="0" anchor="t">
            <a:normAutofit/>
          </a:bodyPr>
          <a:lstStyle/>
          <a:p>
            <a:pPr marL="0" indent="0" algn="ctr">
              <a:buNone/>
            </a:pPr>
            <a:r>
              <a:rPr lang="en-US" sz="930" dirty="0">
                <a:solidFill>
                  <a:srgbClr val="173242"/>
                </a:solidFill>
                <a:latin typeface="Lato" pitchFamily="34" charset="0"/>
                <a:ea typeface="Lato" pitchFamily="34" charset="-122"/>
                <a:cs typeface="Lato" pitchFamily="34" charset="-120"/>
              </a:rPr>
              <a:t>Literature papers are grouped exactly like the Excel sheet: five studies per slide, showing authors, title, year, dataset, methodology and limitation.</a:t>
            </a:r>
            <a:endParaRPr lang="en-US" sz="93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E8"/>
        </a:solidFill>
        <a:effectLst/>
      </p:bgPr>
    </p:bg>
    <p:spTree>
      <p:nvGrpSpPr>
        <p:cNvPr id="1" name=""/>
        <p:cNvGrpSpPr/>
        <p:nvPr/>
      </p:nvGrpSpPr>
      <p:grpSpPr>
        <a:xfrm>
          <a:off x="0" y="0"/>
          <a:ext cx="0" cy="0"/>
          <a:chOff x="0" y="0"/>
          <a:chExt cx="0" cy="0"/>
        </a:xfrm>
      </p:grpSpPr>
      <p:sp>
        <p:nvSpPr>
          <p:cNvPr id="2" name="Shape 0"/>
          <p:cNvSpPr/>
          <p:nvPr/>
        </p:nvSpPr>
        <p:spPr>
          <a:xfrm>
            <a:off x="393192" y="91440"/>
            <a:ext cx="11411712" cy="0"/>
          </a:xfrm>
          <a:prstGeom prst="line">
            <a:avLst/>
          </a:prstGeom>
          <a:noFill/>
          <a:ln w="13970">
            <a:solidFill>
              <a:srgbClr val="CBD6BB"/>
            </a:solidFill>
            <a:prstDash val="solid"/>
          </a:ln>
        </p:spPr>
      </p:sp>
      <p:sp>
        <p:nvSpPr>
          <p:cNvPr id="3" name="Shape 1"/>
          <p:cNvSpPr/>
          <p:nvPr/>
        </p:nvSpPr>
        <p:spPr>
          <a:xfrm>
            <a:off x="393192" y="6601968"/>
            <a:ext cx="11411712" cy="0"/>
          </a:xfrm>
          <a:prstGeom prst="line">
            <a:avLst/>
          </a:prstGeom>
          <a:noFill/>
          <a:ln w="13970">
            <a:solidFill>
              <a:srgbClr val="CBD6BB"/>
            </a:solidFill>
            <a:prstDash val="solid"/>
          </a:ln>
        </p:spPr>
      </p:sp>
      <p:sp>
        <p:nvSpPr>
          <p:cNvPr id="4" name="Shape 2"/>
          <p:cNvSpPr/>
          <p:nvPr/>
        </p:nvSpPr>
        <p:spPr>
          <a:xfrm>
            <a:off x="393192" y="91440"/>
            <a:ext cx="0" cy="6510528"/>
          </a:xfrm>
          <a:prstGeom prst="line">
            <a:avLst/>
          </a:prstGeom>
          <a:noFill/>
          <a:ln w="13970">
            <a:solidFill>
              <a:srgbClr val="CBD6BB"/>
            </a:solidFill>
            <a:prstDash val="solid"/>
          </a:ln>
        </p:spPr>
      </p:sp>
      <p:sp>
        <p:nvSpPr>
          <p:cNvPr id="5" name="Shape 3"/>
          <p:cNvSpPr/>
          <p:nvPr/>
        </p:nvSpPr>
        <p:spPr>
          <a:xfrm>
            <a:off x="11804904" y="91440"/>
            <a:ext cx="0" cy="6510528"/>
          </a:xfrm>
          <a:prstGeom prst="line">
            <a:avLst/>
          </a:prstGeom>
          <a:noFill/>
          <a:ln w="13970">
            <a:solidFill>
              <a:srgbClr val="CBD6BB"/>
            </a:solidFill>
            <a:prstDash val="solid"/>
          </a:ln>
        </p:spPr>
      </p:sp>
      <p:sp>
        <p:nvSpPr>
          <p:cNvPr id="6" name="Shape 4"/>
          <p:cNvSpPr/>
          <p:nvPr/>
        </p:nvSpPr>
        <p:spPr>
          <a:xfrm>
            <a:off x="393192" y="749808"/>
            <a:ext cx="11411712" cy="0"/>
          </a:xfrm>
          <a:prstGeom prst="line">
            <a:avLst/>
          </a:prstGeom>
          <a:noFill/>
          <a:ln w="11430">
            <a:solidFill>
              <a:srgbClr val="173242"/>
            </a:solidFill>
            <a:prstDash val="solid"/>
          </a:ln>
        </p:spPr>
      </p:sp>
      <p:sp>
        <p:nvSpPr>
          <p:cNvPr id="7" name="Shape 5"/>
          <p:cNvSpPr/>
          <p:nvPr/>
        </p:nvSpPr>
        <p:spPr>
          <a:xfrm>
            <a:off x="393192" y="1060704"/>
            <a:ext cx="11411712" cy="0"/>
          </a:xfrm>
          <a:prstGeom prst="line">
            <a:avLst/>
          </a:prstGeom>
          <a:noFill/>
          <a:ln w="11430">
            <a:solidFill>
              <a:srgbClr val="173242"/>
            </a:solidFill>
            <a:prstDash val="solid"/>
          </a:ln>
        </p:spPr>
      </p:sp>
      <p:pic>
        <p:nvPicPr>
          <p:cNvPr id="8" name="Image 0" descr="/mnt/data/3b6ce1a3-ac36-48dc-a15a-81eb8802b178.png"/>
          <p:cNvPicPr>
            <a:picLocks noChangeAspect="1"/>
          </p:cNvPicPr>
          <p:nvPr/>
        </p:nvPicPr>
        <p:blipFill>
          <a:blip r:embed="rId3"/>
          <a:stretch>
            <a:fillRect/>
          </a:stretch>
        </p:blipFill>
        <p:spPr>
          <a:xfrm>
            <a:off x="655799" y="182880"/>
            <a:ext cx="1230433" cy="438912"/>
          </a:xfrm>
          <a:prstGeom prst="rect">
            <a:avLst/>
          </a:prstGeom>
        </p:spPr>
      </p:pic>
      <p:sp>
        <p:nvSpPr>
          <p:cNvPr id="9" name="Text 6"/>
          <p:cNvSpPr/>
          <p:nvPr/>
        </p:nvSpPr>
        <p:spPr>
          <a:xfrm>
            <a:off x="2029968" y="182880"/>
            <a:ext cx="6949440" cy="411480"/>
          </a:xfrm>
          <a:prstGeom prst="rect">
            <a:avLst/>
          </a:prstGeom>
          <a:noFill/>
          <a:ln/>
        </p:spPr>
        <p:txBody>
          <a:bodyPr wrap="square" lIns="254" tIns="254" rIns="254" bIns="254" rtlCol="0" anchor="ctr">
            <a:normAutofit/>
          </a:bodyPr>
          <a:lstStyle/>
          <a:p>
            <a:pPr marL="0" indent="0">
              <a:buNone/>
            </a:pPr>
            <a:r>
              <a:rPr lang="en-US" sz="2600" b="1" dirty="0">
                <a:solidFill>
                  <a:srgbClr val="173242"/>
                </a:solidFill>
                <a:latin typeface="Lato" pitchFamily="34" charset="0"/>
                <a:ea typeface="Lato" pitchFamily="34" charset="-122"/>
                <a:cs typeface="Lato" pitchFamily="34" charset="-120"/>
              </a:rPr>
              <a:t>LITERATURE REVIEW – PART 3</a:t>
            </a:r>
            <a:endParaRPr lang="en-US" sz="2600" dirty="0"/>
          </a:p>
        </p:txBody>
      </p:sp>
      <p:sp>
        <p:nvSpPr>
          <p:cNvPr id="10" name="Text 7"/>
          <p:cNvSpPr/>
          <p:nvPr/>
        </p:nvSpPr>
        <p:spPr>
          <a:xfrm>
            <a:off x="8549640" y="832104"/>
            <a:ext cx="2788920" cy="146304"/>
          </a:xfrm>
          <a:prstGeom prst="rect">
            <a:avLst/>
          </a:prstGeom>
          <a:noFill/>
          <a:ln/>
        </p:spPr>
        <p:txBody>
          <a:bodyPr wrap="square" lIns="127" tIns="127" rIns="127" bIns="127" rtlCol="0" anchor="ctr">
            <a:normAutofit/>
          </a:bodyPr>
          <a:lstStyle/>
          <a:p>
            <a:pPr marL="0" indent="0" algn="r">
              <a:buNone/>
            </a:pPr>
            <a:r>
              <a:rPr lang="en-US" sz="860" dirty="0">
                <a:solidFill>
                  <a:srgbClr val="173242"/>
                </a:solidFill>
                <a:latin typeface="Lato" pitchFamily="34" charset="0"/>
                <a:ea typeface="Lato" pitchFamily="34" charset="-122"/>
                <a:cs typeface="Lato" pitchFamily="34" charset="-120"/>
              </a:rPr>
              <a:t>ML PROJECT | CSE | SECTION 4</a:t>
            </a:r>
            <a:endParaRPr lang="en-US" sz="860" dirty="0"/>
          </a:p>
        </p:txBody>
      </p:sp>
      <p:sp>
        <p:nvSpPr>
          <p:cNvPr id="11" name="Shape 8"/>
          <p:cNvSpPr/>
          <p:nvPr/>
        </p:nvSpPr>
        <p:spPr>
          <a:xfrm>
            <a:off x="393192" y="5989320"/>
            <a:ext cx="11411712" cy="0"/>
          </a:xfrm>
          <a:prstGeom prst="line">
            <a:avLst/>
          </a:prstGeom>
          <a:noFill/>
          <a:ln w="11430">
            <a:solidFill>
              <a:srgbClr val="173242"/>
            </a:solidFill>
            <a:prstDash val="solid"/>
          </a:ln>
        </p:spPr>
      </p:sp>
      <p:sp>
        <p:nvSpPr>
          <p:cNvPr id="12" name="Shape 9"/>
          <p:cNvSpPr/>
          <p:nvPr/>
        </p:nvSpPr>
        <p:spPr>
          <a:xfrm>
            <a:off x="393192" y="6309360"/>
            <a:ext cx="11411712" cy="0"/>
          </a:xfrm>
          <a:prstGeom prst="line">
            <a:avLst/>
          </a:prstGeom>
          <a:noFill/>
          <a:ln w="11430">
            <a:solidFill>
              <a:srgbClr val="173242"/>
            </a:solidFill>
            <a:prstDash val="solid"/>
          </a:ln>
        </p:spPr>
      </p:sp>
      <p:sp>
        <p:nvSpPr>
          <p:cNvPr id="13" name="Text 10"/>
          <p:cNvSpPr/>
          <p:nvPr/>
        </p:nvSpPr>
        <p:spPr>
          <a:xfrm>
            <a:off x="713232" y="6108192"/>
            <a:ext cx="8138160" cy="146304"/>
          </a:xfrm>
          <a:prstGeom prst="rect">
            <a:avLst/>
          </a:prstGeom>
          <a:noFill/>
          <a:ln/>
        </p:spPr>
        <p:txBody>
          <a:bodyPr wrap="square" lIns="127" tIns="127" rIns="127" bIns="127" rtlCol="0" anchor="ctr">
            <a:normAutofit/>
          </a:bodyPr>
          <a:lstStyle/>
          <a:p>
            <a:pPr marL="0" indent="0">
              <a:buNone/>
            </a:pPr>
            <a:r>
              <a:rPr lang="en-US" sz="800" dirty="0">
                <a:solidFill>
                  <a:srgbClr val="173242"/>
                </a:solidFill>
                <a:latin typeface="Lato" pitchFamily="34" charset="0"/>
                <a:ea typeface="Lato" pitchFamily="34" charset="-122"/>
                <a:cs typeface="Lato" pitchFamily="34" charset="-120"/>
              </a:rPr>
              <a:t>SPAM EMAIL CLASSIFICATION USING NAIVE BAYES AND SUPPORT VECTOR MACHINE</a:t>
            </a:r>
            <a:endParaRPr lang="en-US" sz="800" dirty="0"/>
          </a:p>
        </p:txBody>
      </p:sp>
      <p:sp>
        <p:nvSpPr>
          <p:cNvPr id="14" name="Text 11"/>
          <p:cNvSpPr/>
          <p:nvPr/>
        </p:nvSpPr>
        <p:spPr>
          <a:xfrm>
            <a:off x="10058400" y="6108192"/>
            <a:ext cx="1298448" cy="146304"/>
          </a:xfrm>
          <a:prstGeom prst="rect">
            <a:avLst/>
          </a:prstGeom>
          <a:noFill/>
          <a:ln/>
        </p:spPr>
        <p:txBody>
          <a:bodyPr wrap="square" lIns="127" tIns="127" rIns="127" bIns="127" rtlCol="0" anchor="ctr"/>
          <a:lstStyle/>
          <a:p>
            <a:pPr marL="0" indent="0" algn="r">
              <a:buNone/>
            </a:pPr>
            <a:r>
              <a:rPr lang="en-US" sz="800" dirty="0">
                <a:solidFill>
                  <a:srgbClr val="173242"/>
                </a:solidFill>
                <a:latin typeface="Lato" pitchFamily="34" charset="0"/>
                <a:ea typeface="Lato" pitchFamily="34" charset="-122"/>
                <a:cs typeface="Lato" pitchFamily="34" charset="-120"/>
              </a:rPr>
              <a:t>A.Y. 2026–27</a:t>
            </a:r>
            <a:endParaRPr lang="en-US" sz="800" dirty="0"/>
          </a:p>
        </p:txBody>
      </p:sp>
      <p:sp>
        <p:nvSpPr>
          <p:cNvPr id="15" name="Text 12"/>
          <p:cNvSpPr/>
          <p:nvPr/>
        </p:nvSpPr>
        <p:spPr>
          <a:xfrm>
            <a:off x="768096" y="1170432"/>
            <a:ext cx="2011680" cy="274320"/>
          </a:xfrm>
          <a:prstGeom prst="rect">
            <a:avLst/>
          </a:prstGeom>
          <a:solidFill>
            <a:srgbClr val="9F303A"/>
          </a:solidFill>
          <a:ln w="12700">
            <a:solidFill>
              <a:srgbClr val="9F303A"/>
            </a:solidFill>
          </a:ln>
        </p:spPr>
        <p:txBody>
          <a:bodyPr wrap="square" lIns="381" tIns="381" rIns="381" bIns="381" rtlCol="0" anchor="ctr"/>
          <a:lstStyle/>
          <a:p>
            <a:pPr marL="0" indent="0" algn="ctr">
              <a:buNone/>
            </a:pPr>
            <a:r>
              <a:rPr lang="en-US" sz="1500" b="1" dirty="0">
                <a:solidFill>
                  <a:srgbClr val="FFFFFF"/>
                </a:solidFill>
                <a:latin typeface="Lato" pitchFamily="34" charset="0"/>
                <a:ea typeface="Lato" pitchFamily="34" charset="-122"/>
                <a:cs typeface="Lato" pitchFamily="34" charset="-120"/>
              </a:rPr>
              <a:t>PAPERS 11–15</a:t>
            </a:r>
            <a:endParaRPr lang="en-US" sz="1500" dirty="0"/>
          </a:p>
        </p:txBody>
      </p:sp>
      <p:sp>
        <p:nvSpPr>
          <p:cNvPr id="16" name="Text 13"/>
          <p:cNvSpPr/>
          <p:nvPr/>
        </p:nvSpPr>
        <p:spPr>
          <a:xfrm>
            <a:off x="768096" y="1508760"/>
            <a:ext cx="411480" cy="310896"/>
          </a:xfrm>
          <a:prstGeom prst="rect">
            <a:avLst/>
          </a:prstGeom>
          <a:solidFill>
            <a:srgbClr val="9F303A"/>
          </a:solidFill>
          <a:ln w="8890">
            <a:solidFill>
              <a:srgbClr val="879587"/>
            </a:solidFill>
          </a:ln>
        </p:spPr>
        <p:txBody>
          <a:bodyPr wrap="square" lIns="762" tIns="762" rIns="762" bIns="762" rtlCol="0" anchor="ctr">
            <a:normAutofit/>
          </a:bodyPr>
          <a:lstStyle/>
          <a:p>
            <a:pPr marL="0" indent="0" algn="ctr">
              <a:buNone/>
            </a:pPr>
            <a:r>
              <a:rPr lang="en-US" sz="860" b="1" dirty="0">
                <a:solidFill>
                  <a:srgbClr val="FFFFFF"/>
                </a:solidFill>
                <a:latin typeface="Lato" pitchFamily="34" charset="0"/>
                <a:ea typeface="Lato" pitchFamily="34" charset="-122"/>
                <a:cs typeface="Lato" pitchFamily="34" charset="-120"/>
              </a:rPr>
              <a:t>SNO</a:t>
            </a:r>
            <a:endParaRPr lang="en-US" sz="860" dirty="0"/>
          </a:p>
        </p:txBody>
      </p:sp>
      <p:sp>
        <p:nvSpPr>
          <p:cNvPr id="17" name="Text 14"/>
          <p:cNvSpPr/>
          <p:nvPr/>
        </p:nvSpPr>
        <p:spPr>
          <a:xfrm>
            <a:off x="1179576" y="1508760"/>
            <a:ext cx="1234440" cy="310896"/>
          </a:xfrm>
          <a:prstGeom prst="rect">
            <a:avLst/>
          </a:prstGeom>
          <a:solidFill>
            <a:srgbClr val="173242"/>
          </a:solidFill>
          <a:ln w="8890">
            <a:solidFill>
              <a:srgbClr val="879587"/>
            </a:solidFill>
          </a:ln>
        </p:spPr>
        <p:txBody>
          <a:bodyPr wrap="square" lIns="762" tIns="762" rIns="762" bIns="762" rtlCol="0" anchor="ctr">
            <a:normAutofit/>
          </a:bodyPr>
          <a:lstStyle/>
          <a:p>
            <a:pPr marL="0" indent="0" algn="ctr">
              <a:buNone/>
            </a:pPr>
            <a:r>
              <a:rPr lang="en-US" sz="860" b="1" dirty="0">
                <a:solidFill>
                  <a:srgbClr val="FFFFFF"/>
                </a:solidFill>
                <a:latin typeface="Lato" pitchFamily="34" charset="0"/>
                <a:ea typeface="Lato" pitchFamily="34" charset="-122"/>
                <a:cs typeface="Lato" pitchFamily="34" charset="-120"/>
              </a:rPr>
              <a:t>AUTHORS</a:t>
            </a:r>
            <a:endParaRPr lang="en-US" sz="860" dirty="0"/>
          </a:p>
        </p:txBody>
      </p:sp>
      <p:sp>
        <p:nvSpPr>
          <p:cNvPr id="18" name="Text 15"/>
          <p:cNvSpPr/>
          <p:nvPr/>
        </p:nvSpPr>
        <p:spPr>
          <a:xfrm>
            <a:off x="2414016" y="1508760"/>
            <a:ext cx="1874520" cy="310896"/>
          </a:xfrm>
          <a:prstGeom prst="rect">
            <a:avLst/>
          </a:prstGeom>
          <a:solidFill>
            <a:srgbClr val="173242"/>
          </a:solidFill>
          <a:ln w="8890">
            <a:solidFill>
              <a:srgbClr val="879587"/>
            </a:solidFill>
          </a:ln>
        </p:spPr>
        <p:txBody>
          <a:bodyPr wrap="square" lIns="762" tIns="762" rIns="762" bIns="762" rtlCol="0" anchor="ctr">
            <a:normAutofit/>
          </a:bodyPr>
          <a:lstStyle/>
          <a:p>
            <a:pPr marL="0" indent="0" algn="ctr">
              <a:buNone/>
            </a:pPr>
            <a:r>
              <a:rPr lang="en-US" sz="860" b="1" dirty="0">
                <a:solidFill>
                  <a:srgbClr val="FFFFFF"/>
                </a:solidFill>
                <a:latin typeface="Lato" pitchFamily="34" charset="0"/>
                <a:ea typeface="Lato" pitchFamily="34" charset="-122"/>
                <a:cs typeface="Lato" pitchFamily="34" charset="-120"/>
              </a:rPr>
              <a:t>TITLE</a:t>
            </a:r>
            <a:endParaRPr lang="en-US" sz="860" dirty="0"/>
          </a:p>
        </p:txBody>
      </p:sp>
      <p:sp>
        <p:nvSpPr>
          <p:cNvPr id="19" name="Text 16"/>
          <p:cNvSpPr/>
          <p:nvPr/>
        </p:nvSpPr>
        <p:spPr>
          <a:xfrm>
            <a:off x="4288536" y="1508760"/>
            <a:ext cx="749808" cy="310896"/>
          </a:xfrm>
          <a:prstGeom prst="rect">
            <a:avLst/>
          </a:prstGeom>
          <a:solidFill>
            <a:srgbClr val="173242"/>
          </a:solidFill>
          <a:ln w="8890">
            <a:solidFill>
              <a:srgbClr val="879587"/>
            </a:solidFill>
          </a:ln>
        </p:spPr>
        <p:txBody>
          <a:bodyPr wrap="square" lIns="762" tIns="762" rIns="762" bIns="762" rtlCol="0" anchor="ctr">
            <a:normAutofit/>
          </a:bodyPr>
          <a:lstStyle/>
          <a:p>
            <a:pPr marL="0" indent="0" algn="ctr">
              <a:buNone/>
            </a:pPr>
            <a:r>
              <a:rPr lang="en-US" sz="860" b="1" dirty="0">
                <a:solidFill>
                  <a:srgbClr val="FFFFFF"/>
                </a:solidFill>
                <a:latin typeface="Lato" pitchFamily="34" charset="0"/>
                <a:ea typeface="Lato" pitchFamily="34" charset="-122"/>
                <a:cs typeface="Lato" pitchFamily="34" charset="-120"/>
              </a:rPr>
              <a:t>YEAR</a:t>
            </a:r>
            <a:endParaRPr lang="en-US" sz="860" dirty="0"/>
          </a:p>
        </p:txBody>
      </p:sp>
      <p:sp>
        <p:nvSpPr>
          <p:cNvPr id="20" name="Text 17"/>
          <p:cNvSpPr/>
          <p:nvPr/>
        </p:nvSpPr>
        <p:spPr>
          <a:xfrm>
            <a:off x="5038344" y="1508760"/>
            <a:ext cx="1874520" cy="310896"/>
          </a:xfrm>
          <a:prstGeom prst="rect">
            <a:avLst/>
          </a:prstGeom>
          <a:solidFill>
            <a:srgbClr val="173242"/>
          </a:solidFill>
          <a:ln w="8890">
            <a:solidFill>
              <a:srgbClr val="879587"/>
            </a:solidFill>
          </a:ln>
        </p:spPr>
        <p:txBody>
          <a:bodyPr wrap="square" lIns="762" tIns="762" rIns="762" bIns="762" rtlCol="0" anchor="ctr">
            <a:normAutofit/>
          </a:bodyPr>
          <a:lstStyle/>
          <a:p>
            <a:pPr marL="0" indent="0" algn="ctr">
              <a:buNone/>
            </a:pPr>
            <a:r>
              <a:rPr lang="en-US" sz="860" b="1" dirty="0">
                <a:solidFill>
                  <a:srgbClr val="FFFFFF"/>
                </a:solidFill>
                <a:latin typeface="Lato" pitchFamily="34" charset="0"/>
                <a:ea typeface="Lato" pitchFamily="34" charset="-122"/>
                <a:cs typeface="Lato" pitchFamily="34" charset="-120"/>
              </a:rPr>
              <a:t>DATASET</a:t>
            </a:r>
            <a:endParaRPr lang="en-US" sz="860" dirty="0"/>
          </a:p>
        </p:txBody>
      </p:sp>
      <p:sp>
        <p:nvSpPr>
          <p:cNvPr id="21" name="Text 18"/>
          <p:cNvSpPr/>
          <p:nvPr/>
        </p:nvSpPr>
        <p:spPr>
          <a:xfrm>
            <a:off x="6912864" y="1508760"/>
            <a:ext cx="2743200" cy="310896"/>
          </a:xfrm>
          <a:prstGeom prst="rect">
            <a:avLst/>
          </a:prstGeom>
          <a:solidFill>
            <a:srgbClr val="173242"/>
          </a:solidFill>
          <a:ln w="8890">
            <a:solidFill>
              <a:srgbClr val="879587"/>
            </a:solidFill>
          </a:ln>
        </p:spPr>
        <p:txBody>
          <a:bodyPr wrap="square" lIns="762" tIns="762" rIns="762" bIns="762" rtlCol="0" anchor="ctr">
            <a:normAutofit/>
          </a:bodyPr>
          <a:lstStyle/>
          <a:p>
            <a:pPr marL="0" indent="0" algn="ctr">
              <a:buNone/>
            </a:pPr>
            <a:r>
              <a:rPr lang="en-US" sz="860" b="1" dirty="0">
                <a:solidFill>
                  <a:srgbClr val="FFFFFF"/>
                </a:solidFill>
                <a:latin typeface="Lato" pitchFamily="34" charset="0"/>
                <a:ea typeface="Lato" pitchFamily="34" charset="-122"/>
                <a:cs typeface="Lato" pitchFamily="34" charset="-120"/>
              </a:rPr>
              <a:t>METHODOLOGY</a:t>
            </a:r>
            <a:endParaRPr lang="en-US" sz="860" dirty="0"/>
          </a:p>
        </p:txBody>
      </p:sp>
      <p:sp>
        <p:nvSpPr>
          <p:cNvPr id="22" name="Text 19"/>
          <p:cNvSpPr/>
          <p:nvPr/>
        </p:nvSpPr>
        <p:spPr>
          <a:xfrm>
            <a:off x="9656064" y="1508760"/>
            <a:ext cx="1810512" cy="310896"/>
          </a:xfrm>
          <a:prstGeom prst="rect">
            <a:avLst/>
          </a:prstGeom>
          <a:solidFill>
            <a:srgbClr val="173242"/>
          </a:solidFill>
          <a:ln w="8890">
            <a:solidFill>
              <a:srgbClr val="879587"/>
            </a:solidFill>
          </a:ln>
        </p:spPr>
        <p:txBody>
          <a:bodyPr wrap="square" lIns="762" tIns="762" rIns="762" bIns="762" rtlCol="0" anchor="ctr">
            <a:normAutofit/>
          </a:bodyPr>
          <a:lstStyle/>
          <a:p>
            <a:pPr marL="0" indent="0" algn="ctr">
              <a:buNone/>
            </a:pPr>
            <a:r>
              <a:rPr lang="en-US" sz="860" b="1" dirty="0">
                <a:solidFill>
                  <a:srgbClr val="FFFFFF"/>
                </a:solidFill>
                <a:latin typeface="Lato" pitchFamily="34" charset="0"/>
                <a:ea typeface="Lato" pitchFamily="34" charset="-122"/>
                <a:cs typeface="Lato" pitchFamily="34" charset="-120"/>
              </a:rPr>
              <a:t>LIMITATION</a:t>
            </a:r>
            <a:endParaRPr lang="en-US" sz="860" dirty="0"/>
          </a:p>
        </p:txBody>
      </p:sp>
      <p:pic>
        <p:nvPicPr>
          <p:cNvPr id="23" name="Image 1" descr="/mnt/data/3ff0f84b-6888-4151-9846-e703e5d0a559.png"/>
          <p:cNvPicPr>
            <a:picLocks noChangeAspect="1"/>
          </p:cNvPicPr>
          <p:nvPr/>
        </p:nvPicPr>
        <p:blipFill>
          <a:blip r:embed="rId4"/>
          <a:stretch>
            <a:fillRect/>
          </a:stretch>
        </p:blipFill>
        <p:spPr>
          <a:xfrm>
            <a:off x="768096" y="1970666"/>
            <a:ext cx="10698480" cy="3684764"/>
          </a:xfrm>
          <a:prstGeom prst="rect">
            <a:avLst/>
          </a:prstGeom>
        </p:spPr>
      </p:pic>
      <p:sp>
        <p:nvSpPr>
          <p:cNvPr id="24" name="Text 20"/>
          <p:cNvSpPr/>
          <p:nvPr/>
        </p:nvSpPr>
        <p:spPr>
          <a:xfrm>
            <a:off x="768096" y="5797296"/>
            <a:ext cx="10698480" cy="182880"/>
          </a:xfrm>
          <a:prstGeom prst="rect">
            <a:avLst/>
          </a:prstGeom>
          <a:noFill/>
          <a:ln/>
        </p:spPr>
        <p:txBody>
          <a:bodyPr wrap="square" lIns="127" tIns="127" rIns="127" bIns="127" rtlCol="0" anchor="t">
            <a:normAutofit/>
          </a:bodyPr>
          <a:lstStyle/>
          <a:p>
            <a:pPr marL="0" indent="0" algn="ctr">
              <a:buNone/>
            </a:pPr>
            <a:r>
              <a:rPr lang="en-US" sz="930" dirty="0">
                <a:solidFill>
                  <a:srgbClr val="173242"/>
                </a:solidFill>
                <a:latin typeface="Lato" pitchFamily="34" charset="0"/>
                <a:ea typeface="Lato" pitchFamily="34" charset="-122"/>
                <a:cs typeface="Lato" pitchFamily="34" charset="-120"/>
              </a:rPr>
              <a:t>Literature papers are grouped exactly like the Excel sheet: five studies per slide, showing authors, title, year, dataset, methodology and limitation.</a:t>
            </a:r>
            <a:endParaRPr lang="en-US" sz="93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E8"/>
        </a:solidFill>
        <a:effectLst/>
      </p:bgPr>
    </p:bg>
    <p:spTree>
      <p:nvGrpSpPr>
        <p:cNvPr id="1" name=""/>
        <p:cNvGrpSpPr/>
        <p:nvPr/>
      </p:nvGrpSpPr>
      <p:grpSpPr>
        <a:xfrm>
          <a:off x="0" y="0"/>
          <a:ext cx="0" cy="0"/>
          <a:chOff x="0" y="0"/>
          <a:chExt cx="0" cy="0"/>
        </a:xfrm>
      </p:grpSpPr>
      <p:sp>
        <p:nvSpPr>
          <p:cNvPr id="2" name="Shape 0"/>
          <p:cNvSpPr/>
          <p:nvPr/>
        </p:nvSpPr>
        <p:spPr>
          <a:xfrm>
            <a:off x="393192" y="91440"/>
            <a:ext cx="11411712" cy="0"/>
          </a:xfrm>
          <a:prstGeom prst="line">
            <a:avLst/>
          </a:prstGeom>
          <a:noFill/>
          <a:ln w="13970">
            <a:solidFill>
              <a:srgbClr val="CBD6BB"/>
            </a:solidFill>
            <a:prstDash val="solid"/>
          </a:ln>
        </p:spPr>
      </p:sp>
      <p:sp>
        <p:nvSpPr>
          <p:cNvPr id="3" name="Shape 1"/>
          <p:cNvSpPr/>
          <p:nvPr/>
        </p:nvSpPr>
        <p:spPr>
          <a:xfrm>
            <a:off x="393192" y="6601968"/>
            <a:ext cx="11411712" cy="0"/>
          </a:xfrm>
          <a:prstGeom prst="line">
            <a:avLst/>
          </a:prstGeom>
          <a:noFill/>
          <a:ln w="13970">
            <a:solidFill>
              <a:srgbClr val="CBD6BB"/>
            </a:solidFill>
            <a:prstDash val="solid"/>
          </a:ln>
        </p:spPr>
      </p:sp>
      <p:sp>
        <p:nvSpPr>
          <p:cNvPr id="4" name="Shape 2"/>
          <p:cNvSpPr/>
          <p:nvPr/>
        </p:nvSpPr>
        <p:spPr>
          <a:xfrm>
            <a:off x="393192" y="91440"/>
            <a:ext cx="0" cy="6510528"/>
          </a:xfrm>
          <a:prstGeom prst="line">
            <a:avLst/>
          </a:prstGeom>
          <a:noFill/>
          <a:ln w="13970">
            <a:solidFill>
              <a:srgbClr val="CBD6BB"/>
            </a:solidFill>
            <a:prstDash val="solid"/>
          </a:ln>
        </p:spPr>
      </p:sp>
      <p:sp>
        <p:nvSpPr>
          <p:cNvPr id="5" name="Shape 3"/>
          <p:cNvSpPr/>
          <p:nvPr/>
        </p:nvSpPr>
        <p:spPr>
          <a:xfrm>
            <a:off x="11804904" y="91440"/>
            <a:ext cx="0" cy="6510528"/>
          </a:xfrm>
          <a:prstGeom prst="line">
            <a:avLst/>
          </a:prstGeom>
          <a:noFill/>
          <a:ln w="13970">
            <a:solidFill>
              <a:srgbClr val="CBD6BB"/>
            </a:solidFill>
            <a:prstDash val="solid"/>
          </a:ln>
        </p:spPr>
      </p:sp>
      <p:sp>
        <p:nvSpPr>
          <p:cNvPr id="6" name="Shape 4"/>
          <p:cNvSpPr/>
          <p:nvPr/>
        </p:nvSpPr>
        <p:spPr>
          <a:xfrm>
            <a:off x="393192" y="749808"/>
            <a:ext cx="11411712" cy="0"/>
          </a:xfrm>
          <a:prstGeom prst="line">
            <a:avLst/>
          </a:prstGeom>
          <a:noFill/>
          <a:ln w="11430">
            <a:solidFill>
              <a:srgbClr val="173242"/>
            </a:solidFill>
            <a:prstDash val="solid"/>
          </a:ln>
        </p:spPr>
      </p:sp>
      <p:sp>
        <p:nvSpPr>
          <p:cNvPr id="7" name="Shape 5"/>
          <p:cNvSpPr/>
          <p:nvPr/>
        </p:nvSpPr>
        <p:spPr>
          <a:xfrm>
            <a:off x="393192" y="1060704"/>
            <a:ext cx="11411712" cy="0"/>
          </a:xfrm>
          <a:prstGeom prst="line">
            <a:avLst/>
          </a:prstGeom>
          <a:noFill/>
          <a:ln w="11430">
            <a:solidFill>
              <a:srgbClr val="173242"/>
            </a:solidFill>
            <a:prstDash val="solid"/>
          </a:ln>
        </p:spPr>
      </p:sp>
      <p:pic>
        <p:nvPicPr>
          <p:cNvPr id="8" name="Image 0" descr="/mnt/data/3b6ce1a3-ac36-48dc-a15a-81eb8802b178.png"/>
          <p:cNvPicPr>
            <a:picLocks noChangeAspect="1"/>
          </p:cNvPicPr>
          <p:nvPr/>
        </p:nvPicPr>
        <p:blipFill>
          <a:blip r:embed="rId3"/>
          <a:stretch>
            <a:fillRect/>
          </a:stretch>
        </p:blipFill>
        <p:spPr>
          <a:xfrm>
            <a:off x="655799" y="182880"/>
            <a:ext cx="1230433" cy="438912"/>
          </a:xfrm>
          <a:prstGeom prst="rect">
            <a:avLst/>
          </a:prstGeom>
        </p:spPr>
      </p:pic>
      <p:sp>
        <p:nvSpPr>
          <p:cNvPr id="9" name="Text 6"/>
          <p:cNvSpPr/>
          <p:nvPr/>
        </p:nvSpPr>
        <p:spPr>
          <a:xfrm>
            <a:off x="2029968" y="182880"/>
            <a:ext cx="6949440" cy="411480"/>
          </a:xfrm>
          <a:prstGeom prst="rect">
            <a:avLst/>
          </a:prstGeom>
          <a:noFill/>
          <a:ln/>
        </p:spPr>
        <p:txBody>
          <a:bodyPr wrap="square" lIns="254" tIns="254" rIns="254" bIns="254" rtlCol="0" anchor="ctr">
            <a:normAutofit/>
          </a:bodyPr>
          <a:lstStyle/>
          <a:p>
            <a:pPr marL="0" indent="0">
              <a:buNone/>
            </a:pPr>
            <a:r>
              <a:rPr lang="en-US" sz="2600" b="1" dirty="0">
                <a:solidFill>
                  <a:srgbClr val="173242"/>
                </a:solidFill>
                <a:latin typeface="Lato" pitchFamily="34" charset="0"/>
                <a:ea typeface="Lato" pitchFamily="34" charset="-122"/>
                <a:cs typeface="Lato" pitchFamily="34" charset="-120"/>
              </a:rPr>
              <a:t>LITERATURE REVIEW – PART 4</a:t>
            </a:r>
            <a:endParaRPr lang="en-US" sz="2600" dirty="0"/>
          </a:p>
        </p:txBody>
      </p:sp>
      <p:sp>
        <p:nvSpPr>
          <p:cNvPr id="10" name="Text 7"/>
          <p:cNvSpPr/>
          <p:nvPr/>
        </p:nvSpPr>
        <p:spPr>
          <a:xfrm>
            <a:off x="8549640" y="832104"/>
            <a:ext cx="2788920" cy="146304"/>
          </a:xfrm>
          <a:prstGeom prst="rect">
            <a:avLst/>
          </a:prstGeom>
          <a:noFill/>
          <a:ln/>
        </p:spPr>
        <p:txBody>
          <a:bodyPr wrap="square" lIns="127" tIns="127" rIns="127" bIns="127" rtlCol="0" anchor="ctr">
            <a:normAutofit/>
          </a:bodyPr>
          <a:lstStyle/>
          <a:p>
            <a:pPr marL="0" indent="0" algn="r">
              <a:buNone/>
            </a:pPr>
            <a:r>
              <a:rPr lang="en-US" sz="860" dirty="0">
                <a:solidFill>
                  <a:srgbClr val="173242"/>
                </a:solidFill>
                <a:latin typeface="Lato" pitchFamily="34" charset="0"/>
                <a:ea typeface="Lato" pitchFamily="34" charset="-122"/>
                <a:cs typeface="Lato" pitchFamily="34" charset="-120"/>
              </a:rPr>
              <a:t>ML PROJECT | CSE | SECTION 4</a:t>
            </a:r>
            <a:endParaRPr lang="en-US" sz="860" dirty="0"/>
          </a:p>
        </p:txBody>
      </p:sp>
      <p:sp>
        <p:nvSpPr>
          <p:cNvPr id="11" name="Shape 8"/>
          <p:cNvSpPr/>
          <p:nvPr/>
        </p:nvSpPr>
        <p:spPr>
          <a:xfrm>
            <a:off x="393192" y="5989320"/>
            <a:ext cx="11411712" cy="0"/>
          </a:xfrm>
          <a:prstGeom prst="line">
            <a:avLst/>
          </a:prstGeom>
          <a:noFill/>
          <a:ln w="11430">
            <a:solidFill>
              <a:srgbClr val="173242"/>
            </a:solidFill>
            <a:prstDash val="solid"/>
          </a:ln>
        </p:spPr>
      </p:sp>
      <p:sp>
        <p:nvSpPr>
          <p:cNvPr id="12" name="Shape 9"/>
          <p:cNvSpPr/>
          <p:nvPr/>
        </p:nvSpPr>
        <p:spPr>
          <a:xfrm>
            <a:off x="393192" y="6309360"/>
            <a:ext cx="11411712" cy="0"/>
          </a:xfrm>
          <a:prstGeom prst="line">
            <a:avLst/>
          </a:prstGeom>
          <a:noFill/>
          <a:ln w="11430">
            <a:solidFill>
              <a:srgbClr val="173242"/>
            </a:solidFill>
            <a:prstDash val="solid"/>
          </a:ln>
        </p:spPr>
      </p:sp>
      <p:sp>
        <p:nvSpPr>
          <p:cNvPr id="13" name="Text 10"/>
          <p:cNvSpPr/>
          <p:nvPr/>
        </p:nvSpPr>
        <p:spPr>
          <a:xfrm>
            <a:off x="713232" y="6108192"/>
            <a:ext cx="8138160" cy="146304"/>
          </a:xfrm>
          <a:prstGeom prst="rect">
            <a:avLst/>
          </a:prstGeom>
          <a:noFill/>
          <a:ln/>
        </p:spPr>
        <p:txBody>
          <a:bodyPr wrap="square" lIns="127" tIns="127" rIns="127" bIns="127" rtlCol="0" anchor="ctr">
            <a:normAutofit/>
          </a:bodyPr>
          <a:lstStyle/>
          <a:p>
            <a:pPr marL="0" indent="0">
              <a:buNone/>
            </a:pPr>
            <a:r>
              <a:rPr lang="en-US" sz="800" dirty="0">
                <a:solidFill>
                  <a:srgbClr val="173242"/>
                </a:solidFill>
                <a:latin typeface="Lato" pitchFamily="34" charset="0"/>
                <a:ea typeface="Lato" pitchFamily="34" charset="-122"/>
                <a:cs typeface="Lato" pitchFamily="34" charset="-120"/>
              </a:rPr>
              <a:t>SPAM EMAIL CLASSIFICATION USING NAIVE BAYES AND SUPPORT VECTOR MACHINE</a:t>
            </a:r>
            <a:endParaRPr lang="en-US" sz="800" dirty="0"/>
          </a:p>
        </p:txBody>
      </p:sp>
      <p:sp>
        <p:nvSpPr>
          <p:cNvPr id="14" name="Text 11"/>
          <p:cNvSpPr/>
          <p:nvPr/>
        </p:nvSpPr>
        <p:spPr>
          <a:xfrm>
            <a:off x="10058400" y="6108192"/>
            <a:ext cx="1298448" cy="146304"/>
          </a:xfrm>
          <a:prstGeom prst="rect">
            <a:avLst/>
          </a:prstGeom>
          <a:noFill/>
          <a:ln/>
        </p:spPr>
        <p:txBody>
          <a:bodyPr wrap="square" lIns="127" tIns="127" rIns="127" bIns="127" rtlCol="0" anchor="ctr"/>
          <a:lstStyle/>
          <a:p>
            <a:pPr marL="0" indent="0" algn="r">
              <a:buNone/>
            </a:pPr>
            <a:r>
              <a:rPr lang="en-US" sz="800" dirty="0">
                <a:solidFill>
                  <a:srgbClr val="173242"/>
                </a:solidFill>
                <a:latin typeface="Lato" pitchFamily="34" charset="0"/>
                <a:ea typeface="Lato" pitchFamily="34" charset="-122"/>
                <a:cs typeface="Lato" pitchFamily="34" charset="-120"/>
              </a:rPr>
              <a:t>A.Y. 2026–27</a:t>
            </a:r>
            <a:endParaRPr lang="en-US" sz="800" dirty="0"/>
          </a:p>
        </p:txBody>
      </p:sp>
      <p:sp>
        <p:nvSpPr>
          <p:cNvPr id="15" name="Text 12"/>
          <p:cNvSpPr/>
          <p:nvPr/>
        </p:nvSpPr>
        <p:spPr>
          <a:xfrm>
            <a:off x="768096" y="1170432"/>
            <a:ext cx="2011680" cy="274320"/>
          </a:xfrm>
          <a:prstGeom prst="rect">
            <a:avLst/>
          </a:prstGeom>
          <a:solidFill>
            <a:srgbClr val="9F303A"/>
          </a:solidFill>
          <a:ln w="12700">
            <a:solidFill>
              <a:srgbClr val="9F303A"/>
            </a:solidFill>
          </a:ln>
        </p:spPr>
        <p:txBody>
          <a:bodyPr wrap="square" lIns="381" tIns="381" rIns="381" bIns="381" rtlCol="0" anchor="ctr"/>
          <a:lstStyle/>
          <a:p>
            <a:pPr marL="0" indent="0" algn="ctr">
              <a:buNone/>
            </a:pPr>
            <a:r>
              <a:rPr lang="en-US" sz="1500" b="1" dirty="0">
                <a:solidFill>
                  <a:srgbClr val="FFFFFF"/>
                </a:solidFill>
                <a:latin typeface="Lato" pitchFamily="34" charset="0"/>
                <a:ea typeface="Lato" pitchFamily="34" charset="-122"/>
                <a:cs typeface="Lato" pitchFamily="34" charset="-120"/>
              </a:rPr>
              <a:t>PAPERS 16–20</a:t>
            </a:r>
            <a:endParaRPr lang="en-US" sz="1500" dirty="0"/>
          </a:p>
        </p:txBody>
      </p:sp>
      <p:sp>
        <p:nvSpPr>
          <p:cNvPr id="16" name="Text 13"/>
          <p:cNvSpPr/>
          <p:nvPr/>
        </p:nvSpPr>
        <p:spPr>
          <a:xfrm>
            <a:off x="768096" y="1508760"/>
            <a:ext cx="411480" cy="310896"/>
          </a:xfrm>
          <a:prstGeom prst="rect">
            <a:avLst/>
          </a:prstGeom>
          <a:solidFill>
            <a:srgbClr val="9F303A"/>
          </a:solidFill>
          <a:ln w="8890">
            <a:solidFill>
              <a:srgbClr val="879587"/>
            </a:solidFill>
          </a:ln>
        </p:spPr>
        <p:txBody>
          <a:bodyPr wrap="square" lIns="762" tIns="762" rIns="762" bIns="762" rtlCol="0" anchor="ctr">
            <a:normAutofit/>
          </a:bodyPr>
          <a:lstStyle/>
          <a:p>
            <a:pPr marL="0" indent="0" algn="ctr">
              <a:buNone/>
            </a:pPr>
            <a:r>
              <a:rPr lang="en-US" sz="860" b="1" dirty="0">
                <a:solidFill>
                  <a:srgbClr val="FFFFFF"/>
                </a:solidFill>
                <a:latin typeface="Lato" pitchFamily="34" charset="0"/>
                <a:ea typeface="Lato" pitchFamily="34" charset="-122"/>
                <a:cs typeface="Lato" pitchFamily="34" charset="-120"/>
              </a:rPr>
              <a:t>SNO</a:t>
            </a:r>
            <a:endParaRPr lang="en-US" sz="860" dirty="0"/>
          </a:p>
        </p:txBody>
      </p:sp>
      <p:sp>
        <p:nvSpPr>
          <p:cNvPr id="17" name="Text 14"/>
          <p:cNvSpPr/>
          <p:nvPr/>
        </p:nvSpPr>
        <p:spPr>
          <a:xfrm>
            <a:off x="1179576" y="1508760"/>
            <a:ext cx="1234440" cy="310896"/>
          </a:xfrm>
          <a:prstGeom prst="rect">
            <a:avLst/>
          </a:prstGeom>
          <a:solidFill>
            <a:srgbClr val="173242"/>
          </a:solidFill>
          <a:ln w="8890">
            <a:solidFill>
              <a:srgbClr val="879587"/>
            </a:solidFill>
          </a:ln>
        </p:spPr>
        <p:txBody>
          <a:bodyPr wrap="square" lIns="762" tIns="762" rIns="762" bIns="762" rtlCol="0" anchor="ctr">
            <a:normAutofit/>
          </a:bodyPr>
          <a:lstStyle/>
          <a:p>
            <a:pPr marL="0" indent="0" algn="ctr">
              <a:buNone/>
            </a:pPr>
            <a:r>
              <a:rPr lang="en-US" sz="860" b="1" dirty="0">
                <a:solidFill>
                  <a:srgbClr val="FFFFFF"/>
                </a:solidFill>
                <a:latin typeface="Lato" pitchFamily="34" charset="0"/>
                <a:ea typeface="Lato" pitchFamily="34" charset="-122"/>
                <a:cs typeface="Lato" pitchFamily="34" charset="-120"/>
              </a:rPr>
              <a:t>AUTHORS</a:t>
            </a:r>
            <a:endParaRPr lang="en-US" sz="860" dirty="0"/>
          </a:p>
        </p:txBody>
      </p:sp>
      <p:sp>
        <p:nvSpPr>
          <p:cNvPr id="18" name="Text 15"/>
          <p:cNvSpPr/>
          <p:nvPr/>
        </p:nvSpPr>
        <p:spPr>
          <a:xfrm>
            <a:off x="2414016" y="1508760"/>
            <a:ext cx="1874520" cy="310896"/>
          </a:xfrm>
          <a:prstGeom prst="rect">
            <a:avLst/>
          </a:prstGeom>
          <a:solidFill>
            <a:srgbClr val="173242"/>
          </a:solidFill>
          <a:ln w="8890">
            <a:solidFill>
              <a:srgbClr val="879587"/>
            </a:solidFill>
          </a:ln>
        </p:spPr>
        <p:txBody>
          <a:bodyPr wrap="square" lIns="762" tIns="762" rIns="762" bIns="762" rtlCol="0" anchor="ctr">
            <a:normAutofit/>
          </a:bodyPr>
          <a:lstStyle/>
          <a:p>
            <a:pPr marL="0" indent="0" algn="ctr">
              <a:buNone/>
            </a:pPr>
            <a:r>
              <a:rPr lang="en-US" sz="860" b="1" dirty="0">
                <a:solidFill>
                  <a:srgbClr val="FFFFFF"/>
                </a:solidFill>
                <a:latin typeface="Lato" pitchFamily="34" charset="0"/>
                <a:ea typeface="Lato" pitchFamily="34" charset="-122"/>
                <a:cs typeface="Lato" pitchFamily="34" charset="-120"/>
              </a:rPr>
              <a:t>TITLE</a:t>
            </a:r>
            <a:endParaRPr lang="en-US" sz="860" dirty="0"/>
          </a:p>
        </p:txBody>
      </p:sp>
      <p:sp>
        <p:nvSpPr>
          <p:cNvPr id="19" name="Text 16"/>
          <p:cNvSpPr/>
          <p:nvPr/>
        </p:nvSpPr>
        <p:spPr>
          <a:xfrm>
            <a:off x="4288536" y="1508760"/>
            <a:ext cx="749808" cy="310896"/>
          </a:xfrm>
          <a:prstGeom prst="rect">
            <a:avLst/>
          </a:prstGeom>
          <a:solidFill>
            <a:srgbClr val="173242"/>
          </a:solidFill>
          <a:ln w="8890">
            <a:solidFill>
              <a:srgbClr val="879587"/>
            </a:solidFill>
          </a:ln>
        </p:spPr>
        <p:txBody>
          <a:bodyPr wrap="square" lIns="762" tIns="762" rIns="762" bIns="762" rtlCol="0" anchor="ctr">
            <a:normAutofit/>
          </a:bodyPr>
          <a:lstStyle/>
          <a:p>
            <a:pPr marL="0" indent="0" algn="ctr">
              <a:buNone/>
            </a:pPr>
            <a:r>
              <a:rPr lang="en-US" sz="860" b="1" dirty="0">
                <a:solidFill>
                  <a:srgbClr val="FFFFFF"/>
                </a:solidFill>
                <a:latin typeface="Lato" pitchFamily="34" charset="0"/>
                <a:ea typeface="Lato" pitchFamily="34" charset="-122"/>
                <a:cs typeface="Lato" pitchFamily="34" charset="-120"/>
              </a:rPr>
              <a:t>YEAR</a:t>
            </a:r>
            <a:endParaRPr lang="en-US" sz="860" dirty="0"/>
          </a:p>
        </p:txBody>
      </p:sp>
      <p:sp>
        <p:nvSpPr>
          <p:cNvPr id="20" name="Text 17"/>
          <p:cNvSpPr/>
          <p:nvPr/>
        </p:nvSpPr>
        <p:spPr>
          <a:xfrm>
            <a:off x="5038344" y="1508760"/>
            <a:ext cx="1874520" cy="310896"/>
          </a:xfrm>
          <a:prstGeom prst="rect">
            <a:avLst/>
          </a:prstGeom>
          <a:solidFill>
            <a:srgbClr val="173242"/>
          </a:solidFill>
          <a:ln w="8890">
            <a:solidFill>
              <a:srgbClr val="879587"/>
            </a:solidFill>
          </a:ln>
        </p:spPr>
        <p:txBody>
          <a:bodyPr wrap="square" lIns="762" tIns="762" rIns="762" bIns="762" rtlCol="0" anchor="ctr">
            <a:normAutofit/>
          </a:bodyPr>
          <a:lstStyle/>
          <a:p>
            <a:pPr marL="0" indent="0" algn="ctr">
              <a:buNone/>
            </a:pPr>
            <a:r>
              <a:rPr lang="en-US" sz="860" b="1" dirty="0">
                <a:solidFill>
                  <a:srgbClr val="FFFFFF"/>
                </a:solidFill>
                <a:latin typeface="Lato" pitchFamily="34" charset="0"/>
                <a:ea typeface="Lato" pitchFamily="34" charset="-122"/>
                <a:cs typeface="Lato" pitchFamily="34" charset="-120"/>
              </a:rPr>
              <a:t>DATASET</a:t>
            </a:r>
            <a:endParaRPr lang="en-US" sz="860" dirty="0"/>
          </a:p>
        </p:txBody>
      </p:sp>
      <p:sp>
        <p:nvSpPr>
          <p:cNvPr id="21" name="Text 18"/>
          <p:cNvSpPr/>
          <p:nvPr/>
        </p:nvSpPr>
        <p:spPr>
          <a:xfrm>
            <a:off x="6912864" y="1508760"/>
            <a:ext cx="2743200" cy="310896"/>
          </a:xfrm>
          <a:prstGeom prst="rect">
            <a:avLst/>
          </a:prstGeom>
          <a:solidFill>
            <a:srgbClr val="173242"/>
          </a:solidFill>
          <a:ln w="8890">
            <a:solidFill>
              <a:srgbClr val="879587"/>
            </a:solidFill>
          </a:ln>
        </p:spPr>
        <p:txBody>
          <a:bodyPr wrap="square" lIns="762" tIns="762" rIns="762" bIns="762" rtlCol="0" anchor="ctr">
            <a:normAutofit/>
          </a:bodyPr>
          <a:lstStyle/>
          <a:p>
            <a:pPr marL="0" indent="0" algn="ctr">
              <a:buNone/>
            </a:pPr>
            <a:r>
              <a:rPr lang="en-US" sz="860" b="1" dirty="0">
                <a:solidFill>
                  <a:srgbClr val="FFFFFF"/>
                </a:solidFill>
                <a:latin typeface="Lato" pitchFamily="34" charset="0"/>
                <a:ea typeface="Lato" pitchFamily="34" charset="-122"/>
                <a:cs typeface="Lato" pitchFamily="34" charset="-120"/>
              </a:rPr>
              <a:t>METHODOLOGY</a:t>
            </a:r>
            <a:endParaRPr lang="en-US" sz="860" dirty="0"/>
          </a:p>
        </p:txBody>
      </p:sp>
      <p:sp>
        <p:nvSpPr>
          <p:cNvPr id="22" name="Text 19"/>
          <p:cNvSpPr/>
          <p:nvPr/>
        </p:nvSpPr>
        <p:spPr>
          <a:xfrm>
            <a:off x="9656064" y="1508760"/>
            <a:ext cx="1810512" cy="310896"/>
          </a:xfrm>
          <a:prstGeom prst="rect">
            <a:avLst/>
          </a:prstGeom>
          <a:solidFill>
            <a:srgbClr val="173242"/>
          </a:solidFill>
          <a:ln w="8890">
            <a:solidFill>
              <a:srgbClr val="879587"/>
            </a:solidFill>
          </a:ln>
        </p:spPr>
        <p:txBody>
          <a:bodyPr wrap="square" lIns="762" tIns="762" rIns="762" bIns="762" rtlCol="0" anchor="ctr">
            <a:normAutofit/>
          </a:bodyPr>
          <a:lstStyle/>
          <a:p>
            <a:pPr marL="0" indent="0" algn="ctr">
              <a:buNone/>
            </a:pPr>
            <a:r>
              <a:rPr lang="en-US" sz="860" b="1" dirty="0">
                <a:solidFill>
                  <a:srgbClr val="FFFFFF"/>
                </a:solidFill>
                <a:latin typeface="Lato" pitchFamily="34" charset="0"/>
                <a:ea typeface="Lato" pitchFamily="34" charset="-122"/>
                <a:cs typeface="Lato" pitchFamily="34" charset="-120"/>
              </a:rPr>
              <a:t>LIMITATION</a:t>
            </a:r>
            <a:endParaRPr lang="en-US" sz="860" dirty="0"/>
          </a:p>
        </p:txBody>
      </p:sp>
      <p:pic>
        <p:nvPicPr>
          <p:cNvPr id="23" name="Image 1" descr="/mnt/data/c6efd53f-c005-4d40-b6d5-65679c42efe1.png"/>
          <p:cNvPicPr>
            <a:picLocks noChangeAspect="1"/>
          </p:cNvPicPr>
          <p:nvPr/>
        </p:nvPicPr>
        <p:blipFill>
          <a:blip r:embed="rId4"/>
          <a:stretch>
            <a:fillRect/>
          </a:stretch>
        </p:blipFill>
        <p:spPr>
          <a:xfrm>
            <a:off x="768096" y="1973965"/>
            <a:ext cx="10698480" cy="3678165"/>
          </a:xfrm>
          <a:prstGeom prst="rect">
            <a:avLst/>
          </a:prstGeom>
        </p:spPr>
      </p:pic>
      <p:sp>
        <p:nvSpPr>
          <p:cNvPr id="24" name="Text 20"/>
          <p:cNvSpPr/>
          <p:nvPr/>
        </p:nvSpPr>
        <p:spPr>
          <a:xfrm>
            <a:off x="768096" y="5797296"/>
            <a:ext cx="10698480" cy="182880"/>
          </a:xfrm>
          <a:prstGeom prst="rect">
            <a:avLst/>
          </a:prstGeom>
          <a:noFill/>
          <a:ln/>
        </p:spPr>
        <p:txBody>
          <a:bodyPr wrap="square" lIns="127" tIns="127" rIns="127" bIns="127" rtlCol="0" anchor="t">
            <a:normAutofit/>
          </a:bodyPr>
          <a:lstStyle/>
          <a:p>
            <a:pPr marL="0" indent="0" algn="ctr">
              <a:buNone/>
            </a:pPr>
            <a:r>
              <a:rPr lang="en-US" sz="930" dirty="0">
                <a:solidFill>
                  <a:srgbClr val="173242"/>
                </a:solidFill>
                <a:latin typeface="Lato" pitchFamily="34" charset="0"/>
                <a:ea typeface="Lato" pitchFamily="34" charset="-122"/>
                <a:cs typeface="Lato" pitchFamily="34" charset="-120"/>
              </a:rPr>
              <a:t>Literature papers are grouped exactly like the Excel sheet: five studies per slide, showing authors, title, year, dataset, methodology and limitation.</a:t>
            </a:r>
            <a:endParaRPr lang="en-US" sz="93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E8"/>
        </a:solidFill>
        <a:effectLst/>
      </p:bgPr>
    </p:bg>
    <p:spTree>
      <p:nvGrpSpPr>
        <p:cNvPr id="1" name=""/>
        <p:cNvGrpSpPr/>
        <p:nvPr/>
      </p:nvGrpSpPr>
      <p:grpSpPr>
        <a:xfrm>
          <a:off x="0" y="0"/>
          <a:ext cx="0" cy="0"/>
          <a:chOff x="0" y="0"/>
          <a:chExt cx="0" cy="0"/>
        </a:xfrm>
      </p:grpSpPr>
      <p:sp>
        <p:nvSpPr>
          <p:cNvPr id="2" name="Shape 0"/>
          <p:cNvSpPr/>
          <p:nvPr/>
        </p:nvSpPr>
        <p:spPr>
          <a:xfrm>
            <a:off x="393192" y="91440"/>
            <a:ext cx="11411712" cy="0"/>
          </a:xfrm>
          <a:prstGeom prst="line">
            <a:avLst/>
          </a:prstGeom>
          <a:noFill/>
          <a:ln w="13970">
            <a:solidFill>
              <a:srgbClr val="CBD6BB"/>
            </a:solidFill>
            <a:prstDash val="solid"/>
          </a:ln>
        </p:spPr>
      </p:sp>
      <p:sp>
        <p:nvSpPr>
          <p:cNvPr id="3" name="Shape 1"/>
          <p:cNvSpPr/>
          <p:nvPr/>
        </p:nvSpPr>
        <p:spPr>
          <a:xfrm>
            <a:off x="393192" y="6601968"/>
            <a:ext cx="11411712" cy="0"/>
          </a:xfrm>
          <a:prstGeom prst="line">
            <a:avLst/>
          </a:prstGeom>
          <a:noFill/>
          <a:ln w="13970">
            <a:solidFill>
              <a:srgbClr val="CBD6BB"/>
            </a:solidFill>
            <a:prstDash val="solid"/>
          </a:ln>
        </p:spPr>
      </p:sp>
      <p:sp>
        <p:nvSpPr>
          <p:cNvPr id="4" name="Shape 2"/>
          <p:cNvSpPr/>
          <p:nvPr/>
        </p:nvSpPr>
        <p:spPr>
          <a:xfrm>
            <a:off x="393192" y="91440"/>
            <a:ext cx="0" cy="6510528"/>
          </a:xfrm>
          <a:prstGeom prst="line">
            <a:avLst/>
          </a:prstGeom>
          <a:noFill/>
          <a:ln w="13970">
            <a:solidFill>
              <a:srgbClr val="CBD6BB"/>
            </a:solidFill>
            <a:prstDash val="solid"/>
          </a:ln>
        </p:spPr>
      </p:sp>
      <p:sp>
        <p:nvSpPr>
          <p:cNvPr id="5" name="Shape 3"/>
          <p:cNvSpPr/>
          <p:nvPr/>
        </p:nvSpPr>
        <p:spPr>
          <a:xfrm>
            <a:off x="11804904" y="91440"/>
            <a:ext cx="0" cy="6510528"/>
          </a:xfrm>
          <a:prstGeom prst="line">
            <a:avLst/>
          </a:prstGeom>
          <a:noFill/>
          <a:ln w="13970">
            <a:solidFill>
              <a:srgbClr val="CBD6BB"/>
            </a:solidFill>
            <a:prstDash val="solid"/>
          </a:ln>
        </p:spPr>
      </p:sp>
      <p:sp>
        <p:nvSpPr>
          <p:cNvPr id="6" name="Shape 4"/>
          <p:cNvSpPr/>
          <p:nvPr/>
        </p:nvSpPr>
        <p:spPr>
          <a:xfrm>
            <a:off x="393192" y="749808"/>
            <a:ext cx="11411712" cy="0"/>
          </a:xfrm>
          <a:prstGeom prst="line">
            <a:avLst/>
          </a:prstGeom>
          <a:noFill/>
          <a:ln w="11430">
            <a:solidFill>
              <a:srgbClr val="173242"/>
            </a:solidFill>
            <a:prstDash val="solid"/>
          </a:ln>
        </p:spPr>
      </p:sp>
      <p:sp>
        <p:nvSpPr>
          <p:cNvPr id="7" name="Shape 5"/>
          <p:cNvSpPr/>
          <p:nvPr/>
        </p:nvSpPr>
        <p:spPr>
          <a:xfrm>
            <a:off x="393192" y="1060704"/>
            <a:ext cx="11411712" cy="0"/>
          </a:xfrm>
          <a:prstGeom prst="line">
            <a:avLst/>
          </a:prstGeom>
          <a:noFill/>
          <a:ln w="11430">
            <a:solidFill>
              <a:srgbClr val="173242"/>
            </a:solidFill>
            <a:prstDash val="solid"/>
          </a:ln>
        </p:spPr>
      </p:sp>
      <p:pic>
        <p:nvPicPr>
          <p:cNvPr id="8" name="Image 0" descr="/mnt/data/3b6ce1a3-ac36-48dc-a15a-81eb8802b178.png"/>
          <p:cNvPicPr>
            <a:picLocks noChangeAspect="1"/>
          </p:cNvPicPr>
          <p:nvPr/>
        </p:nvPicPr>
        <p:blipFill>
          <a:blip r:embed="rId3"/>
          <a:stretch>
            <a:fillRect/>
          </a:stretch>
        </p:blipFill>
        <p:spPr>
          <a:xfrm>
            <a:off x="655799" y="182880"/>
            <a:ext cx="1230433" cy="438912"/>
          </a:xfrm>
          <a:prstGeom prst="rect">
            <a:avLst/>
          </a:prstGeom>
        </p:spPr>
      </p:pic>
      <p:sp>
        <p:nvSpPr>
          <p:cNvPr id="9" name="Text 6"/>
          <p:cNvSpPr/>
          <p:nvPr/>
        </p:nvSpPr>
        <p:spPr>
          <a:xfrm>
            <a:off x="2029968" y="182880"/>
            <a:ext cx="6949440" cy="411480"/>
          </a:xfrm>
          <a:prstGeom prst="rect">
            <a:avLst/>
          </a:prstGeom>
          <a:noFill/>
          <a:ln/>
        </p:spPr>
        <p:txBody>
          <a:bodyPr wrap="square" lIns="254" tIns="254" rIns="254" bIns="254" rtlCol="0" anchor="ctr">
            <a:normAutofit/>
          </a:bodyPr>
          <a:lstStyle/>
          <a:p>
            <a:pPr marL="0" indent="0">
              <a:buNone/>
            </a:pPr>
            <a:r>
              <a:rPr lang="en-US" sz="2600" b="1" dirty="0">
                <a:solidFill>
                  <a:srgbClr val="173242"/>
                </a:solidFill>
                <a:latin typeface="Lato" pitchFamily="34" charset="0"/>
                <a:ea typeface="Lato" pitchFamily="34" charset="-122"/>
                <a:cs typeface="Lato" pitchFamily="34" charset="-120"/>
              </a:rPr>
              <a:t>EXPLORATORY DATA ANALYSIS</a:t>
            </a:r>
            <a:endParaRPr lang="en-US" sz="2600" dirty="0"/>
          </a:p>
        </p:txBody>
      </p:sp>
      <p:sp>
        <p:nvSpPr>
          <p:cNvPr id="10" name="Text 7"/>
          <p:cNvSpPr/>
          <p:nvPr/>
        </p:nvSpPr>
        <p:spPr>
          <a:xfrm>
            <a:off x="8549640" y="832104"/>
            <a:ext cx="2788920" cy="146304"/>
          </a:xfrm>
          <a:prstGeom prst="rect">
            <a:avLst/>
          </a:prstGeom>
          <a:noFill/>
          <a:ln/>
        </p:spPr>
        <p:txBody>
          <a:bodyPr wrap="square" lIns="127" tIns="127" rIns="127" bIns="127" rtlCol="0" anchor="ctr">
            <a:normAutofit/>
          </a:bodyPr>
          <a:lstStyle/>
          <a:p>
            <a:pPr marL="0" indent="0" algn="r">
              <a:buNone/>
            </a:pPr>
            <a:r>
              <a:rPr lang="en-US" sz="860" dirty="0">
                <a:solidFill>
                  <a:srgbClr val="173242"/>
                </a:solidFill>
                <a:latin typeface="Lato" pitchFamily="34" charset="0"/>
                <a:ea typeface="Lato" pitchFamily="34" charset="-122"/>
                <a:cs typeface="Lato" pitchFamily="34" charset="-120"/>
              </a:rPr>
              <a:t>ML PROJECT | CSE | SECTION 4</a:t>
            </a:r>
            <a:endParaRPr lang="en-US" sz="860" dirty="0"/>
          </a:p>
        </p:txBody>
      </p:sp>
      <p:sp>
        <p:nvSpPr>
          <p:cNvPr id="11" name="Shape 8"/>
          <p:cNvSpPr/>
          <p:nvPr/>
        </p:nvSpPr>
        <p:spPr>
          <a:xfrm>
            <a:off x="393192" y="5989320"/>
            <a:ext cx="11411712" cy="0"/>
          </a:xfrm>
          <a:prstGeom prst="line">
            <a:avLst/>
          </a:prstGeom>
          <a:noFill/>
          <a:ln w="11430">
            <a:solidFill>
              <a:srgbClr val="173242"/>
            </a:solidFill>
            <a:prstDash val="solid"/>
          </a:ln>
        </p:spPr>
      </p:sp>
      <p:sp>
        <p:nvSpPr>
          <p:cNvPr id="12" name="Shape 9"/>
          <p:cNvSpPr/>
          <p:nvPr/>
        </p:nvSpPr>
        <p:spPr>
          <a:xfrm>
            <a:off x="393192" y="6309360"/>
            <a:ext cx="11411712" cy="0"/>
          </a:xfrm>
          <a:prstGeom prst="line">
            <a:avLst/>
          </a:prstGeom>
          <a:noFill/>
          <a:ln w="11430">
            <a:solidFill>
              <a:srgbClr val="173242"/>
            </a:solidFill>
            <a:prstDash val="solid"/>
          </a:ln>
        </p:spPr>
      </p:sp>
      <p:sp>
        <p:nvSpPr>
          <p:cNvPr id="13" name="Text 10"/>
          <p:cNvSpPr/>
          <p:nvPr/>
        </p:nvSpPr>
        <p:spPr>
          <a:xfrm>
            <a:off x="713232" y="6108192"/>
            <a:ext cx="8138160" cy="146304"/>
          </a:xfrm>
          <a:prstGeom prst="rect">
            <a:avLst/>
          </a:prstGeom>
          <a:noFill/>
          <a:ln/>
        </p:spPr>
        <p:txBody>
          <a:bodyPr wrap="square" lIns="127" tIns="127" rIns="127" bIns="127" rtlCol="0" anchor="ctr">
            <a:normAutofit/>
          </a:bodyPr>
          <a:lstStyle/>
          <a:p>
            <a:pPr marL="0" indent="0">
              <a:buNone/>
            </a:pPr>
            <a:r>
              <a:rPr lang="en-US" sz="800" dirty="0">
                <a:solidFill>
                  <a:srgbClr val="173242"/>
                </a:solidFill>
                <a:latin typeface="Lato" pitchFamily="34" charset="0"/>
                <a:ea typeface="Lato" pitchFamily="34" charset="-122"/>
                <a:cs typeface="Lato" pitchFamily="34" charset="-120"/>
              </a:rPr>
              <a:t>SPAM EMAIL CLASSIFICATION USING NAIVE BAYES AND SUPPORT VECTOR MACHINE</a:t>
            </a:r>
            <a:endParaRPr lang="en-US" sz="800" dirty="0"/>
          </a:p>
        </p:txBody>
      </p:sp>
      <p:sp>
        <p:nvSpPr>
          <p:cNvPr id="14" name="Text 11"/>
          <p:cNvSpPr/>
          <p:nvPr/>
        </p:nvSpPr>
        <p:spPr>
          <a:xfrm>
            <a:off x="10058400" y="6108192"/>
            <a:ext cx="1298448" cy="146304"/>
          </a:xfrm>
          <a:prstGeom prst="rect">
            <a:avLst/>
          </a:prstGeom>
          <a:noFill/>
          <a:ln/>
        </p:spPr>
        <p:txBody>
          <a:bodyPr wrap="square" lIns="127" tIns="127" rIns="127" bIns="127" rtlCol="0" anchor="ctr"/>
          <a:lstStyle/>
          <a:p>
            <a:pPr marL="0" indent="0" algn="r">
              <a:buNone/>
            </a:pPr>
            <a:r>
              <a:rPr lang="en-US" sz="800" dirty="0">
                <a:solidFill>
                  <a:srgbClr val="173242"/>
                </a:solidFill>
                <a:latin typeface="Lato" pitchFamily="34" charset="0"/>
                <a:ea typeface="Lato" pitchFamily="34" charset="-122"/>
                <a:cs typeface="Lato" pitchFamily="34" charset="-120"/>
              </a:rPr>
              <a:t>A.Y. 2026–27</a:t>
            </a:r>
            <a:endParaRPr lang="en-US" sz="800" dirty="0"/>
          </a:p>
        </p:txBody>
      </p:sp>
      <p:sp>
        <p:nvSpPr>
          <p:cNvPr id="15" name="Text 12"/>
          <p:cNvSpPr/>
          <p:nvPr/>
        </p:nvSpPr>
        <p:spPr>
          <a:xfrm>
            <a:off x="822960" y="1353312"/>
            <a:ext cx="3840480" cy="987552"/>
          </a:xfrm>
          <a:prstGeom prst="rect">
            <a:avLst/>
          </a:prstGeom>
          <a:noFill/>
          <a:ln/>
        </p:spPr>
        <p:txBody>
          <a:bodyPr wrap="square" lIns="127" tIns="127" rIns="127" bIns="127" rtlCol="0" anchor="ctr">
            <a:normAutofit/>
          </a:bodyPr>
          <a:lstStyle/>
          <a:p>
            <a:pPr marL="0" indent="0" algn="l">
              <a:buNone/>
            </a:pPr>
            <a:r>
              <a:rPr lang="en-US" sz="3900" b="1" dirty="0">
                <a:solidFill>
                  <a:srgbClr val="173242"/>
                </a:solidFill>
                <a:latin typeface="Lato" pitchFamily="34" charset="0"/>
                <a:ea typeface="Lato" pitchFamily="34" charset="-122"/>
                <a:cs typeface="Lato" pitchFamily="34" charset="-120"/>
              </a:rPr>
              <a:t>DATASET</a:t>
            </a:r>
            <a:endParaRPr lang="en-US" sz="3900" dirty="0"/>
          </a:p>
          <a:p>
            <a:pPr marL="0" indent="0" algn="l">
              <a:buNone/>
            </a:pPr>
            <a:r>
              <a:rPr lang="en-US" sz="3900" b="1" dirty="0">
                <a:solidFill>
                  <a:srgbClr val="173242"/>
                </a:solidFill>
                <a:latin typeface="Lato" pitchFamily="34" charset="0"/>
                <a:ea typeface="Lato" pitchFamily="34" charset="-122"/>
                <a:cs typeface="Lato" pitchFamily="34" charset="-120"/>
              </a:rPr>
              <a:t>OVERVIEW</a:t>
            </a:r>
            <a:endParaRPr lang="en-US" sz="3900" dirty="0"/>
          </a:p>
        </p:txBody>
      </p:sp>
      <p:sp>
        <p:nvSpPr>
          <p:cNvPr id="16" name="Text 13"/>
          <p:cNvSpPr/>
          <p:nvPr/>
        </p:nvSpPr>
        <p:spPr>
          <a:xfrm>
            <a:off x="859536" y="2743200"/>
            <a:ext cx="2788920" cy="438912"/>
          </a:xfrm>
          <a:prstGeom prst="rect">
            <a:avLst/>
          </a:prstGeom>
          <a:solidFill>
            <a:srgbClr val="173242"/>
          </a:solidFill>
          <a:ln w="8890">
            <a:solidFill>
              <a:srgbClr val="879587"/>
            </a:solidFill>
          </a:ln>
        </p:spPr>
        <p:txBody>
          <a:bodyPr wrap="square" lIns="762" tIns="762" rIns="762" bIns="762" rtlCol="0" anchor="ctr">
            <a:normAutofit/>
          </a:bodyPr>
          <a:lstStyle/>
          <a:p>
            <a:pPr marL="0" indent="0" algn="ctr">
              <a:buNone/>
            </a:pPr>
            <a:r>
              <a:rPr lang="en-US" sz="1200" b="1" dirty="0">
                <a:solidFill>
                  <a:srgbClr val="FFFFFF"/>
                </a:solidFill>
                <a:latin typeface="Lato" pitchFamily="34" charset="0"/>
                <a:ea typeface="Lato" pitchFamily="34" charset="-122"/>
                <a:cs typeface="Lato" pitchFamily="34" charset="-120"/>
              </a:rPr>
              <a:t>PROPERTY</a:t>
            </a:r>
            <a:endParaRPr lang="en-US" sz="1200" dirty="0"/>
          </a:p>
        </p:txBody>
      </p:sp>
      <p:sp>
        <p:nvSpPr>
          <p:cNvPr id="17" name="Text 14"/>
          <p:cNvSpPr/>
          <p:nvPr/>
        </p:nvSpPr>
        <p:spPr>
          <a:xfrm>
            <a:off x="3648456" y="2743200"/>
            <a:ext cx="1920240" cy="438912"/>
          </a:xfrm>
          <a:prstGeom prst="rect">
            <a:avLst/>
          </a:prstGeom>
          <a:solidFill>
            <a:srgbClr val="173242"/>
          </a:solidFill>
          <a:ln w="8890">
            <a:solidFill>
              <a:srgbClr val="879587"/>
            </a:solidFill>
          </a:ln>
        </p:spPr>
        <p:txBody>
          <a:bodyPr wrap="square" lIns="762" tIns="762" rIns="762" bIns="762" rtlCol="0" anchor="ctr">
            <a:normAutofit/>
          </a:bodyPr>
          <a:lstStyle/>
          <a:p>
            <a:pPr marL="0" indent="0" algn="ctr">
              <a:buNone/>
            </a:pPr>
            <a:r>
              <a:rPr lang="en-US" sz="1200" b="1" dirty="0">
                <a:solidFill>
                  <a:srgbClr val="FFFFFF"/>
                </a:solidFill>
                <a:latin typeface="Lato" pitchFamily="34" charset="0"/>
                <a:ea typeface="Lato" pitchFamily="34" charset="-122"/>
                <a:cs typeface="Lato" pitchFamily="34" charset="-120"/>
              </a:rPr>
              <a:t>VALUE</a:t>
            </a:r>
            <a:endParaRPr lang="en-US" sz="1200" dirty="0"/>
          </a:p>
        </p:txBody>
      </p:sp>
      <p:sp>
        <p:nvSpPr>
          <p:cNvPr id="18" name="Text 15"/>
          <p:cNvSpPr/>
          <p:nvPr/>
        </p:nvSpPr>
        <p:spPr>
          <a:xfrm>
            <a:off x="859536" y="3182112"/>
            <a:ext cx="2788920" cy="438912"/>
          </a:xfrm>
          <a:prstGeom prst="rect">
            <a:avLst/>
          </a:prstGeom>
          <a:solidFill>
            <a:srgbClr val="FAFCF0"/>
          </a:solidFill>
          <a:ln w="8890">
            <a:solidFill>
              <a:srgbClr val="879587"/>
            </a:solidFill>
          </a:ln>
        </p:spPr>
        <p:txBody>
          <a:bodyPr wrap="square" lIns="762" tIns="762" rIns="762" bIns="762" rtlCol="0" anchor="ctr">
            <a:normAutofit/>
          </a:bodyPr>
          <a:lstStyle/>
          <a:p>
            <a:pPr marL="0" indent="0" algn="l">
              <a:buNone/>
            </a:pPr>
            <a:r>
              <a:rPr lang="en-US" sz="1240" b="1" dirty="0">
                <a:solidFill>
                  <a:srgbClr val="173242"/>
                </a:solidFill>
                <a:latin typeface="Lato" pitchFamily="34" charset="0"/>
                <a:ea typeface="Lato" pitchFamily="34" charset="-122"/>
                <a:cs typeface="Lato" pitchFamily="34" charset="-120"/>
              </a:rPr>
              <a:t>Raw shape</a:t>
            </a:r>
            <a:endParaRPr lang="en-US" sz="1240" dirty="0"/>
          </a:p>
        </p:txBody>
      </p:sp>
      <p:sp>
        <p:nvSpPr>
          <p:cNvPr id="19" name="Text 16"/>
          <p:cNvSpPr/>
          <p:nvPr/>
        </p:nvSpPr>
        <p:spPr>
          <a:xfrm>
            <a:off x="3648456" y="3182112"/>
            <a:ext cx="1920240" cy="438912"/>
          </a:xfrm>
          <a:prstGeom prst="rect">
            <a:avLst/>
          </a:prstGeom>
          <a:solidFill>
            <a:srgbClr val="FAFCF0"/>
          </a:solidFill>
          <a:ln w="8890">
            <a:solidFill>
              <a:srgbClr val="879587"/>
            </a:solidFill>
          </a:ln>
        </p:spPr>
        <p:txBody>
          <a:bodyPr wrap="square" lIns="762" tIns="762" rIns="762" bIns="762" rtlCol="0" anchor="ctr">
            <a:normAutofit/>
          </a:bodyPr>
          <a:lstStyle/>
          <a:p>
            <a:pPr marL="0" indent="0" algn="ctr">
              <a:buNone/>
            </a:pPr>
            <a:r>
              <a:rPr lang="en-US" sz="1240" b="1" dirty="0">
                <a:solidFill>
                  <a:srgbClr val="173242"/>
                </a:solidFill>
                <a:latin typeface="Lato" pitchFamily="34" charset="0"/>
                <a:ea typeface="Lato" pitchFamily="34" charset="-122"/>
                <a:cs typeface="Lato" pitchFamily="34" charset="-120"/>
              </a:rPr>
              <a:t>5,572 × 5</a:t>
            </a:r>
            <a:endParaRPr lang="en-US" sz="1240" dirty="0"/>
          </a:p>
        </p:txBody>
      </p:sp>
      <p:sp>
        <p:nvSpPr>
          <p:cNvPr id="20" name="Text 17"/>
          <p:cNvSpPr/>
          <p:nvPr/>
        </p:nvSpPr>
        <p:spPr>
          <a:xfrm>
            <a:off x="859536" y="3621024"/>
            <a:ext cx="2788920" cy="438912"/>
          </a:xfrm>
          <a:prstGeom prst="rect">
            <a:avLst/>
          </a:prstGeom>
          <a:solidFill>
            <a:srgbClr val="E8F0D6"/>
          </a:solidFill>
          <a:ln w="8890">
            <a:solidFill>
              <a:srgbClr val="879587"/>
            </a:solidFill>
          </a:ln>
        </p:spPr>
        <p:txBody>
          <a:bodyPr wrap="square" lIns="762" tIns="762" rIns="762" bIns="762" rtlCol="0" anchor="ctr">
            <a:normAutofit/>
          </a:bodyPr>
          <a:lstStyle/>
          <a:p>
            <a:pPr marL="0" indent="0" algn="l">
              <a:buNone/>
            </a:pPr>
            <a:r>
              <a:rPr lang="en-US" sz="1240" b="1" dirty="0">
                <a:solidFill>
                  <a:srgbClr val="173242"/>
                </a:solidFill>
                <a:latin typeface="Lato" pitchFamily="34" charset="0"/>
                <a:ea typeface="Lato" pitchFamily="34" charset="-122"/>
                <a:cs typeface="Lato" pitchFamily="34" charset="-120"/>
              </a:rPr>
              <a:t>Useful columns</a:t>
            </a:r>
            <a:endParaRPr lang="en-US" sz="1240" dirty="0"/>
          </a:p>
        </p:txBody>
      </p:sp>
      <p:sp>
        <p:nvSpPr>
          <p:cNvPr id="21" name="Text 18"/>
          <p:cNvSpPr/>
          <p:nvPr/>
        </p:nvSpPr>
        <p:spPr>
          <a:xfrm>
            <a:off x="3648456" y="3621024"/>
            <a:ext cx="1920240" cy="438912"/>
          </a:xfrm>
          <a:prstGeom prst="rect">
            <a:avLst/>
          </a:prstGeom>
          <a:solidFill>
            <a:srgbClr val="E8F0D6"/>
          </a:solidFill>
          <a:ln w="8890">
            <a:solidFill>
              <a:srgbClr val="879587"/>
            </a:solidFill>
          </a:ln>
        </p:spPr>
        <p:txBody>
          <a:bodyPr wrap="square" lIns="762" tIns="762" rIns="762" bIns="762" rtlCol="0" anchor="ctr">
            <a:normAutofit/>
          </a:bodyPr>
          <a:lstStyle/>
          <a:p>
            <a:pPr marL="0" indent="0" algn="ctr">
              <a:buNone/>
            </a:pPr>
            <a:r>
              <a:rPr lang="en-US" sz="1240" b="1" dirty="0">
                <a:solidFill>
                  <a:srgbClr val="173242"/>
                </a:solidFill>
                <a:latin typeface="Lato" pitchFamily="34" charset="0"/>
                <a:ea typeface="Lato" pitchFamily="34" charset="-122"/>
                <a:cs typeface="Lato" pitchFamily="34" charset="-120"/>
              </a:rPr>
              <a:t>v1, v2</a:t>
            </a:r>
            <a:endParaRPr lang="en-US" sz="1240" dirty="0"/>
          </a:p>
        </p:txBody>
      </p:sp>
      <p:sp>
        <p:nvSpPr>
          <p:cNvPr id="22" name="Text 19"/>
          <p:cNvSpPr/>
          <p:nvPr/>
        </p:nvSpPr>
        <p:spPr>
          <a:xfrm>
            <a:off x="859536" y="4059936"/>
            <a:ext cx="2788920" cy="438912"/>
          </a:xfrm>
          <a:prstGeom prst="rect">
            <a:avLst/>
          </a:prstGeom>
          <a:solidFill>
            <a:srgbClr val="FAFCF0"/>
          </a:solidFill>
          <a:ln w="8890">
            <a:solidFill>
              <a:srgbClr val="879587"/>
            </a:solidFill>
          </a:ln>
        </p:spPr>
        <p:txBody>
          <a:bodyPr wrap="square" lIns="762" tIns="762" rIns="762" bIns="762" rtlCol="0" anchor="ctr">
            <a:normAutofit/>
          </a:bodyPr>
          <a:lstStyle/>
          <a:p>
            <a:pPr marL="0" indent="0" algn="l">
              <a:buNone/>
            </a:pPr>
            <a:r>
              <a:rPr lang="en-US" sz="1240" b="1" dirty="0">
                <a:solidFill>
                  <a:srgbClr val="173242"/>
                </a:solidFill>
                <a:latin typeface="Lato" pitchFamily="34" charset="0"/>
                <a:ea typeface="Lato" pitchFamily="34" charset="-122"/>
                <a:cs typeface="Lato" pitchFamily="34" charset="-120"/>
              </a:rPr>
              <a:t>Target</a:t>
            </a:r>
            <a:endParaRPr lang="en-US" sz="1240" dirty="0"/>
          </a:p>
        </p:txBody>
      </p:sp>
      <p:sp>
        <p:nvSpPr>
          <p:cNvPr id="23" name="Text 20"/>
          <p:cNvSpPr/>
          <p:nvPr/>
        </p:nvSpPr>
        <p:spPr>
          <a:xfrm>
            <a:off x="3648456" y="4059936"/>
            <a:ext cx="1920240" cy="438912"/>
          </a:xfrm>
          <a:prstGeom prst="rect">
            <a:avLst/>
          </a:prstGeom>
          <a:solidFill>
            <a:srgbClr val="FAFCF0"/>
          </a:solidFill>
          <a:ln w="8890">
            <a:solidFill>
              <a:srgbClr val="879587"/>
            </a:solidFill>
          </a:ln>
        </p:spPr>
        <p:txBody>
          <a:bodyPr wrap="square" lIns="762" tIns="762" rIns="762" bIns="762" rtlCol="0" anchor="ctr">
            <a:normAutofit/>
          </a:bodyPr>
          <a:lstStyle/>
          <a:p>
            <a:pPr marL="0" indent="0" algn="ctr">
              <a:buNone/>
            </a:pPr>
            <a:r>
              <a:rPr lang="en-US" sz="1240" b="1" dirty="0">
                <a:solidFill>
                  <a:srgbClr val="173242"/>
                </a:solidFill>
                <a:latin typeface="Lato" pitchFamily="34" charset="0"/>
                <a:ea typeface="Lato" pitchFamily="34" charset="-122"/>
                <a:cs typeface="Lato" pitchFamily="34" charset="-120"/>
              </a:rPr>
              <a:t>ham / spam</a:t>
            </a:r>
            <a:endParaRPr lang="en-US" sz="1240" dirty="0"/>
          </a:p>
        </p:txBody>
      </p:sp>
      <p:sp>
        <p:nvSpPr>
          <p:cNvPr id="24" name="Text 21"/>
          <p:cNvSpPr/>
          <p:nvPr/>
        </p:nvSpPr>
        <p:spPr>
          <a:xfrm>
            <a:off x="859536" y="4498848"/>
            <a:ext cx="2788920" cy="438912"/>
          </a:xfrm>
          <a:prstGeom prst="rect">
            <a:avLst/>
          </a:prstGeom>
          <a:solidFill>
            <a:srgbClr val="E8F0D6"/>
          </a:solidFill>
          <a:ln w="8890">
            <a:solidFill>
              <a:srgbClr val="879587"/>
            </a:solidFill>
          </a:ln>
        </p:spPr>
        <p:txBody>
          <a:bodyPr wrap="square" lIns="762" tIns="762" rIns="762" bIns="762" rtlCol="0" anchor="ctr">
            <a:normAutofit/>
          </a:bodyPr>
          <a:lstStyle/>
          <a:p>
            <a:pPr marL="0" indent="0" algn="l">
              <a:buNone/>
            </a:pPr>
            <a:r>
              <a:rPr lang="en-US" sz="1240" b="1" dirty="0">
                <a:solidFill>
                  <a:srgbClr val="173242"/>
                </a:solidFill>
                <a:latin typeface="Lato" pitchFamily="34" charset="0"/>
                <a:ea typeface="Lato" pitchFamily="34" charset="-122"/>
                <a:cs typeface="Lato" pitchFamily="34" charset="-120"/>
              </a:rPr>
              <a:t>Duplicates</a:t>
            </a:r>
            <a:endParaRPr lang="en-US" sz="1240" dirty="0"/>
          </a:p>
        </p:txBody>
      </p:sp>
      <p:sp>
        <p:nvSpPr>
          <p:cNvPr id="25" name="Text 22"/>
          <p:cNvSpPr/>
          <p:nvPr/>
        </p:nvSpPr>
        <p:spPr>
          <a:xfrm>
            <a:off x="3648456" y="4498848"/>
            <a:ext cx="1920240" cy="438912"/>
          </a:xfrm>
          <a:prstGeom prst="rect">
            <a:avLst/>
          </a:prstGeom>
          <a:solidFill>
            <a:srgbClr val="E8F0D6"/>
          </a:solidFill>
          <a:ln w="8890">
            <a:solidFill>
              <a:srgbClr val="879587"/>
            </a:solidFill>
          </a:ln>
        </p:spPr>
        <p:txBody>
          <a:bodyPr wrap="square" lIns="762" tIns="762" rIns="762" bIns="762" rtlCol="0" anchor="ctr">
            <a:normAutofit/>
          </a:bodyPr>
          <a:lstStyle/>
          <a:p>
            <a:pPr marL="0" indent="0" algn="ctr">
              <a:buNone/>
            </a:pPr>
            <a:r>
              <a:rPr lang="en-US" sz="1240" b="1" dirty="0">
                <a:solidFill>
                  <a:srgbClr val="173242"/>
                </a:solidFill>
                <a:latin typeface="Lato" pitchFamily="34" charset="0"/>
                <a:ea typeface="Lato" pitchFamily="34" charset="-122"/>
                <a:cs typeface="Lato" pitchFamily="34" charset="-120"/>
              </a:rPr>
              <a:t>403</a:t>
            </a:r>
            <a:endParaRPr lang="en-US" sz="1240" dirty="0"/>
          </a:p>
        </p:txBody>
      </p:sp>
      <p:sp>
        <p:nvSpPr>
          <p:cNvPr id="26" name="Text 23"/>
          <p:cNvSpPr/>
          <p:nvPr/>
        </p:nvSpPr>
        <p:spPr>
          <a:xfrm>
            <a:off x="859536" y="4937760"/>
            <a:ext cx="2788920" cy="438912"/>
          </a:xfrm>
          <a:prstGeom prst="rect">
            <a:avLst/>
          </a:prstGeom>
          <a:solidFill>
            <a:srgbClr val="FAFCF0"/>
          </a:solidFill>
          <a:ln w="8890">
            <a:solidFill>
              <a:srgbClr val="879587"/>
            </a:solidFill>
          </a:ln>
        </p:spPr>
        <p:txBody>
          <a:bodyPr wrap="square" lIns="762" tIns="762" rIns="762" bIns="762" rtlCol="0" anchor="ctr">
            <a:normAutofit/>
          </a:bodyPr>
          <a:lstStyle/>
          <a:p>
            <a:pPr marL="0" indent="0" algn="l">
              <a:buNone/>
            </a:pPr>
            <a:r>
              <a:rPr lang="en-US" sz="1240" b="1" dirty="0">
                <a:solidFill>
                  <a:srgbClr val="173242"/>
                </a:solidFill>
                <a:latin typeface="Lato" pitchFamily="34" charset="0"/>
                <a:ea typeface="Lato" pitchFamily="34" charset="-122"/>
                <a:cs typeface="Lato" pitchFamily="34" charset="-120"/>
              </a:rPr>
              <a:t>Clean rows</a:t>
            </a:r>
            <a:endParaRPr lang="en-US" sz="1240" dirty="0"/>
          </a:p>
        </p:txBody>
      </p:sp>
      <p:sp>
        <p:nvSpPr>
          <p:cNvPr id="27" name="Text 24"/>
          <p:cNvSpPr/>
          <p:nvPr/>
        </p:nvSpPr>
        <p:spPr>
          <a:xfrm>
            <a:off x="3648456" y="4937760"/>
            <a:ext cx="1920240" cy="438912"/>
          </a:xfrm>
          <a:prstGeom prst="rect">
            <a:avLst/>
          </a:prstGeom>
          <a:solidFill>
            <a:srgbClr val="FAFCF0"/>
          </a:solidFill>
          <a:ln w="8890">
            <a:solidFill>
              <a:srgbClr val="879587"/>
            </a:solidFill>
          </a:ln>
        </p:spPr>
        <p:txBody>
          <a:bodyPr wrap="square" lIns="762" tIns="762" rIns="762" bIns="762" rtlCol="0" anchor="ctr">
            <a:normAutofit/>
          </a:bodyPr>
          <a:lstStyle/>
          <a:p>
            <a:pPr marL="0" indent="0" algn="ctr">
              <a:buNone/>
            </a:pPr>
            <a:r>
              <a:rPr lang="en-US" sz="1240" b="1" dirty="0">
                <a:solidFill>
                  <a:srgbClr val="173242"/>
                </a:solidFill>
                <a:latin typeface="Lato" pitchFamily="34" charset="0"/>
                <a:ea typeface="Lato" pitchFamily="34" charset="-122"/>
                <a:cs typeface="Lato" pitchFamily="34" charset="-120"/>
              </a:rPr>
              <a:t>5,169</a:t>
            </a:r>
            <a:endParaRPr lang="en-US" sz="1240" dirty="0"/>
          </a:p>
        </p:txBody>
      </p:sp>
      <p:sp>
        <p:nvSpPr>
          <p:cNvPr id="28" name="Text 25"/>
          <p:cNvSpPr/>
          <p:nvPr/>
        </p:nvSpPr>
        <p:spPr>
          <a:xfrm>
            <a:off x="6382512" y="1353312"/>
            <a:ext cx="4297680" cy="987552"/>
          </a:xfrm>
          <a:prstGeom prst="rect">
            <a:avLst/>
          </a:prstGeom>
          <a:noFill/>
          <a:ln/>
        </p:spPr>
        <p:txBody>
          <a:bodyPr wrap="square" lIns="127" tIns="127" rIns="127" bIns="127" rtlCol="0" anchor="ctr">
            <a:normAutofit/>
          </a:bodyPr>
          <a:lstStyle/>
          <a:p>
            <a:pPr marL="0" indent="0" algn="l">
              <a:buNone/>
            </a:pPr>
            <a:r>
              <a:rPr lang="en-US" sz="3900" b="1" dirty="0">
                <a:solidFill>
                  <a:srgbClr val="173242"/>
                </a:solidFill>
                <a:latin typeface="Lato" pitchFamily="34" charset="0"/>
                <a:ea typeface="Lato" pitchFamily="34" charset="-122"/>
                <a:cs typeface="Lato" pitchFamily="34" charset="-120"/>
              </a:rPr>
              <a:t>CLEANING</a:t>
            </a:r>
            <a:endParaRPr lang="en-US" sz="3900" dirty="0"/>
          </a:p>
          <a:p>
            <a:pPr marL="0" indent="0" algn="l">
              <a:buNone/>
            </a:pPr>
            <a:r>
              <a:rPr lang="en-US" sz="3900" b="1" dirty="0">
                <a:solidFill>
                  <a:srgbClr val="173242"/>
                </a:solidFill>
                <a:latin typeface="Lato" pitchFamily="34" charset="0"/>
                <a:ea typeface="Lato" pitchFamily="34" charset="-122"/>
                <a:cs typeface="Lato" pitchFamily="34" charset="-120"/>
              </a:rPr>
              <a:t>PROCESS</a:t>
            </a:r>
            <a:endParaRPr lang="en-US" sz="3900" dirty="0"/>
          </a:p>
        </p:txBody>
      </p:sp>
      <p:sp>
        <p:nvSpPr>
          <p:cNvPr id="29" name="Text 26"/>
          <p:cNvSpPr/>
          <p:nvPr/>
        </p:nvSpPr>
        <p:spPr>
          <a:xfrm>
            <a:off x="6382512" y="2697480"/>
            <a:ext cx="4828032" cy="2359152"/>
          </a:xfrm>
          <a:prstGeom prst="rect">
            <a:avLst/>
          </a:prstGeom>
          <a:noFill/>
          <a:ln/>
        </p:spPr>
        <p:txBody>
          <a:bodyPr wrap="square" lIns="635" tIns="635" rIns="635" bIns="635" rtlCol="0" anchor="ctr">
            <a:normAutofit/>
          </a:bodyPr>
          <a:lstStyle/>
          <a:p>
            <a:pPr marL="203200" indent="-203200">
              <a:buSzPct val="100000"/>
              <a:buChar char="•"/>
            </a:pPr>
            <a:r>
              <a:rPr lang="en-US" sz="1560" dirty="0">
                <a:solidFill>
                  <a:srgbClr val="173242"/>
                </a:solidFill>
                <a:latin typeface="Lato" pitchFamily="34" charset="0"/>
                <a:ea typeface="Lato" pitchFamily="34" charset="-122"/>
                <a:cs typeface="Lato" pitchFamily="34" charset="-120"/>
              </a:rPr>
              <a:t>Keep only label and message text columns.</a:t>
            </a:r>
            <a:endParaRPr lang="en-US" sz="1560" dirty="0"/>
          </a:p>
          <a:p>
            <a:pPr marL="203200" indent="-203200">
              <a:buSzPct val="100000"/>
              <a:buChar char="•"/>
            </a:pPr>
            <a:r>
              <a:rPr lang="en-US" sz="1560" dirty="0">
                <a:solidFill>
                  <a:srgbClr val="173242"/>
                </a:solidFill>
                <a:latin typeface="Lato" pitchFamily="34" charset="0"/>
                <a:ea typeface="Lato" pitchFamily="34" charset="-122"/>
                <a:cs typeface="Lato" pitchFamily="34" charset="-120"/>
              </a:rPr>
              <a:t>Rename v1 to label and v2 to message.</a:t>
            </a:r>
            <a:endParaRPr lang="en-US" sz="1560" dirty="0"/>
          </a:p>
          <a:p>
            <a:pPr marL="203200" indent="-203200">
              <a:buSzPct val="100000"/>
              <a:buChar char="•"/>
            </a:pPr>
            <a:r>
              <a:rPr lang="en-US" sz="1560" dirty="0">
                <a:solidFill>
                  <a:srgbClr val="173242"/>
                </a:solidFill>
                <a:latin typeface="Lato" pitchFamily="34" charset="0"/>
                <a:ea typeface="Lato" pitchFamily="34" charset="-122"/>
                <a:cs typeface="Lato" pitchFamily="34" charset="-120"/>
              </a:rPr>
              <a:t>Remove empty unnamed columns and duplicate rows.</a:t>
            </a:r>
            <a:endParaRPr lang="en-US" sz="1560" dirty="0"/>
          </a:p>
          <a:p>
            <a:pPr marL="203200" indent="-203200">
              <a:buSzPct val="100000"/>
              <a:buChar char="•"/>
            </a:pPr>
            <a:r>
              <a:rPr lang="en-US" sz="1560" dirty="0">
                <a:solidFill>
                  <a:srgbClr val="173242"/>
                </a:solidFill>
                <a:latin typeface="Lato" pitchFamily="34" charset="0"/>
                <a:ea typeface="Lato" pitchFamily="34" charset="-122"/>
                <a:cs typeface="Lato" pitchFamily="34" charset="-120"/>
              </a:rPr>
              <a:t>Create length, word, digit, uppercase and punctuation features.</a:t>
            </a:r>
            <a:endParaRPr lang="en-US" sz="1560" dirty="0"/>
          </a:p>
          <a:p>
            <a:pPr marL="203200" indent="-203200">
              <a:buSzPct val="100000"/>
              <a:buChar char="•"/>
            </a:pPr>
            <a:r>
              <a:rPr lang="en-US" sz="1560" dirty="0">
                <a:solidFill>
                  <a:srgbClr val="173242"/>
                </a:solidFill>
                <a:latin typeface="Lato" pitchFamily="34" charset="0"/>
                <a:ea typeface="Lato" pitchFamily="34" charset="-122"/>
                <a:cs typeface="Lato" pitchFamily="34" charset="-120"/>
              </a:rPr>
              <a:t>Prepare the dataset for vectorized classification.</a:t>
            </a:r>
            <a:endParaRPr lang="en-US" sz="1560" dirty="0"/>
          </a:p>
        </p:txBody>
      </p:sp>
      <p:sp>
        <p:nvSpPr>
          <p:cNvPr id="30" name="Text 27"/>
          <p:cNvSpPr/>
          <p:nvPr/>
        </p:nvSpPr>
        <p:spPr>
          <a:xfrm>
            <a:off x="868680" y="5431536"/>
            <a:ext cx="10351008" cy="365760"/>
          </a:xfrm>
          <a:prstGeom prst="rect">
            <a:avLst/>
          </a:prstGeom>
          <a:solidFill>
            <a:srgbClr val="EEF4DD"/>
          </a:solidFill>
          <a:ln w="12700">
            <a:solidFill>
              <a:srgbClr val="C7B46A"/>
            </a:solidFill>
          </a:ln>
        </p:spPr>
        <p:txBody>
          <a:bodyPr wrap="square" lIns="1524" tIns="1524" rIns="1524" bIns="1524" rtlCol="0" anchor="ctr">
            <a:normAutofit/>
          </a:bodyPr>
          <a:lstStyle/>
          <a:p>
            <a:pPr marL="0" indent="0" algn="ctr">
              <a:buNone/>
            </a:pPr>
            <a:r>
              <a:rPr lang="en-US" sz="1290" dirty="0">
                <a:solidFill>
                  <a:srgbClr val="173242"/>
                </a:solidFill>
                <a:latin typeface="Lato" pitchFamily="34" charset="0"/>
                <a:ea typeface="Lato" pitchFamily="34" charset="-122"/>
                <a:cs typeface="Lato" pitchFamily="34" charset="-120"/>
              </a:rPr>
              <a:t>EDA confirms that the dataset is suitable for a text-classification pipeline and reveals the class imbalance that must be considered during evaluation.</a:t>
            </a:r>
            <a:endParaRPr lang="en-US" sz="129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E8"/>
        </a:solidFill>
        <a:effectLst/>
      </p:bgPr>
    </p:bg>
    <p:spTree>
      <p:nvGrpSpPr>
        <p:cNvPr id="1" name=""/>
        <p:cNvGrpSpPr/>
        <p:nvPr/>
      </p:nvGrpSpPr>
      <p:grpSpPr>
        <a:xfrm>
          <a:off x="0" y="0"/>
          <a:ext cx="0" cy="0"/>
          <a:chOff x="0" y="0"/>
          <a:chExt cx="0" cy="0"/>
        </a:xfrm>
      </p:grpSpPr>
      <p:sp>
        <p:nvSpPr>
          <p:cNvPr id="2" name="Shape 0"/>
          <p:cNvSpPr/>
          <p:nvPr/>
        </p:nvSpPr>
        <p:spPr>
          <a:xfrm>
            <a:off x="393192" y="91440"/>
            <a:ext cx="11411712" cy="0"/>
          </a:xfrm>
          <a:prstGeom prst="line">
            <a:avLst/>
          </a:prstGeom>
          <a:noFill/>
          <a:ln w="13970">
            <a:solidFill>
              <a:srgbClr val="CBD6BB"/>
            </a:solidFill>
            <a:prstDash val="solid"/>
          </a:ln>
        </p:spPr>
      </p:sp>
      <p:sp>
        <p:nvSpPr>
          <p:cNvPr id="3" name="Shape 1"/>
          <p:cNvSpPr/>
          <p:nvPr/>
        </p:nvSpPr>
        <p:spPr>
          <a:xfrm>
            <a:off x="393192" y="6601968"/>
            <a:ext cx="11411712" cy="0"/>
          </a:xfrm>
          <a:prstGeom prst="line">
            <a:avLst/>
          </a:prstGeom>
          <a:noFill/>
          <a:ln w="13970">
            <a:solidFill>
              <a:srgbClr val="CBD6BB"/>
            </a:solidFill>
            <a:prstDash val="solid"/>
          </a:ln>
        </p:spPr>
      </p:sp>
      <p:sp>
        <p:nvSpPr>
          <p:cNvPr id="4" name="Shape 2"/>
          <p:cNvSpPr/>
          <p:nvPr/>
        </p:nvSpPr>
        <p:spPr>
          <a:xfrm>
            <a:off x="393192" y="91440"/>
            <a:ext cx="0" cy="6510528"/>
          </a:xfrm>
          <a:prstGeom prst="line">
            <a:avLst/>
          </a:prstGeom>
          <a:noFill/>
          <a:ln w="13970">
            <a:solidFill>
              <a:srgbClr val="CBD6BB"/>
            </a:solidFill>
            <a:prstDash val="solid"/>
          </a:ln>
        </p:spPr>
      </p:sp>
      <p:sp>
        <p:nvSpPr>
          <p:cNvPr id="5" name="Shape 3"/>
          <p:cNvSpPr/>
          <p:nvPr/>
        </p:nvSpPr>
        <p:spPr>
          <a:xfrm>
            <a:off x="11804904" y="91440"/>
            <a:ext cx="0" cy="6510528"/>
          </a:xfrm>
          <a:prstGeom prst="line">
            <a:avLst/>
          </a:prstGeom>
          <a:noFill/>
          <a:ln w="13970">
            <a:solidFill>
              <a:srgbClr val="CBD6BB"/>
            </a:solidFill>
            <a:prstDash val="solid"/>
          </a:ln>
        </p:spPr>
      </p:sp>
      <p:sp>
        <p:nvSpPr>
          <p:cNvPr id="6" name="Shape 4"/>
          <p:cNvSpPr/>
          <p:nvPr/>
        </p:nvSpPr>
        <p:spPr>
          <a:xfrm>
            <a:off x="393192" y="749808"/>
            <a:ext cx="11411712" cy="0"/>
          </a:xfrm>
          <a:prstGeom prst="line">
            <a:avLst/>
          </a:prstGeom>
          <a:noFill/>
          <a:ln w="11430">
            <a:solidFill>
              <a:srgbClr val="173242"/>
            </a:solidFill>
            <a:prstDash val="solid"/>
          </a:ln>
        </p:spPr>
      </p:sp>
      <p:sp>
        <p:nvSpPr>
          <p:cNvPr id="7" name="Shape 5"/>
          <p:cNvSpPr/>
          <p:nvPr/>
        </p:nvSpPr>
        <p:spPr>
          <a:xfrm>
            <a:off x="393192" y="1060704"/>
            <a:ext cx="11411712" cy="0"/>
          </a:xfrm>
          <a:prstGeom prst="line">
            <a:avLst/>
          </a:prstGeom>
          <a:noFill/>
          <a:ln w="11430">
            <a:solidFill>
              <a:srgbClr val="173242"/>
            </a:solidFill>
            <a:prstDash val="solid"/>
          </a:ln>
        </p:spPr>
      </p:sp>
      <p:pic>
        <p:nvPicPr>
          <p:cNvPr id="8" name="Image 0" descr="/mnt/data/3b6ce1a3-ac36-48dc-a15a-81eb8802b178.png"/>
          <p:cNvPicPr>
            <a:picLocks noChangeAspect="1"/>
          </p:cNvPicPr>
          <p:nvPr/>
        </p:nvPicPr>
        <p:blipFill>
          <a:blip r:embed="rId3"/>
          <a:stretch>
            <a:fillRect/>
          </a:stretch>
        </p:blipFill>
        <p:spPr>
          <a:xfrm>
            <a:off x="655799" y="182880"/>
            <a:ext cx="1230433" cy="438912"/>
          </a:xfrm>
          <a:prstGeom prst="rect">
            <a:avLst/>
          </a:prstGeom>
        </p:spPr>
      </p:pic>
      <p:sp>
        <p:nvSpPr>
          <p:cNvPr id="9" name="Text 6"/>
          <p:cNvSpPr/>
          <p:nvPr/>
        </p:nvSpPr>
        <p:spPr>
          <a:xfrm>
            <a:off x="2029968" y="182880"/>
            <a:ext cx="6949440" cy="411480"/>
          </a:xfrm>
          <a:prstGeom prst="rect">
            <a:avLst/>
          </a:prstGeom>
          <a:noFill/>
          <a:ln/>
        </p:spPr>
        <p:txBody>
          <a:bodyPr wrap="square" lIns="254" tIns="254" rIns="254" bIns="254" rtlCol="0" anchor="ctr">
            <a:normAutofit/>
          </a:bodyPr>
          <a:lstStyle/>
          <a:p>
            <a:pPr marL="0" indent="0">
              <a:buNone/>
            </a:pPr>
            <a:r>
              <a:rPr lang="en-US" sz="2600" b="1" dirty="0">
                <a:solidFill>
                  <a:srgbClr val="173242"/>
                </a:solidFill>
                <a:latin typeface="Lato" pitchFamily="34" charset="0"/>
                <a:ea typeface="Lato" pitchFamily="34" charset="-122"/>
                <a:cs typeface="Lato" pitchFamily="34" charset="-120"/>
              </a:rPr>
              <a:t>EDA – CLASS DISTRIBUTION</a:t>
            </a:r>
            <a:endParaRPr lang="en-US" sz="2600" dirty="0"/>
          </a:p>
        </p:txBody>
      </p:sp>
      <p:sp>
        <p:nvSpPr>
          <p:cNvPr id="10" name="Text 7"/>
          <p:cNvSpPr/>
          <p:nvPr/>
        </p:nvSpPr>
        <p:spPr>
          <a:xfrm>
            <a:off x="8549640" y="832104"/>
            <a:ext cx="2788920" cy="146304"/>
          </a:xfrm>
          <a:prstGeom prst="rect">
            <a:avLst/>
          </a:prstGeom>
          <a:noFill/>
          <a:ln/>
        </p:spPr>
        <p:txBody>
          <a:bodyPr wrap="square" lIns="127" tIns="127" rIns="127" bIns="127" rtlCol="0" anchor="ctr">
            <a:normAutofit/>
          </a:bodyPr>
          <a:lstStyle/>
          <a:p>
            <a:pPr marL="0" indent="0" algn="r">
              <a:buNone/>
            </a:pPr>
            <a:r>
              <a:rPr lang="en-US" sz="860" dirty="0">
                <a:solidFill>
                  <a:srgbClr val="173242"/>
                </a:solidFill>
                <a:latin typeface="Lato" pitchFamily="34" charset="0"/>
                <a:ea typeface="Lato" pitchFamily="34" charset="-122"/>
                <a:cs typeface="Lato" pitchFamily="34" charset="-120"/>
              </a:rPr>
              <a:t>ML PROJECT | CSE | SECTION 4</a:t>
            </a:r>
            <a:endParaRPr lang="en-US" sz="860" dirty="0"/>
          </a:p>
        </p:txBody>
      </p:sp>
      <p:sp>
        <p:nvSpPr>
          <p:cNvPr id="11" name="Shape 8"/>
          <p:cNvSpPr/>
          <p:nvPr/>
        </p:nvSpPr>
        <p:spPr>
          <a:xfrm>
            <a:off x="393192" y="5989320"/>
            <a:ext cx="11411712" cy="0"/>
          </a:xfrm>
          <a:prstGeom prst="line">
            <a:avLst/>
          </a:prstGeom>
          <a:noFill/>
          <a:ln w="11430">
            <a:solidFill>
              <a:srgbClr val="173242"/>
            </a:solidFill>
            <a:prstDash val="solid"/>
          </a:ln>
        </p:spPr>
      </p:sp>
      <p:sp>
        <p:nvSpPr>
          <p:cNvPr id="12" name="Shape 9"/>
          <p:cNvSpPr/>
          <p:nvPr/>
        </p:nvSpPr>
        <p:spPr>
          <a:xfrm>
            <a:off x="393192" y="6309360"/>
            <a:ext cx="11411712" cy="0"/>
          </a:xfrm>
          <a:prstGeom prst="line">
            <a:avLst/>
          </a:prstGeom>
          <a:noFill/>
          <a:ln w="11430">
            <a:solidFill>
              <a:srgbClr val="173242"/>
            </a:solidFill>
            <a:prstDash val="solid"/>
          </a:ln>
        </p:spPr>
      </p:sp>
      <p:sp>
        <p:nvSpPr>
          <p:cNvPr id="13" name="Text 10"/>
          <p:cNvSpPr/>
          <p:nvPr/>
        </p:nvSpPr>
        <p:spPr>
          <a:xfrm>
            <a:off x="713232" y="6108192"/>
            <a:ext cx="8138160" cy="146304"/>
          </a:xfrm>
          <a:prstGeom prst="rect">
            <a:avLst/>
          </a:prstGeom>
          <a:noFill/>
          <a:ln/>
        </p:spPr>
        <p:txBody>
          <a:bodyPr wrap="square" lIns="127" tIns="127" rIns="127" bIns="127" rtlCol="0" anchor="ctr">
            <a:normAutofit/>
          </a:bodyPr>
          <a:lstStyle/>
          <a:p>
            <a:pPr marL="0" indent="0">
              <a:buNone/>
            </a:pPr>
            <a:r>
              <a:rPr lang="en-US" sz="800" dirty="0">
                <a:solidFill>
                  <a:srgbClr val="173242"/>
                </a:solidFill>
                <a:latin typeface="Lato" pitchFamily="34" charset="0"/>
                <a:ea typeface="Lato" pitchFamily="34" charset="-122"/>
                <a:cs typeface="Lato" pitchFamily="34" charset="-120"/>
              </a:rPr>
              <a:t>SPAM EMAIL CLASSIFICATION USING NAIVE BAYES AND SUPPORT VECTOR MACHINE</a:t>
            </a:r>
            <a:endParaRPr lang="en-US" sz="800" dirty="0"/>
          </a:p>
        </p:txBody>
      </p:sp>
      <p:sp>
        <p:nvSpPr>
          <p:cNvPr id="14" name="Text 11"/>
          <p:cNvSpPr/>
          <p:nvPr/>
        </p:nvSpPr>
        <p:spPr>
          <a:xfrm>
            <a:off x="10058400" y="6108192"/>
            <a:ext cx="1298448" cy="146304"/>
          </a:xfrm>
          <a:prstGeom prst="rect">
            <a:avLst/>
          </a:prstGeom>
          <a:noFill/>
          <a:ln/>
        </p:spPr>
        <p:txBody>
          <a:bodyPr wrap="square" lIns="127" tIns="127" rIns="127" bIns="127" rtlCol="0" anchor="ctr"/>
          <a:lstStyle/>
          <a:p>
            <a:pPr marL="0" indent="0" algn="r">
              <a:buNone/>
            </a:pPr>
            <a:r>
              <a:rPr lang="en-US" sz="800" dirty="0">
                <a:solidFill>
                  <a:srgbClr val="173242"/>
                </a:solidFill>
                <a:latin typeface="Lato" pitchFamily="34" charset="0"/>
                <a:ea typeface="Lato" pitchFamily="34" charset="-122"/>
                <a:cs typeface="Lato" pitchFamily="34" charset="-120"/>
              </a:rPr>
              <a:t>A.Y. 2026–27</a:t>
            </a:r>
            <a:endParaRPr lang="en-US" sz="800" dirty="0"/>
          </a:p>
        </p:txBody>
      </p:sp>
      <p:pic>
        <p:nvPicPr>
          <p:cNvPr id="15" name="Image 1" descr="/mnt/data/ppt_assets/class_distribution.png"/>
          <p:cNvPicPr>
            <a:picLocks noChangeAspect="1"/>
          </p:cNvPicPr>
          <p:nvPr/>
        </p:nvPicPr>
        <p:blipFill>
          <a:blip r:embed="rId4"/>
          <a:stretch>
            <a:fillRect/>
          </a:stretch>
        </p:blipFill>
        <p:spPr>
          <a:xfrm>
            <a:off x="713232" y="1711852"/>
            <a:ext cx="5532120" cy="3077679"/>
          </a:xfrm>
          <a:prstGeom prst="rect">
            <a:avLst/>
          </a:prstGeom>
        </p:spPr>
      </p:pic>
      <p:sp>
        <p:nvSpPr>
          <p:cNvPr id="16" name="Text 12"/>
          <p:cNvSpPr/>
          <p:nvPr/>
        </p:nvSpPr>
        <p:spPr>
          <a:xfrm>
            <a:off x="6720840" y="1298448"/>
            <a:ext cx="3840480" cy="987552"/>
          </a:xfrm>
          <a:prstGeom prst="rect">
            <a:avLst/>
          </a:prstGeom>
          <a:noFill/>
          <a:ln/>
        </p:spPr>
        <p:txBody>
          <a:bodyPr wrap="square" lIns="127" tIns="127" rIns="127" bIns="127" rtlCol="0" anchor="ctr">
            <a:normAutofit/>
          </a:bodyPr>
          <a:lstStyle/>
          <a:p>
            <a:pPr marL="0" indent="0" algn="l">
              <a:buNone/>
            </a:pPr>
            <a:r>
              <a:rPr lang="en-US" sz="4000" b="1" dirty="0">
                <a:solidFill>
                  <a:srgbClr val="173242"/>
                </a:solidFill>
                <a:latin typeface="Lato" pitchFamily="34" charset="0"/>
                <a:ea typeface="Lato" pitchFamily="34" charset="-122"/>
                <a:cs typeface="Lato" pitchFamily="34" charset="-120"/>
              </a:rPr>
              <a:t>HAM VS</a:t>
            </a:r>
            <a:endParaRPr lang="en-US" sz="4000" dirty="0"/>
          </a:p>
          <a:p>
            <a:pPr marL="0" indent="0" algn="l">
              <a:buNone/>
            </a:pPr>
            <a:r>
              <a:rPr lang="en-US" sz="4000" b="1" dirty="0">
                <a:solidFill>
                  <a:srgbClr val="173242"/>
                </a:solidFill>
                <a:latin typeface="Lato" pitchFamily="34" charset="0"/>
                <a:ea typeface="Lato" pitchFamily="34" charset="-122"/>
                <a:cs typeface="Lato" pitchFamily="34" charset="-120"/>
              </a:rPr>
              <a:t>SPAM</a:t>
            </a:r>
            <a:endParaRPr lang="en-US" sz="4000" dirty="0"/>
          </a:p>
        </p:txBody>
      </p:sp>
      <p:sp>
        <p:nvSpPr>
          <p:cNvPr id="17" name="Text 13"/>
          <p:cNvSpPr/>
          <p:nvPr/>
        </p:nvSpPr>
        <p:spPr>
          <a:xfrm>
            <a:off x="6400805" y="2404871"/>
            <a:ext cx="4754875" cy="1243585"/>
          </a:xfrm>
          <a:prstGeom prst="rect">
            <a:avLst/>
          </a:prstGeom>
          <a:solidFill>
            <a:srgbClr val="FAFCF0"/>
          </a:solidFill>
          <a:ln w="12700">
            <a:solidFill>
              <a:srgbClr val="176563"/>
            </a:solidFill>
          </a:ln>
        </p:spPr>
        <p:txBody>
          <a:bodyPr wrap="square" lIns="1524" tIns="1524" rIns="1524" bIns="1524" rtlCol="0" anchor="ctr">
            <a:normAutofit/>
          </a:bodyPr>
          <a:lstStyle/>
          <a:p>
            <a:pPr marL="0" indent="0" algn="l">
              <a:buNone/>
            </a:pPr>
            <a:r>
              <a:rPr lang="en-US" sz="1760" dirty="0">
                <a:solidFill>
                  <a:srgbClr val="173242"/>
                </a:solidFill>
                <a:latin typeface="Lato" pitchFamily="34" charset="0"/>
                <a:ea typeface="Lato" pitchFamily="34" charset="-122"/>
                <a:cs typeface="Lato" pitchFamily="34" charset="-120"/>
              </a:rPr>
              <a:t>After cleaning, the dataset contains 4,516 ham messages and 653 spam messages. This shows clear class imbalance, with ham messages being much more frequent than spam messages.</a:t>
            </a:r>
            <a:endParaRPr lang="en-US" sz="1760" dirty="0"/>
          </a:p>
        </p:txBody>
      </p:sp>
      <p:sp>
        <p:nvSpPr>
          <p:cNvPr id="18" name="Text 14"/>
          <p:cNvSpPr/>
          <p:nvPr/>
        </p:nvSpPr>
        <p:spPr>
          <a:xfrm>
            <a:off x="6748272" y="4023360"/>
            <a:ext cx="1325880" cy="749808"/>
          </a:xfrm>
          <a:prstGeom prst="rect">
            <a:avLst/>
          </a:prstGeom>
          <a:solidFill>
            <a:srgbClr val="FAFCF0"/>
          </a:solidFill>
          <a:ln w="16510">
            <a:solidFill>
              <a:srgbClr val="176563"/>
            </a:solidFill>
          </a:ln>
        </p:spPr>
        <p:txBody>
          <a:bodyPr wrap="square" lIns="508" tIns="508" rIns="508" bIns="508" rtlCol="0" anchor="ctr">
            <a:normAutofit/>
          </a:bodyPr>
          <a:lstStyle/>
          <a:p>
            <a:pPr marL="0" indent="0" algn="ctr">
              <a:buNone/>
            </a:pPr>
            <a:r>
              <a:rPr lang="en-US" sz="2500" b="1" dirty="0">
                <a:solidFill>
                  <a:srgbClr val="176563"/>
                </a:solidFill>
                <a:latin typeface="Lato" pitchFamily="34" charset="0"/>
                <a:ea typeface="Lato" pitchFamily="34" charset="-122"/>
                <a:cs typeface="Lato" pitchFamily="34" charset="-120"/>
              </a:rPr>
              <a:t>4,516
</a:t>
            </a:r>
            <a:r>
              <a:rPr lang="en-US" sz="1000" b="1" dirty="0">
                <a:solidFill>
                  <a:srgbClr val="176563"/>
                </a:solidFill>
                <a:latin typeface="Lato" pitchFamily="34" charset="0"/>
                <a:ea typeface="Lato" pitchFamily="34" charset="-122"/>
                <a:cs typeface="Lato" pitchFamily="34" charset="-120"/>
              </a:rPr>
              <a:t>HAM MESSAGES</a:t>
            </a:r>
            <a:endParaRPr lang="en-US" sz="2500" dirty="0"/>
          </a:p>
        </p:txBody>
      </p:sp>
      <p:sp>
        <p:nvSpPr>
          <p:cNvPr id="19" name="Text 15"/>
          <p:cNvSpPr/>
          <p:nvPr/>
        </p:nvSpPr>
        <p:spPr>
          <a:xfrm>
            <a:off x="8339328" y="4023360"/>
            <a:ext cx="1325880" cy="749808"/>
          </a:xfrm>
          <a:prstGeom prst="rect">
            <a:avLst/>
          </a:prstGeom>
          <a:solidFill>
            <a:srgbClr val="FAFCF0"/>
          </a:solidFill>
          <a:ln w="16510">
            <a:solidFill>
              <a:srgbClr val="9F303A"/>
            </a:solidFill>
          </a:ln>
        </p:spPr>
        <p:txBody>
          <a:bodyPr wrap="square" lIns="508" tIns="508" rIns="508" bIns="508" rtlCol="0" anchor="ctr">
            <a:normAutofit/>
          </a:bodyPr>
          <a:lstStyle/>
          <a:p>
            <a:pPr marL="0" indent="0" algn="ctr">
              <a:buNone/>
            </a:pPr>
            <a:r>
              <a:rPr lang="en-US" sz="2500" b="1" dirty="0">
                <a:solidFill>
                  <a:srgbClr val="9F303A"/>
                </a:solidFill>
                <a:latin typeface="Lato" pitchFamily="34" charset="0"/>
                <a:ea typeface="Lato" pitchFamily="34" charset="-122"/>
                <a:cs typeface="Lato" pitchFamily="34" charset="-120"/>
              </a:rPr>
              <a:t>653
</a:t>
            </a:r>
            <a:r>
              <a:rPr lang="en-US" sz="1000" b="1" dirty="0">
                <a:solidFill>
                  <a:srgbClr val="9F303A"/>
                </a:solidFill>
                <a:latin typeface="Lato" pitchFamily="34" charset="0"/>
                <a:ea typeface="Lato" pitchFamily="34" charset="-122"/>
                <a:cs typeface="Lato" pitchFamily="34" charset="-120"/>
              </a:rPr>
              <a:t>SPAM MESSAGES</a:t>
            </a:r>
            <a:endParaRPr lang="en-US" sz="2500" dirty="0"/>
          </a:p>
        </p:txBody>
      </p:sp>
      <p:sp>
        <p:nvSpPr>
          <p:cNvPr id="20" name="Text 16"/>
          <p:cNvSpPr/>
          <p:nvPr/>
        </p:nvSpPr>
        <p:spPr>
          <a:xfrm>
            <a:off x="9930384" y="4023360"/>
            <a:ext cx="1243584" cy="749808"/>
          </a:xfrm>
          <a:prstGeom prst="rect">
            <a:avLst/>
          </a:prstGeom>
          <a:solidFill>
            <a:srgbClr val="FAFCF0"/>
          </a:solidFill>
          <a:ln w="16510">
            <a:solidFill>
              <a:srgbClr val="176563"/>
            </a:solidFill>
          </a:ln>
        </p:spPr>
        <p:txBody>
          <a:bodyPr wrap="square" lIns="508" tIns="508" rIns="508" bIns="508" rtlCol="0" anchor="ctr">
            <a:normAutofit/>
          </a:bodyPr>
          <a:lstStyle/>
          <a:p>
            <a:pPr marL="0" indent="0" algn="ctr">
              <a:buNone/>
            </a:pPr>
            <a:r>
              <a:rPr lang="en-US" sz="2500" b="1" dirty="0">
                <a:solidFill>
                  <a:srgbClr val="176563"/>
                </a:solidFill>
                <a:latin typeface="Lato" pitchFamily="34" charset="0"/>
                <a:ea typeface="Lato" pitchFamily="34" charset="-122"/>
                <a:cs typeface="Lato" pitchFamily="34" charset="-120"/>
              </a:rPr>
              <a:t>87:13
</a:t>
            </a:r>
            <a:r>
              <a:rPr lang="en-US" sz="1000" b="1" dirty="0">
                <a:solidFill>
                  <a:srgbClr val="176563"/>
                </a:solidFill>
                <a:latin typeface="Lato" pitchFamily="34" charset="0"/>
                <a:ea typeface="Lato" pitchFamily="34" charset="-122"/>
                <a:cs typeface="Lato" pitchFamily="34" charset="-120"/>
              </a:rPr>
              <a:t>APPROX. RATIO</a:t>
            </a:r>
            <a:endParaRPr lang="en-US" sz="2500" dirty="0"/>
          </a:p>
        </p:txBody>
      </p:sp>
      <p:sp>
        <p:nvSpPr>
          <p:cNvPr id="21" name="Text 17"/>
          <p:cNvSpPr/>
          <p:nvPr/>
        </p:nvSpPr>
        <p:spPr>
          <a:xfrm>
            <a:off x="6720840" y="5084063"/>
            <a:ext cx="4416552" cy="612645"/>
          </a:xfrm>
          <a:prstGeom prst="rect">
            <a:avLst/>
          </a:prstGeom>
          <a:solidFill>
            <a:srgbClr val="EEF4DD"/>
          </a:solidFill>
          <a:ln w="12700">
            <a:solidFill>
              <a:srgbClr val="C7B46A"/>
            </a:solidFill>
          </a:ln>
        </p:spPr>
        <p:txBody>
          <a:bodyPr wrap="square" lIns="1524" tIns="1524" rIns="1524" bIns="1524" rtlCol="0" anchor="ctr">
            <a:normAutofit/>
          </a:bodyPr>
          <a:lstStyle/>
          <a:p>
            <a:pPr marL="0" indent="0" algn="ctr">
              <a:buNone/>
            </a:pPr>
            <a:r>
              <a:rPr lang="en-US" sz="1320" dirty="0">
                <a:solidFill>
                  <a:srgbClr val="173242"/>
                </a:solidFill>
                <a:latin typeface="Lato" pitchFamily="34" charset="0"/>
                <a:ea typeface="Lato" pitchFamily="34" charset="-122"/>
                <a:cs typeface="Lato" pitchFamily="34" charset="-120"/>
              </a:rPr>
              <a:t>Because of imbalance, Precision, Recall and F1-Score are more meaningful than Accuracy alone.</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E8"/>
        </a:solidFill>
        <a:effectLst/>
      </p:bgPr>
    </p:bg>
    <p:spTree>
      <p:nvGrpSpPr>
        <p:cNvPr id="1" name=""/>
        <p:cNvGrpSpPr/>
        <p:nvPr/>
      </p:nvGrpSpPr>
      <p:grpSpPr>
        <a:xfrm>
          <a:off x="0" y="0"/>
          <a:ext cx="0" cy="0"/>
          <a:chOff x="0" y="0"/>
          <a:chExt cx="0" cy="0"/>
        </a:xfrm>
      </p:grpSpPr>
      <p:sp>
        <p:nvSpPr>
          <p:cNvPr id="2" name="Shape 0"/>
          <p:cNvSpPr/>
          <p:nvPr/>
        </p:nvSpPr>
        <p:spPr>
          <a:xfrm>
            <a:off x="393192" y="91440"/>
            <a:ext cx="11411712" cy="0"/>
          </a:xfrm>
          <a:prstGeom prst="line">
            <a:avLst/>
          </a:prstGeom>
          <a:noFill/>
          <a:ln w="13970">
            <a:solidFill>
              <a:srgbClr val="CBD6BB"/>
            </a:solidFill>
            <a:prstDash val="solid"/>
          </a:ln>
        </p:spPr>
      </p:sp>
      <p:sp>
        <p:nvSpPr>
          <p:cNvPr id="3" name="Shape 1"/>
          <p:cNvSpPr/>
          <p:nvPr/>
        </p:nvSpPr>
        <p:spPr>
          <a:xfrm>
            <a:off x="393192" y="6601968"/>
            <a:ext cx="11411712" cy="0"/>
          </a:xfrm>
          <a:prstGeom prst="line">
            <a:avLst/>
          </a:prstGeom>
          <a:noFill/>
          <a:ln w="13970">
            <a:solidFill>
              <a:srgbClr val="CBD6BB"/>
            </a:solidFill>
            <a:prstDash val="solid"/>
          </a:ln>
        </p:spPr>
      </p:sp>
      <p:sp>
        <p:nvSpPr>
          <p:cNvPr id="4" name="Shape 2"/>
          <p:cNvSpPr/>
          <p:nvPr/>
        </p:nvSpPr>
        <p:spPr>
          <a:xfrm>
            <a:off x="393192" y="91440"/>
            <a:ext cx="0" cy="6510528"/>
          </a:xfrm>
          <a:prstGeom prst="line">
            <a:avLst/>
          </a:prstGeom>
          <a:noFill/>
          <a:ln w="13970">
            <a:solidFill>
              <a:srgbClr val="CBD6BB"/>
            </a:solidFill>
            <a:prstDash val="solid"/>
          </a:ln>
        </p:spPr>
      </p:sp>
      <p:sp>
        <p:nvSpPr>
          <p:cNvPr id="5" name="Shape 3"/>
          <p:cNvSpPr/>
          <p:nvPr/>
        </p:nvSpPr>
        <p:spPr>
          <a:xfrm>
            <a:off x="11804904" y="91440"/>
            <a:ext cx="0" cy="6510528"/>
          </a:xfrm>
          <a:prstGeom prst="line">
            <a:avLst/>
          </a:prstGeom>
          <a:noFill/>
          <a:ln w="13970">
            <a:solidFill>
              <a:srgbClr val="CBD6BB"/>
            </a:solidFill>
            <a:prstDash val="solid"/>
          </a:ln>
        </p:spPr>
      </p:sp>
      <p:sp>
        <p:nvSpPr>
          <p:cNvPr id="6" name="Shape 4"/>
          <p:cNvSpPr/>
          <p:nvPr/>
        </p:nvSpPr>
        <p:spPr>
          <a:xfrm>
            <a:off x="393192" y="749808"/>
            <a:ext cx="11411712" cy="0"/>
          </a:xfrm>
          <a:prstGeom prst="line">
            <a:avLst/>
          </a:prstGeom>
          <a:noFill/>
          <a:ln w="11430">
            <a:solidFill>
              <a:srgbClr val="173242"/>
            </a:solidFill>
            <a:prstDash val="solid"/>
          </a:ln>
        </p:spPr>
      </p:sp>
      <p:sp>
        <p:nvSpPr>
          <p:cNvPr id="7" name="Shape 5"/>
          <p:cNvSpPr/>
          <p:nvPr/>
        </p:nvSpPr>
        <p:spPr>
          <a:xfrm>
            <a:off x="393192" y="1060704"/>
            <a:ext cx="11411712" cy="0"/>
          </a:xfrm>
          <a:prstGeom prst="line">
            <a:avLst/>
          </a:prstGeom>
          <a:noFill/>
          <a:ln w="11430">
            <a:solidFill>
              <a:srgbClr val="173242"/>
            </a:solidFill>
            <a:prstDash val="solid"/>
          </a:ln>
        </p:spPr>
      </p:sp>
      <p:pic>
        <p:nvPicPr>
          <p:cNvPr id="8" name="Image 0" descr="/mnt/data/3b6ce1a3-ac36-48dc-a15a-81eb8802b178.png"/>
          <p:cNvPicPr>
            <a:picLocks noChangeAspect="1"/>
          </p:cNvPicPr>
          <p:nvPr/>
        </p:nvPicPr>
        <p:blipFill>
          <a:blip r:embed="rId3"/>
          <a:stretch>
            <a:fillRect/>
          </a:stretch>
        </p:blipFill>
        <p:spPr>
          <a:xfrm>
            <a:off x="655799" y="182880"/>
            <a:ext cx="1230433" cy="438912"/>
          </a:xfrm>
          <a:prstGeom prst="rect">
            <a:avLst/>
          </a:prstGeom>
        </p:spPr>
      </p:pic>
      <p:sp>
        <p:nvSpPr>
          <p:cNvPr id="9" name="Text 6"/>
          <p:cNvSpPr/>
          <p:nvPr/>
        </p:nvSpPr>
        <p:spPr>
          <a:xfrm>
            <a:off x="2029968" y="182880"/>
            <a:ext cx="6949440" cy="411480"/>
          </a:xfrm>
          <a:prstGeom prst="rect">
            <a:avLst/>
          </a:prstGeom>
          <a:noFill/>
          <a:ln/>
        </p:spPr>
        <p:txBody>
          <a:bodyPr wrap="square" lIns="254" tIns="254" rIns="254" bIns="254" rtlCol="0" anchor="ctr">
            <a:normAutofit/>
          </a:bodyPr>
          <a:lstStyle/>
          <a:p>
            <a:pPr marL="0" indent="0">
              <a:buNone/>
            </a:pPr>
            <a:r>
              <a:rPr lang="en-US" sz="2600" b="1" dirty="0">
                <a:solidFill>
                  <a:srgbClr val="173242"/>
                </a:solidFill>
                <a:latin typeface="Lato" pitchFamily="34" charset="0"/>
                <a:ea typeface="Lato" pitchFamily="34" charset="-122"/>
                <a:cs typeface="Lato" pitchFamily="34" charset="-120"/>
              </a:rPr>
              <a:t>EDA – TEXT CHARACTERISTICS</a:t>
            </a:r>
            <a:endParaRPr lang="en-US" sz="2600" dirty="0"/>
          </a:p>
        </p:txBody>
      </p:sp>
      <p:sp>
        <p:nvSpPr>
          <p:cNvPr id="10" name="Text 7"/>
          <p:cNvSpPr/>
          <p:nvPr/>
        </p:nvSpPr>
        <p:spPr>
          <a:xfrm>
            <a:off x="8549640" y="832104"/>
            <a:ext cx="2788920" cy="146304"/>
          </a:xfrm>
          <a:prstGeom prst="rect">
            <a:avLst/>
          </a:prstGeom>
          <a:noFill/>
          <a:ln/>
        </p:spPr>
        <p:txBody>
          <a:bodyPr wrap="square" lIns="127" tIns="127" rIns="127" bIns="127" rtlCol="0" anchor="ctr">
            <a:normAutofit/>
          </a:bodyPr>
          <a:lstStyle/>
          <a:p>
            <a:pPr marL="0" indent="0" algn="r">
              <a:buNone/>
            </a:pPr>
            <a:r>
              <a:rPr lang="en-US" sz="860" dirty="0">
                <a:solidFill>
                  <a:srgbClr val="173242"/>
                </a:solidFill>
                <a:latin typeface="Lato" pitchFamily="34" charset="0"/>
                <a:ea typeface="Lato" pitchFamily="34" charset="-122"/>
                <a:cs typeface="Lato" pitchFamily="34" charset="-120"/>
              </a:rPr>
              <a:t>ML PROJECT | CSE | SECTION 4</a:t>
            </a:r>
            <a:endParaRPr lang="en-US" sz="860" dirty="0"/>
          </a:p>
        </p:txBody>
      </p:sp>
      <p:sp>
        <p:nvSpPr>
          <p:cNvPr id="11" name="Shape 8"/>
          <p:cNvSpPr/>
          <p:nvPr/>
        </p:nvSpPr>
        <p:spPr>
          <a:xfrm>
            <a:off x="393192" y="5989320"/>
            <a:ext cx="11411712" cy="0"/>
          </a:xfrm>
          <a:prstGeom prst="line">
            <a:avLst/>
          </a:prstGeom>
          <a:noFill/>
          <a:ln w="11430">
            <a:solidFill>
              <a:srgbClr val="173242"/>
            </a:solidFill>
            <a:prstDash val="solid"/>
          </a:ln>
        </p:spPr>
      </p:sp>
      <p:sp>
        <p:nvSpPr>
          <p:cNvPr id="12" name="Shape 9"/>
          <p:cNvSpPr/>
          <p:nvPr/>
        </p:nvSpPr>
        <p:spPr>
          <a:xfrm>
            <a:off x="393192" y="6309360"/>
            <a:ext cx="11411712" cy="0"/>
          </a:xfrm>
          <a:prstGeom prst="line">
            <a:avLst/>
          </a:prstGeom>
          <a:noFill/>
          <a:ln w="11430">
            <a:solidFill>
              <a:srgbClr val="173242"/>
            </a:solidFill>
            <a:prstDash val="solid"/>
          </a:ln>
        </p:spPr>
      </p:sp>
      <p:sp>
        <p:nvSpPr>
          <p:cNvPr id="13" name="Text 10"/>
          <p:cNvSpPr/>
          <p:nvPr/>
        </p:nvSpPr>
        <p:spPr>
          <a:xfrm>
            <a:off x="713232" y="6108192"/>
            <a:ext cx="8138160" cy="146304"/>
          </a:xfrm>
          <a:prstGeom prst="rect">
            <a:avLst/>
          </a:prstGeom>
          <a:noFill/>
          <a:ln/>
        </p:spPr>
        <p:txBody>
          <a:bodyPr wrap="square" lIns="127" tIns="127" rIns="127" bIns="127" rtlCol="0" anchor="ctr">
            <a:normAutofit/>
          </a:bodyPr>
          <a:lstStyle/>
          <a:p>
            <a:pPr marL="0" indent="0">
              <a:buNone/>
            </a:pPr>
            <a:r>
              <a:rPr lang="en-US" sz="800" dirty="0">
                <a:solidFill>
                  <a:srgbClr val="173242"/>
                </a:solidFill>
                <a:latin typeface="Lato" pitchFamily="34" charset="0"/>
                <a:ea typeface="Lato" pitchFamily="34" charset="-122"/>
                <a:cs typeface="Lato" pitchFamily="34" charset="-120"/>
              </a:rPr>
              <a:t>SPAM EMAIL CLASSIFICATION USING NAIVE BAYES AND SUPPORT VECTOR MACHINE</a:t>
            </a:r>
            <a:endParaRPr lang="en-US" sz="800" dirty="0"/>
          </a:p>
        </p:txBody>
      </p:sp>
      <p:sp>
        <p:nvSpPr>
          <p:cNvPr id="14" name="Text 11"/>
          <p:cNvSpPr/>
          <p:nvPr/>
        </p:nvSpPr>
        <p:spPr>
          <a:xfrm>
            <a:off x="10058400" y="6108192"/>
            <a:ext cx="1298448" cy="146304"/>
          </a:xfrm>
          <a:prstGeom prst="rect">
            <a:avLst/>
          </a:prstGeom>
          <a:noFill/>
          <a:ln/>
        </p:spPr>
        <p:txBody>
          <a:bodyPr wrap="square" lIns="127" tIns="127" rIns="127" bIns="127" rtlCol="0" anchor="ctr"/>
          <a:lstStyle/>
          <a:p>
            <a:pPr marL="0" indent="0" algn="r">
              <a:buNone/>
            </a:pPr>
            <a:r>
              <a:rPr lang="en-US" sz="800" dirty="0">
                <a:solidFill>
                  <a:srgbClr val="173242"/>
                </a:solidFill>
                <a:latin typeface="Lato" pitchFamily="34" charset="0"/>
                <a:ea typeface="Lato" pitchFamily="34" charset="-122"/>
                <a:cs typeface="Lato" pitchFamily="34" charset="-120"/>
              </a:rPr>
              <a:t>A.Y. 2026–27</a:t>
            </a:r>
            <a:endParaRPr lang="en-US" sz="800" dirty="0"/>
          </a:p>
        </p:txBody>
      </p:sp>
      <p:pic>
        <p:nvPicPr>
          <p:cNvPr id="15" name="Image 1" descr="/mnt/data/ppt_assets/length_hist.png"/>
          <p:cNvPicPr>
            <a:picLocks noChangeAspect="1"/>
          </p:cNvPicPr>
          <p:nvPr/>
        </p:nvPicPr>
        <p:blipFill>
          <a:blip r:embed="rId4"/>
          <a:stretch>
            <a:fillRect/>
          </a:stretch>
        </p:blipFill>
        <p:spPr>
          <a:xfrm>
            <a:off x="640080" y="1697078"/>
            <a:ext cx="5358384" cy="2951780"/>
          </a:xfrm>
          <a:prstGeom prst="rect">
            <a:avLst/>
          </a:prstGeom>
        </p:spPr>
      </p:pic>
      <p:pic>
        <p:nvPicPr>
          <p:cNvPr id="16" name="Image 2" descr="/mnt/data/ppt_assets/feature_means.png"/>
          <p:cNvPicPr>
            <a:picLocks noChangeAspect="1"/>
          </p:cNvPicPr>
          <p:nvPr/>
        </p:nvPicPr>
        <p:blipFill>
          <a:blip r:embed="rId5"/>
          <a:stretch>
            <a:fillRect/>
          </a:stretch>
        </p:blipFill>
        <p:spPr>
          <a:xfrm>
            <a:off x="6181344" y="1697907"/>
            <a:ext cx="5358384" cy="2950122"/>
          </a:xfrm>
          <a:prstGeom prst="rect">
            <a:avLst/>
          </a:prstGeom>
        </p:spPr>
      </p:pic>
      <p:sp>
        <p:nvSpPr>
          <p:cNvPr id="17" name="Text 12"/>
          <p:cNvSpPr/>
          <p:nvPr/>
        </p:nvSpPr>
        <p:spPr>
          <a:xfrm>
            <a:off x="655799" y="4766900"/>
            <a:ext cx="10792489" cy="1039540"/>
          </a:xfrm>
          <a:prstGeom prst="rect">
            <a:avLst/>
          </a:prstGeom>
          <a:solidFill>
            <a:srgbClr val="EEF4DD"/>
          </a:solidFill>
          <a:ln w="12700">
            <a:solidFill>
              <a:srgbClr val="C7B46A"/>
            </a:solidFill>
          </a:ln>
        </p:spPr>
        <p:txBody>
          <a:bodyPr wrap="square" lIns="1524" tIns="1524" rIns="1524" bIns="1524" rtlCol="0" anchor="ctr">
            <a:normAutofit/>
          </a:bodyPr>
          <a:lstStyle/>
          <a:p>
            <a:pPr marL="0" indent="0" algn="ctr">
              <a:buNone/>
            </a:pPr>
            <a:r>
              <a:rPr lang="en-US" sz="1340" dirty="0">
                <a:solidFill>
                  <a:srgbClr val="173242"/>
                </a:solidFill>
                <a:latin typeface="Lato" pitchFamily="34" charset="0"/>
                <a:ea typeface="Lato" pitchFamily="34" charset="-122"/>
                <a:cs typeface="Lato" pitchFamily="34" charset="-120"/>
              </a:rPr>
              <a:t>Spam messages generally show stronger text signals such as longer length, more digits, more uppercase characters and more punctuation. These engineered features make EDA meaningful for an NLP dataset.</a:t>
            </a:r>
            <a:endParaRPr lang="en-US" sz="13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E8"/>
        </a:solidFill>
        <a:effectLst/>
      </p:bgPr>
    </p:bg>
    <p:spTree>
      <p:nvGrpSpPr>
        <p:cNvPr id="1" name=""/>
        <p:cNvGrpSpPr/>
        <p:nvPr/>
      </p:nvGrpSpPr>
      <p:grpSpPr>
        <a:xfrm>
          <a:off x="0" y="0"/>
          <a:ext cx="0" cy="0"/>
          <a:chOff x="0" y="0"/>
          <a:chExt cx="0" cy="0"/>
        </a:xfrm>
      </p:grpSpPr>
      <p:sp>
        <p:nvSpPr>
          <p:cNvPr id="2" name="Shape 0"/>
          <p:cNvSpPr/>
          <p:nvPr/>
        </p:nvSpPr>
        <p:spPr>
          <a:xfrm>
            <a:off x="393192" y="91440"/>
            <a:ext cx="11411712" cy="0"/>
          </a:xfrm>
          <a:prstGeom prst="line">
            <a:avLst/>
          </a:prstGeom>
          <a:noFill/>
          <a:ln w="13970">
            <a:solidFill>
              <a:srgbClr val="CBD6BB"/>
            </a:solidFill>
            <a:prstDash val="solid"/>
          </a:ln>
        </p:spPr>
      </p:sp>
      <p:sp>
        <p:nvSpPr>
          <p:cNvPr id="3" name="Shape 1"/>
          <p:cNvSpPr/>
          <p:nvPr/>
        </p:nvSpPr>
        <p:spPr>
          <a:xfrm>
            <a:off x="393192" y="6601968"/>
            <a:ext cx="11411712" cy="0"/>
          </a:xfrm>
          <a:prstGeom prst="line">
            <a:avLst/>
          </a:prstGeom>
          <a:noFill/>
          <a:ln w="13970">
            <a:solidFill>
              <a:srgbClr val="CBD6BB"/>
            </a:solidFill>
            <a:prstDash val="solid"/>
          </a:ln>
        </p:spPr>
      </p:sp>
      <p:sp>
        <p:nvSpPr>
          <p:cNvPr id="4" name="Shape 2"/>
          <p:cNvSpPr/>
          <p:nvPr/>
        </p:nvSpPr>
        <p:spPr>
          <a:xfrm>
            <a:off x="393192" y="91440"/>
            <a:ext cx="0" cy="6510528"/>
          </a:xfrm>
          <a:prstGeom prst="line">
            <a:avLst/>
          </a:prstGeom>
          <a:noFill/>
          <a:ln w="13970">
            <a:solidFill>
              <a:srgbClr val="CBD6BB"/>
            </a:solidFill>
            <a:prstDash val="solid"/>
          </a:ln>
        </p:spPr>
      </p:sp>
      <p:sp>
        <p:nvSpPr>
          <p:cNvPr id="5" name="Shape 3"/>
          <p:cNvSpPr/>
          <p:nvPr/>
        </p:nvSpPr>
        <p:spPr>
          <a:xfrm>
            <a:off x="11804904" y="91440"/>
            <a:ext cx="0" cy="6510528"/>
          </a:xfrm>
          <a:prstGeom prst="line">
            <a:avLst/>
          </a:prstGeom>
          <a:noFill/>
          <a:ln w="13970">
            <a:solidFill>
              <a:srgbClr val="CBD6BB"/>
            </a:solidFill>
            <a:prstDash val="solid"/>
          </a:ln>
        </p:spPr>
      </p:sp>
      <p:sp>
        <p:nvSpPr>
          <p:cNvPr id="6" name="Shape 4"/>
          <p:cNvSpPr/>
          <p:nvPr/>
        </p:nvSpPr>
        <p:spPr>
          <a:xfrm>
            <a:off x="393192" y="749808"/>
            <a:ext cx="11411712" cy="0"/>
          </a:xfrm>
          <a:prstGeom prst="line">
            <a:avLst/>
          </a:prstGeom>
          <a:noFill/>
          <a:ln w="11430">
            <a:solidFill>
              <a:srgbClr val="173242"/>
            </a:solidFill>
            <a:prstDash val="solid"/>
          </a:ln>
        </p:spPr>
      </p:sp>
      <p:sp>
        <p:nvSpPr>
          <p:cNvPr id="7" name="Shape 5"/>
          <p:cNvSpPr/>
          <p:nvPr/>
        </p:nvSpPr>
        <p:spPr>
          <a:xfrm>
            <a:off x="393192" y="1060704"/>
            <a:ext cx="11411712" cy="0"/>
          </a:xfrm>
          <a:prstGeom prst="line">
            <a:avLst/>
          </a:prstGeom>
          <a:noFill/>
          <a:ln w="11430">
            <a:solidFill>
              <a:srgbClr val="173242"/>
            </a:solidFill>
            <a:prstDash val="solid"/>
          </a:ln>
        </p:spPr>
      </p:sp>
      <p:pic>
        <p:nvPicPr>
          <p:cNvPr id="8" name="Image 0" descr="/mnt/data/3b6ce1a3-ac36-48dc-a15a-81eb8802b178.png"/>
          <p:cNvPicPr>
            <a:picLocks noChangeAspect="1"/>
          </p:cNvPicPr>
          <p:nvPr/>
        </p:nvPicPr>
        <p:blipFill>
          <a:blip r:embed="rId3"/>
          <a:stretch>
            <a:fillRect/>
          </a:stretch>
        </p:blipFill>
        <p:spPr>
          <a:xfrm>
            <a:off x="655799" y="182880"/>
            <a:ext cx="1230433" cy="438912"/>
          </a:xfrm>
          <a:prstGeom prst="rect">
            <a:avLst/>
          </a:prstGeom>
        </p:spPr>
      </p:pic>
      <p:sp>
        <p:nvSpPr>
          <p:cNvPr id="9" name="Text 6"/>
          <p:cNvSpPr/>
          <p:nvPr/>
        </p:nvSpPr>
        <p:spPr>
          <a:xfrm>
            <a:off x="2029968" y="182880"/>
            <a:ext cx="6949440" cy="411480"/>
          </a:xfrm>
          <a:prstGeom prst="rect">
            <a:avLst/>
          </a:prstGeom>
          <a:noFill/>
          <a:ln/>
        </p:spPr>
        <p:txBody>
          <a:bodyPr wrap="square" lIns="254" tIns="254" rIns="254" bIns="254" rtlCol="0" anchor="ctr">
            <a:normAutofit/>
          </a:bodyPr>
          <a:lstStyle/>
          <a:p>
            <a:pPr marL="0" indent="0">
              <a:buNone/>
            </a:pPr>
            <a:r>
              <a:rPr lang="en-US" sz="2600" b="1" dirty="0">
                <a:solidFill>
                  <a:srgbClr val="173242"/>
                </a:solidFill>
                <a:latin typeface="Lato" pitchFamily="34" charset="0"/>
                <a:ea typeface="Lato" pitchFamily="34" charset="-122"/>
                <a:cs typeface="Lato" pitchFamily="34" charset="-120"/>
              </a:rPr>
              <a:t>EDA – WORDS AND CORRELATION</a:t>
            </a:r>
            <a:endParaRPr lang="en-US" sz="2600" dirty="0"/>
          </a:p>
        </p:txBody>
      </p:sp>
      <p:sp>
        <p:nvSpPr>
          <p:cNvPr id="10" name="Text 7"/>
          <p:cNvSpPr/>
          <p:nvPr/>
        </p:nvSpPr>
        <p:spPr>
          <a:xfrm>
            <a:off x="8549640" y="832104"/>
            <a:ext cx="2788920" cy="146304"/>
          </a:xfrm>
          <a:prstGeom prst="rect">
            <a:avLst/>
          </a:prstGeom>
          <a:noFill/>
          <a:ln/>
        </p:spPr>
        <p:txBody>
          <a:bodyPr wrap="square" lIns="127" tIns="127" rIns="127" bIns="127" rtlCol="0" anchor="ctr">
            <a:normAutofit/>
          </a:bodyPr>
          <a:lstStyle/>
          <a:p>
            <a:pPr marL="0" indent="0" algn="r">
              <a:buNone/>
            </a:pPr>
            <a:r>
              <a:rPr lang="en-US" sz="860" dirty="0">
                <a:solidFill>
                  <a:srgbClr val="173242"/>
                </a:solidFill>
                <a:latin typeface="Lato" pitchFamily="34" charset="0"/>
                <a:ea typeface="Lato" pitchFamily="34" charset="-122"/>
                <a:cs typeface="Lato" pitchFamily="34" charset="-120"/>
              </a:rPr>
              <a:t>ML PROJECT | CSE | SECTION 4</a:t>
            </a:r>
            <a:endParaRPr lang="en-US" sz="860" dirty="0"/>
          </a:p>
        </p:txBody>
      </p:sp>
      <p:sp>
        <p:nvSpPr>
          <p:cNvPr id="11" name="Shape 8"/>
          <p:cNvSpPr/>
          <p:nvPr/>
        </p:nvSpPr>
        <p:spPr>
          <a:xfrm>
            <a:off x="393192" y="5989320"/>
            <a:ext cx="11411712" cy="0"/>
          </a:xfrm>
          <a:prstGeom prst="line">
            <a:avLst/>
          </a:prstGeom>
          <a:noFill/>
          <a:ln w="11430">
            <a:solidFill>
              <a:srgbClr val="173242"/>
            </a:solidFill>
            <a:prstDash val="solid"/>
          </a:ln>
        </p:spPr>
      </p:sp>
      <p:sp>
        <p:nvSpPr>
          <p:cNvPr id="12" name="Shape 9"/>
          <p:cNvSpPr/>
          <p:nvPr/>
        </p:nvSpPr>
        <p:spPr>
          <a:xfrm>
            <a:off x="393192" y="6309360"/>
            <a:ext cx="11411712" cy="0"/>
          </a:xfrm>
          <a:prstGeom prst="line">
            <a:avLst/>
          </a:prstGeom>
          <a:noFill/>
          <a:ln w="11430">
            <a:solidFill>
              <a:srgbClr val="173242"/>
            </a:solidFill>
            <a:prstDash val="solid"/>
          </a:ln>
        </p:spPr>
      </p:sp>
      <p:sp>
        <p:nvSpPr>
          <p:cNvPr id="13" name="Text 10"/>
          <p:cNvSpPr/>
          <p:nvPr/>
        </p:nvSpPr>
        <p:spPr>
          <a:xfrm>
            <a:off x="713232" y="6108192"/>
            <a:ext cx="8138160" cy="146304"/>
          </a:xfrm>
          <a:prstGeom prst="rect">
            <a:avLst/>
          </a:prstGeom>
          <a:noFill/>
          <a:ln/>
        </p:spPr>
        <p:txBody>
          <a:bodyPr wrap="square" lIns="127" tIns="127" rIns="127" bIns="127" rtlCol="0" anchor="ctr">
            <a:normAutofit/>
          </a:bodyPr>
          <a:lstStyle/>
          <a:p>
            <a:pPr marL="0" indent="0">
              <a:buNone/>
            </a:pPr>
            <a:r>
              <a:rPr lang="en-US" sz="800" dirty="0">
                <a:solidFill>
                  <a:srgbClr val="173242"/>
                </a:solidFill>
                <a:latin typeface="Lato" pitchFamily="34" charset="0"/>
                <a:ea typeface="Lato" pitchFamily="34" charset="-122"/>
                <a:cs typeface="Lato" pitchFamily="34" charset="-120"/>
              </a:rPr>
              <a:t>SPAM EMAIL CLASSIFICATION USING NAIVE BAYES AND SUPPORT VECTOR MACHINE</a:t>
            </a:r>
            <a:endParaRPr lang="en-US" sz="800" dirty="0"/>
          </a:p>
        </p:txBody>
      </p:sp>
      <p:sp>
        <p:nvSpPr>
          <p:cNvPr id="14" name="Text 11"/>
          <p:cNvSpPr/>
          <p:nvPr/>
        </p:nvSpPr>
        <p:spPr>
          <a:xfrm>
            <a:off x="10058400" y="6108192"/>
            <a:ext cx="1298448" cy="146304"/>
          </a:xfrm>
          <a:prstGeom prst="rect">
            <a:avLst/>
          </a:prstGeom>
          <a:noFill/>
          <a:ln/>
        </p:spPr>
        <p:txBody>
          <a:bodyPr wrap="square" lIns="127" tIns="127" rIns="127" bIns="127" rtlCol="0" anchor="ctr"/>
          <a:lstStyle/>
          <a:p>
            <a:pPr marL="0" indent="0" algn="r">
              <a:buNone/>
            </a:pPr>
            <a:r>
              <a:rPr lang="en-US" sz="800" dirty="0">
                <a:solidFill>
                  <a:srgbClr val="173242"/>
                </a:solidFill>
                <a:latin typeface="Lato" pitchFamily="34" charset="0"/>
                <a:ea typeface="Lato" pitchFamily="34" charset="-122"/>
                <a:cs typeface="Lato" pitchFamily="34" charset="-120"/>
              </a:rPr>
              <a:t>A.Y. 2026–27</a:t>
            </a:r>
            <a:endParaRPr lang="en-US" sz="800" dirty="0"/>
          </a:p>
        </p:txBody>
      </p:sp>
      <p:pic>
        <p:nvPicPr>
          <p:cNvPr id="15" name="Image 1" descr="/mnt/data/ppt_assets/top_words_spam.png"/>
          <p:cNvPicPr>
            <a:picLocks noChangeAspect="1"/>
          </p:cNvPicPr>
          <p:nvPr/>
        </p:nvPicPr>
        <p:blipFill>
          <a:blip r:embed="rId4"/>
          <a:stretch>
            <a:fillRect/>
          </a:stretch>
        </p:blipFill>
        <p:spPr>
          <a:xfrm>
            <a:off x="603504" y="1914221"/>
            <a:ext cx="3401568" cy="2023718"/>
          </a:xfrm>
          <a:prstGeom prst="rect">
            <a:avLst/>
          </a:prstGeom>
        </p:spPr>
      </p:pic>
      <p:pic>
        <p:nvPicPr>
          <p:cNvPr id="16" name="Image 2" descr="/mnt/data/ppt_assets/top_words_ham.png"/>
          <p:cNvPicPr>
            <a:picLocks noChangeAspect="1"/>
          </p:cNvPicPr>
          <p:nvPr/>
        </p:nvPicPr>
        <p:blipFill>
          <a:blip r:embed="rId5"/>
          <a:stretch>
            <a:fillRect/>
          </a:stretch>
        </p:blipFill>
        <p:spPr>
          <a:xfrm>
            <a:off x="4379976" y="1914221"/>
            <a:ext cx="3401568" cy="2023718"/>
          </a:xfrm>
          <a:prstGeom prst="rect">
            <a:avLst/>
          </a:prstGeom>
        </p:spPr>
      </p:pic>
      <p:pic>
        <p:nvPicPr>
          <p:cNvPr id="17" name="Image 3" descr="/mnt/data/ppt_assets/corr_heatmap.png"/>
          <p:cNvPicPr>
            <a:picLocks noChangeAspect="1"/>
          </p:cNvPicPr>
          <p:nvPr/>
        </p:nvPicPr>
        <p:blipFill>
          <a:blip r:embed="rId6"/>
          <a:stretch>
            <a:fillRect/>
          </a:stretch>
        </p:blipFill>
        <p:spPr>
          <a:xfrm>
            <a:off x="8119872" y="1565347"/>
            <a:ext cx="3154680" cy="2721467"/>
          </a:xfrm>
          <a:prstGeom prst="rect">
            <a:avLst/>
          </a:prstGeom>
        </p:spPr>
      </p:pic>
      <p:sp>
        <p:nvSpPr>
          <p:cNvPr id="18" name="Text 12"/>
          <p:cNvSpPr/>
          <p:nvPr/>
        </p:nvSpPr>
        <p:spPr>
          <a:xfrm>
            <a:off x="603504" y="4405685"/>
            <a:ext cx="10844784" cy="1190443"/>
          </a:xfrm>
          <a:prstGeom prst="rect">
            <a:avLst/>
          </a:prstGeom>
          <a:solidFill>
            <a:srgbClr val="EEF4DD"/>
          </a:solidFill>
          <a:ln w="12700">
            <a:solidFill>
              <a:srgbClr val="C7B46A"/>
            </a:solidFill>
          </a:ln>
        </p:spPr>
        <p:txBody>
          <a:bodyPr wrap="square" lIns="1524" tIns="1524" rIns="1524" bIns="1524" rtlCol="0" anchor="ctr">
            <a:normAutofit/>
          </a:bodyPr>
          <a:lstStyle/>
          <a:p>
            <a:pPr marL="0" indent="0" algn="ctr">
              <a:buNone/>
            </a:pPr>
            <a:r>
              <a:rPr lang="en-US" sz="1320" dirty="0">
                <a:solidFill>
                  <a:srgbClr val="173242"/>
                </a:solidFill>
                <a:latin typeface="Lato" pitchFamily="34" charset="0"/>
                <a:ea typeface="Lato" pitchFamily="34" charset="-122"/>
                <a:cs typeface="Lato" pitchFamily="34" charset="-120"/>
              </a:rPr>
              <a:t>Frequent-word analysis highlights vocabulary differences between ham and spam. The correlation heatmap is calculated only on engineered numerical text features, making it valid for this text-based dataset.</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E8"/>
        </a:solidFill>
        <a:effectLst/>
      </p:bgPr>
    </p:bg>
    <p:spTree>
      <p:nvGrpSpPr>
        <p:cNvPr id="1" name=""/>
        <p:cNvGrpSpPr/>
        <p:nvPr/>
      </p:nvGrpSpPr>
      <p:grpSpPr>
        <a:xfrm>
          <a:off x="0" y="0"/>
          <a:ext cx="0" cy="0"/>
          <a:chOff x="0" y="0"/>
          <a:chExt cx="0" cy="0"/>
        </a:xfrm>
      </p:grpSpPr>
      <p:sp>
        <p:nvSpPr>
          <p:cNvPr id="2" name="Shape 0"/>
          <p:cNvSpPr/>
          <p:nvPr/>
        </p:nvSpPr>
        <p:spPr>
          <a:xfrm>
            <a:off x="393192" y="91440"/>
            <a:ext cx="11411712" cy="0"/>
          </a:xfrm>
          <a:prstGeom prst="line">
            <a:avLst/>
          </a:prstGeom>
          <a:noFill/>
          <a:ln w="13970">
            <a:solidFill>
              <a:srgbClr val="CBD6BB"/>
            </a:solidFill>
            <a:prstDash val="solid"/>
          </a:ln>
        </p:spPr>
      </p:sp>
      <p:sp>
        <p:nvSpPr>
          <p:cNvPr id="3" name="Shape 1"/>
          <p:cNvSpPr/>
          <p:nvPr/>
        </p:nvSpPr>
        <p:spPr>
          <a:xfrm>
            <a:off x="393192" y="6601968"/>
            <a:ext cx="11411712" cy="0"/>
          </a:xfrm>
          <a:prstGeom prst="line">
            <a:avLst/>
          </a:prstGeom>
          <a:noFill/>
          <a:ln w="13970">
            <a:solidFill>
              <a:srgbClr val="CBD6BB"/>
            </a:solidFill>
            <a:prstDash val="solid"/>
          </a:ln>
        </p:spPr>
      </p:sp>
      <p:sp>
        <p:nvSpPr>
          <p:cNvPr id="4" name="Shape 2"/>
          <p:cNvSpPr/>
          <p:nvPr/>
        </p:nvSpPr>
        <p:spPr>
          <a:xfrm>
            <a:off x="393192" y="91440"/>
            <a:ext cx="0" cy="6510528"/>
          </a:xfrm>
          <a:prstGeom prst="line">
            <a:avLst/>
          </a:prstGeom>
          <a:noFill/>
          <a:ln w="13970">
            <a:solidFill>
              <a:srgbClr val="CBD6BB"/>
            </a:solidFill>
            <a:prstDash val="solid"/>
          </a:ln>
        </p:spPr>
      </p:sp>
      <p:sp>
        <p:nvSpPr>
          <p:cNvPr id="5" name="Shape 3"/>
          <p:cNvSpPr/>
          <p:nvPr/>
        </p:nvSpPr>
        <p:spPr>
          <a:xfrm>
            <a:off x="11804904" y="91440"/>
            <a:ext cx="0" cy="6510528"/>
          </a:xfrm>
          <a:prstGeom prst="line">
            <a:avLst/>
          </a:prstGeom>
          <a:noFill/>
          <a:ln w="13970">
            <a:solidFill>
              <a:srgbClr val="CBD6BB"/>
            </a:solidFill>
            <a:prstDash val="solid"/>
          </a:ln>
        </p:spPr>
      </p:sp>
      <p:sp>
        <p:nvSpPr>
          <p:cNvPr id="6" name="Shape 4"/>
          <p:cNvSpPr/>
          <p:nvPr/>
        </p:nvSpPr>
        <p:spPr>
          <a:xfrm>
            <a:off x="393192" y="749808"/>
            <a:ext cx="11411712" cy="0"/>
          </a:xfrm>
          <a:prstGeom prst="line">
            <a:avLst/>
          </a:prstGeom>
          <a:noFill/>
          <a:ln w="11430">
            <a:solidFill>
              <a:srgbClr val="173242"/>
            </a:solidFill>
            <a:prstDash val="solid"/>
          </a:ln>
        </p:spPr>
      </p:sp>
      <p:sp>
        <p:nvSpPr>
          <p:cNvPr id="7" name="Shape 5"/>
          <p:cNvSpPr/>
          <p:nvPr/>
        </p:nvSpPr>
        <p:spPr>
          <a:xfrm>
            <a:off x="393192" y="1060704"/>
            <a:ext cx="11411712" cy="0"/>
          </a:xfrm>
          <a:prstGeom prst="line">
            <a:avLst/>
          </a:prstGeom>
          <a:noFill/>
          <a:ln w="11430">
            <a:solidFill>
              <a:srgbClr val="173242"/>
            </a:solidFill>
            <a:prstDash val="solid"/>
          </a:ln>
        </p:spPr>
      </p:sp>
      <p:pic>
        <p:nvPicPr>
          <p:cNvPr id="8" name="Image 0" descr="/mnt/data/3b6ce1a3-ac36-48dc-a15a-81eb8802b178.png"/>
          <p:cNvPicPr>
            <a:picLocks noChangeAspect="1"/>
          </p:cNvPicPr>
          <p:nvPr/>
        </p:nvPicPr>
        <p:blipFill>
          <a:blip r:embed="rId3"/>
          <a:stretch>
            <a:fillRect/>
          </a:stretch>
        </p:blipFill>
        <p:spPr>
          <a:xfrm>
            <a:off x="655799" y="182880"/>
            <a:ext cx="1230433" cy="438912"/>
          </a:xfrm>
          <a:prstGeom prst="rect">
            <a:avLst/>
          </a:prstGeom>
        </p:spPr>
      </p:pic>
      <p:sp>
        <p:nvSpPr>
          <p:cNvPr id="9" name="Text 6"/>
          <p:cNvSpPr/>
          <p:nvPr/>
        </p:nvSpPr>
        <p:spPr>
          <a:xfrm>
            <a:off x="2029968" y="182880"/>
            <a:ext cx="6949440" cy="411480"/>
          </a:xfrm>
          <a:prstGeom prst="rect">
            <a:avLst/>
          </a:prstGeom>
          <a:noFill/>
          <a:ln/>
        </p:spPr>
        <p:txBody>
          <a:bodyPr wrap="square" lIns="254" tIns="254" rIns="254" bIns="254" rtlCol="0" anchor="ctr">
            <a:normAutofit/>
          </a:bodyPr>
          <a:lstStyle/>
          <a:p>
            <a:pPr marL="0" indent="0">
              <a:buNone/>
            </a:pPr>
            <a:r>
              <a:rPr lang="en-US" sz="2600" b="1" dirty="0">
                <a:solidFill>
                  <a:srgbClr val="173242"/>
                </a:solidFill>
                <a:latin typeface="Lato" pitchFamily="34" charset="0"/>
                <a:ea typeface="Lato" pitchFamily="34" charset="-122"/>
                <a:cs typeface="Lato" pitchFamily="34" charset="-120"/>
              </a:rPr>
              <a:t>DATASET DESCRIPTION</a:t>
            </a:r>
            <a:endParaRPr lang="en-US" sz="2600" dirty="0"/>
          </a:p>
        </p:txBody>
      </p:sp>
      <p:sp>
        <p:nvSpPr>
          <p:cNvPr id="10" name="Text 7"/>
          <p:cNvSpPr/>
          <p:nvPr/>
        </p:nvSpPr>
        <p:spPr>
          <a:xfrm>
            <a:off x="8549640" y="832104"/>
            <a:ext cx="2788920" cy="146304"/>
          </a:xfrm>
          <a:prstGeom prst="rect">
            <a:avLst/>
          </a:prstGeom>
          <a:noFill/>
          <a:ln/>
        </p:spPr>
        <p:txBody>
          <a:bodyPr wrap="square" lIns="127" tIns="127" rIns="127" bIns="127" rtlCol="0" anchor="ctr">
            <a:normAutofit/>
          </a:bodyPr>
          <a:lstStyle/>
          <a:p>
            <a:pPr marL="0" indent="0" algn="r">
              <a:buNone/>
            </a:pPr>
            <a:r>
              <a:rPr lang="en-US" sz="860" dirty="0">
                <a:solidFill>
                  <a:srgbClr val="173242"/>
                </a:solidFill>
                <a:latin typeface="Lato" pitchFamily="34" charset="0"/>
                <a:ea typeface="Lato" pitchFamily="34" charset="-122"/>
                <a:cs typeface="Lato" pitchFamily="34" charset="-120"/>
              </a:rPr>
              <a:t>ML PROJECT | CSE | SECTION 4</a:t>
            </a:r>
            <a:endParaRPr lang="en-US" sz="860" dirty="0"/>
          </a:p>
        </p:txBody>
      </p:sp>
      <p:sp>
        <p:nvSpPr>
          <p:cNvPr id="11" name="Shape 8"/>
          <p:cNvSpPr/>
          <p:nvPr/>
        </p:nvSpPr>
        <p:spPr>
          <a:xfrm>
            <a:off x="393192" y="5989320"/>
            <a:ext cx="11411712" cy="0"/>
          </a:xfrm>
          <a:prstGeom prst="line">
            <a:avLst/>
          </a:prstGeom>
          <a:noFill/>
          <a:ln w="11430">
            <a:solidFill>
              <a:srgbClr val="173242"/>
            </a:solidFill>
            <a:prstDash val="solid"/>
          </a:ln>
        </p:spPr>
      </p:sp>
      <p:sp>
        <p:nvSpPr>
          <p:cNvPr id="12" name="Shape 9"/>
          <p:cNvSpPr/>
          <p:nvPr/>
        </p:nvSpPr>
        <p:spPr>
          <a:xfrm>
            <a:off x="393192" y="6309360"/>
            <a:ext cx="11411712" cy="0"/>
          </a:xfrm>
          <a:prstGeom prst="line">
            <a:avLst/>
          </a:prstGeom>
          <a:noFill/>
          <a:ln w="11430">
            <a:solidFill>
              <a:srgbClr val="173242"/>
            </a:solidFill>
            <a:prstDash val="solid"/>
          </a:ln>
        </p:spPr>
      </p:sp>
      <p:sp>
        <p:nvSpPr>
          <p:cNvPr id="13" name="Text 10"/>
          <p:cNvSpPr/>
          <p:nvPr/>
        </p:nvSpPr>
        <p:spPr>
          <a:xfrm>
            <a:off x="713232" y="6108192"/>
            <a:ext cx="8138160" cy="146304"/>
          </a:xfrm>
          <a:prstGeom prst="rect">
            <a:avLst/>
          </a:prstGeom>
          <a:noFill/>
          <a:ln/>
        </p:spPr>
        <p:txBody>
          <a:bodyPr wrap="square" lIns="127" tIns="127" rIns="127" bIns="127" rtlCol="0" anchor="ctr">
            <a:normAutofit/>
          </a:bodyPr>
          <a:lstStyle/>
          <a:p>
            <a:pPr marL="0" indent="0">
              <a:buNone/>
            </a:pPr>
            <a:r>
              <a:rPr lang="en-US" sz="800" dirty="0">
                <a:solidFill>
                  <a:srgbClr val="173242"/>
                </a:solidFill>
                <a:latin typeface="Lato" pitchFamily="34" charset="0"/>
                <a:ea typeface="Lato" pitchFamily="34" charset="-122"/>
                <a:cs typeface="Lato" pitchFamily="34" charset="-120"/>
              </a:rPr>
              <a:t>SPAM EMAIL CLASSIFICATION USING NAIVE BAYES AND SUPPORT VECTOR MACHINE</a:t>
            </a:r>
            <a:endParaRPr lang="en-US" sz="800" dirty="0"/>
          </a:p>
        </p:txBody>
      </p:sp>
      <p:sp>
        <p:nvSpPr>
          <p:cNvPr id="14" name="Text 11"/>
          <p:cNvSpPr/>
          <p:nvPr/>
        </p:nvSpPr>
        <p:spPr>
          <a:xfrm>
            <a:off x="10058400" y="6108192"/>
            <a:ext cx="1298448" cy="146304"/>
          </a:xfrm>
          <a:prstGeom prst="rect">
            <a:avLst/>
          </a:prstGeom>
          <a:noFill/>
          <a:ln/>
        </p:spPr>
        <p:txBody>
          <a:bodyPr wrap="square" lIns="127" tIns="127" rIns="127" bIns="127" rtlCol="0" anchor="ctr"/>
          <a:lstStyle/>
          <a:p>
            <a:pPr marL="0" indent="0" algn="r">
              <a:buNone/>
            </a:pPr>
            <a:r>
              <a:rPr lang="en-US" sz="800" dirty="0">
                <a:solidFill>
                  <a:srgbClr val="173242"/>
                </a:solidFill>
                <a:latin typeface="Lato" pitchFamily="34" charset="0"/>
                <a:ea typeface="Lato" pitchFamily="34" charset="-122"/>
                <a:cs typeface="Lato" pitchFamily="34" charset="-120"/>
              </a:rPr>
              <a:t>A.Y. 2026–27</a:t>
            </a:r>
            <a:endParaRPr lang="en-US" sz="800" dirty="0"/>
          </a:p>
        </p:txBody>
      </p:sp>
      <p:sp>
        <p:nvSpPr>
          <p:cNvPr id="15" name="Text 12"/>
          <p:cNvSpPr/>
          <p:nvPr/>
        </p:nvSpPr>
        <p:spPr>
          <a:xfrm>
            <a:off x="868680" y="1298448"/>
            <a:ext cx="3886200" cy="1051560"/>
          </a:xfrm>
          <a:prstGeom prst="rect">
            <a:avLst/>
          </a:prstGeom>
          <a:noFill/>
          <a:ln/>
        </p:spPr>
        <p:txBody>
          <a:bodyPr wrap="square" lIns="127" tIns="127" rIns="127" bIns="127" rtlCol="0" anchor="ctr">
            <a:normAutofit/>
          </a:bodyPr>
          <a:lstStyle/>
          <a:p>
            <a:pPr marL="0" indent="0" algn="l">
              <a:buNone/>
            </a:pPr>
            <a:r>
              <a:rPr lang="en-US" sz="4000" b="1" dirty="0">
                <a:solidFill>
                  <a:srgbClr val="173242"/>
                </a:solidFill>
                <a:latin typeface="Lato" pitchFamily="34" charset="0"/>
                <a:ea typeface="Lato" pitchFamily="34" charset="-122"/>
                <a:cs typeface="Lato" pitchFamily="34" charset="-120"/>
              </a:rPr>
              <a:t>PROJECT</a:t>
            </a:r>
            <a:endParaRPr lang="en-US" sz="4000" dirty="0"/>
          </a:p>
          <a:p>
            <a:pPr marL="0" indent="0" algn="l">
              <a:buNone/>
            </a:pPr>
            <a:r>
              <a:rPr lang="en-US" sz="4000" b="1" dirty="0">
                <a:solidFill>
                  <a:srgbClr val="173242"/>
                </a:solidFill>
                <a:latin typeface="Lato" pitchFamily="34" charset="0"/>
                <a:ea typeface="Lato" pitchFamily="34" charset="-122"/>
                <a:cs typeface="Lato" pitchFamily="34" charset="-120"/>
              </a:rPr>
              <a:t>DATASET</a:t>
            </a:r>
            <a:endParaRPr lang="en-US" sz="4000" dirty="0"/>
          </a:p>
        </p:txBody>
      </p:sp>
      <p:sp>
        <p:nvSpPr>
          <p:cNvPr id="16" name="Text 13"/>
          <p:cNvSpPr/>
          <p:nvPr/>
        </p:nvSpPr>
        <p:spPr>
          <a:xfrm>
            <a:off x="868680" y="2670048"/>
            <a:ext cx="4846320" cy="2450592"/>
          </a:xfrm>
          <a:prstGeom prst="rect">
            <a:avLst/>
          </a:prstGeom>
          <a:noFill/>
          <a:ln/>
        </p:spPr>
        <p:txBody>
          <a:bodyPr wrap="square" lIns="635" tIns="635" rIns="635" bIns="635" rtlCol="0" anchor="ctr">
            <a:normAutofit/>
          </a:bodyPr>
          <a:lstStyle/>
          <a:p>
            <a:pPr marL="203200" indent="-203200">
              <a:buSzPct val="100000"/>
              <a:buChar char="•"/>
            </a:pPr>
            <a:r>
              <a:rPr lang="en-US" sz="1560" dirty="0">
                <a:solidFill>
                  <a:srgbClr val="173242"/>
                </a:solidFill>
                <a:latin typeface="Lato" pitchFamily="34" charset="0"/>
                <a:ea typeface="Lato" pitchFamily="34" charset="-122"/>
                <a:cs typeface="Lato" pitchFamily="34" charset="-120"/>
              </a:rPr>
              <a:t>Dataset file: spam.csv</a:t>
            </a:r>
            <a:endParaRPr lang="en-US" sz="1560" dirty="0"/>
          </a:p>
          <a:p>
            <a:pPr marL="203200" indent="-203200">
              <a:buSzPct val="100000"/>
              <a:buChar char="•"/>
            </a:pPr>
            <a:r>
              <a:rPr lang="en-US" sz="1560" dirty="0">
                <a:solidFill>
                  <a:srgbClr val="173242"/>
                </a:solidFill>
                <a:latin typeface="Lato" pitchFamily="34" charset="0"/>
                <a:ea typeface="Lato" pitchFamily="34" charset="-122"/>
                <a:cs typeface="Lato" pitchFamily="34" charset="-120"/>
              </a:rPr>
              <a:t>Raw records: 5,572 labelled messages</a:t>
            </a:r>
            <a:endParaRPr lang="en-US" sz="1560" dirty="0"/>
          </a:p>
          <a:p>
            <a:pPr marL="203200" indent="-203200">
              <a:buSzPct val="100000"/>
              <a:buChar char="•"/>
            </a:pPr>
            <a:r>
              <a:rPr lang="en-US" sz="1560" dirty="0">
                <a:solidFill>
                  <a:srgbClr val="173242"/>
                </a:solidFill>
                <a:latin typeface="Lato" pitchFamily="34" charset="0"/>
                <a:ea typeface="Lato" pitchFamily="34" charset="-122"/>
                <a:cs typeface="Lato" pitchFamily="34" charset="-120"/>
              </a:rPr>
              <a:t>Clean records after duplicate removal: 5,169</a:t>
            </a:r>
            <a:endParaRPr lang="en-US" sz="1560" dirty="0"/>
          </a:p>
          <a:p>
            <a:pPr marL="203200" indent="-203200">
              <a:buSzPct val="100000"/>
              <a:buChar char="•"/>
            </a:pPr>
            <a:r>
              <a:rPr lang="en-US" sz="1560" dirty="0">
                <a:solidFill>
                  <a:srgbClr val="173242"/>
                </a:solidFill>
                <a:latin typeface="Lato" pitchFamily="34" charset="0"/>
                <a:ea typeface="Lato" pitchFamily="34" charset="-122"/>
                <a:cs typeface="Lato" pitchFamily="34" charset="-120"/>
              </a:rPr>
              <a:t>Main columns: label and message</a:t>
            </a:r>
            <a:endParaRPr lang="en-US" sz="1560" dirty="0"/>
          </a:p>
          <a:p>
            <a:pPr marL="203200" indent="-203200">
              <a:buSzPct val="100000"/>
              <a:buChar char="•"/>
            </a:pPr>
            <a:r>
              <a:rPr lang="en-US" sz="1560" dirty="0">
                <a:solidFill>
                  <a:srgbClr val="173242"/>
                </a:solidFill>
                <a:latin typeface="Lato" pitchFamily="34" charset="0"/>
                <a:ea typeface="Lato" pitchFamily="34" charset="-122"/>
                <a:cs typeface="Lato" pitchFamily="34" charset="-120"/>
              </a:rPr>
              <a:t>Labels: ham and spam</a:t>
            </a:r>
            <a:endParaRPr lang="en-US" sz="1560" dirty="0"/>
          </a:p>
          <a:p>
            <a:pPr marL="203200" indent="-203200">
              <a:buSzPct val="100000"/>
              <a:buChar char="•"/>
            </a:pPr>
            <a:r>
              <a:rPr lang="en-US" sz="1560" dirty="0">
                <a:solidFill>
                  <a:srgbClr val="173242"/>
                </a:solidFill>
                <a:latin typeface="Lato" pitchFamily="34" charset="0"/>
                <a:ea typeface="Lato" pitchFamily="34" charset="-122"/>
                <a:cs typeface="Lato" pitchFamily="34" charset="-120"/>
              </a:rPr>
              <a:t>Storage format: CSV</a:t>
            </a:r>
            <a:endParaRPr lang="en-US" sz="1560" dirty="0"/>
          </a:p>
        </p:txBody>
      </p:sp>
      <p:sp>
        <p:nvSpPr>
          <p:cNvPr id="17" name="Text 14"/>
          <p:cNvSpPr/>
          <p:nvPr/>
        </p:nvSpPr>
        <p:spPr>
          <a:xfrm>
            <a:off x="6400800" y="1298448"/>
            <a:ext cx="3840480" cy="1051560"/>
          </a:xfrm>
          <a:prstGeom prst="rect">
            <a:avLst/>
          </a:prstGeom>
          <a:noFill/>
          <a:ln/>
        </p:spPr>
        <p:txBody>
          <a:bodyPr wrap="square" lIns="127" tIns="127" rIns="127" bIns="127" rtlCol="0" anchor="ctr">
            <a:normAutofit/>
          </a:bodyPr>
          <a:lstStyle/>
          <a:p>
            <a:pPr marL="0" indent="0" algn="l">
              <a:buNone/>
            </a:pPr>
            <a:r>
              <a:rPr lang="en-US" sz="4000" b="1" dirty="0">
                <a:solidFill>
                  <a:srgbClr val="173242"/>
                </a:solidFill>
                <a:latin typeface="Lato" pitchFamily="34" charset="0"/>
                <a:ea typeface="Lato" pitchFamily="34" charset="-122"/>
                <a:cs typeface="Lato" pitchFamily="34" charset="-120"/>
              </a:rPr>
              <a:t>WHY IT</a:t>
            </a:r>
            <a:endParaRPr lang="en-US" sz="4000" dirty="0"/>
          </a:p>
          <a:p>
            <a:pPr marL="0" indent="0" algn="l">
              <a:buNone/>
            </a:pPr>
            <a:r>
              <a:rPr lang="en-US" sz="4000" b="1" dirty="0">
                <a:solidFill>
                  <a:srgbClr val="173242"/>
                </a:solidFill>
                <a:latin typeface="Lato" pitchFamily="34" charset="0"/>
                <a:ea typeface="Lato" pitchFamily="34" charset="-122"/>
                <a:cs typeface="Lato" pitchFamily="34" charset="-120"/>
              </a:rPr>
              <a:t>FITS</a:t>
            </a:r>
            <a:endParaRPr lang="en-US" sz="4000" dirty="0"/>
          </a:p>
        </p:txBody>
      </p:sp>
      <p:sp>
        <p:nvSpPr>
          <p:cNvPr id="18" name="Text 15"/>
          <p:cNvSpPr/>
          <p:nvPr/>
        </p:nvSpPr>
        <p:spPr>
          <a:xfrm>
            <a:off x="6400800" y="2670048"/>
            <a:ext cx="4773168" cy="2011680"/>
          </a:xfrm>
          <a:prstGeom prst="rect">
            <a:avLst/>
          </a:prstGeom>
          <a:solidFill>
            <a:srgbClr val="FAFCF0"/>
          </a:solidFill>
          <a:ln w="12700">
            <a:solidFill>
              <a:srgbClr val="176563"/>
            </a:solidFill>
          </a:ln>
        </p:spPr>
        <p:txBody>
          <a:bodyPr wrap="square" lIns="1524" tIns="1524" rIns="1524" bIns="1524" rtlCol="0" anchor="ctr">
            <a:normAutofit/>
          </a:bodyPr>
          <a:lstStyle/>
          <a:p>
            <a:pPr marL="0" indent="0" algn="l">
              <a:buNone/>
            </a:pPr>
            <a:r>
              <a:rPr lang="en-US" sz="1700" dirty="0">
                <a:solidFill>
                  <a:srgbClr val="173242"/>
                </a:solidFill>
                <a:latin typeface="Lato" pitchFamily="34" charset="0"/>
                <a:ea typeface="Lato" pitchFamily="34" charset="-122"/>
                <a:cs typeface="Lato" pitchFamily="34" charset="-120"/>
              </a:rPr>
              <a:t>The dataset is suitable for supervised machine learning because every message has a known ham/spam label. Its short text format makes it ideal for preprocessing, vectorization and comparison of Naive Bayes and SVM models. The class imbalance also makes the project academically useful because it requires careful evaluation beyond simple accuracy.</a:t>
            </a:r>
            <a:endParaRPr lang="en-US" sz="1700" dirty="0"/>
          </a:p>
        </p:txBody>
      </p:sp>
      <p:sp>
        <p:nvSpPr>
          <p:cNvPr id="19" name="Text 16"/>
          <p:cNvSpPr/>
          <p:nvPr/>
        </p:nvSpPr>
        <p:spPr>
          <a:xfrm>
            <a:off x="6400800" y="5010912"/>
            <a:ext cx="1097280" cy="640080"/>
          </a:xfrm>
          <a:prstGeom prst="rect">
            <a:avLst/>
          </a:prstGeom>
          <a:solidFill>
            <a:srgbClr val="FAFCF0"/>
          </a:solidFill>
          <a:ln w="16510">
            <a:solidFill>
              <a:srgbClr val="176563"/>
            </a:solidFill>
          </a:ln>
        </p:spPr>
        <p:txBody>
          <a:bodyPr wrap="square" lIns="508" tIns="508" rIns="508" bIns="508" rtlCol="0" anchor="ctr">
            <a:normAutofit/>
          </a:bodyPr>
          <a:lstStyle/>
          <a:p>
            <a:pPr marL="0" indent="0" algn="ctr">
              <a:buNone/>
            </a:pPr>
            <a:r>
              <a:rPr lang="en-US" sz="2500" b="1" dirty="0">
                <a:solidFill>
                  <a:srgbClr val="176563"/>
                </a:solidFill>
                <a:latin typeface="Lato" pitchFamily="34" charset="0"/>
                <a:ea typeface="Lato" pitchFamily="34" charset="-122"/>
                <a:cs typeface="Lato" pitchFamily="34" charset="-120"/>
              </a:rPr>
              <a:t>CSV
</a:t>
            </a:r>
            <a:r>
              <a:rPr lang="en-US" sz="1000" b="1" dirty="0">
                <a:solidFill>
                  <a:srgbClr val="176563"/>
                </a:solidFill>
                <a:latin typeface="Lato" pitchFamily="34" charset="0"/>
                <a:ea typeface="Lato" pitchFamily="34" charset="-122"/>
                <a:cs typeface="Lato" pitchFamily="34" charset="-120"/>
              </a:rPr>
              <a:t>STORAGE</a:t>
            </a:r>
            <a:endParaRPr lang="en-US" sz="2500" dirty="0"/>
          </a:p>
        </p:txBody>
      </p:sp>
      <p:sp>
        <p:nvSpPr>
          <p:cNvPr id="20" name="Text 17"/>
          <p:cNvSpPr/>
          <p:nvPr/>
        </p:nvSpPr>
        <p:spPr>
          <a:xfrm>
            <a:off x="7818120" y="5010912"/>
            <a:ext cx="914400" cy="640080"/>
          </a:xfrm>
          <a:prstGeom prst="rect">
            <a:avLst/>
          </a:prstGeom>
          <a:solidFill>
            <a:srgbClr val="FAFCF0"/>
          </a:solidFill>
          <a:ln w="16510">
            <a:solidFill>
              <a:srgbClr val="9F303A"/>
            </a:solidFill>
          </a:ln>
        </p:spPr>
        <p:txBody>
          <a:bodyPr wrap="square" lIns="508" tIns="508" rIns="508" bIns="508" rtlCol="0" anchor="ctr">
            <a:normAutofit/>
          </a:bodyPr>
          <a:lstStyle/>
          <a:p>
            <a:pPr marL="0" indent="0" algn="ctr">
              <a:buNone/>
            </a:pPr>
            <a:r>
              <a:rPr lang="en-US" sz="2500" b="1" dirty="0">
                <a:solidFill>
                  <a:srgbClr val="9F303A"/>
                </a:solidFill>
                <a:latin typeface="Lato" pitchFamily="34" charset="0"/>
                <a:ea typeface="Lato" pitchFamily="34" charset="-122"/>
                <a:cs typeface="Lato" pitchFamily="34" charset="-120"/>
              </a:rPr>
              <a:t>2
</a:t>
            </a:r>
            <a:r>
              <a:rPr lang="en-US" sz="1000" b="1" dirty="0">
                <a:solidFill>
                  <a:srgbClr val="9F303A"/>
                </a:solidFill>
                <a:latin typeface="Lato" pitchFamily="34" charset="0"/>
                <a:ea typeface="Lato" pitchFamily="34" charset="-122"/>
                <a:cs typeface="Lato" pitchFamily="34" charset="-120"/>
              </a:rPr>
              <a:t>CLASSES</a:t>
            </a:r>
            <a:endParaRPr lang="en-US" sz="2500" dirty="0"/>
          </a:p>
        </p:txBody>
      </p:sp>
      <p:sp>
        <p:nvSpPr>
          <p:cNvPr id="21" name="Text 18"/>
          <p:cNvSpPr/>
          <p:nvPr/>
        </p:nvSpPr>
        <p:spPr>
          <a:xfrm>
            <a:off x="9052560" y="5010912"/>
            <a:ext cx="1261872" cy="640080"/>
          </a:xfrm>
          <a:prstGeom prst="rect">
            <a:avLst/>
          </a:prstGeom>
          <a:solidFill>
            <a:srgbClr val="FAFCF0"/>
          </a:solidFill>
          <a:ln w="16510">
            <a:solidFill>
              <a:srgbClr val="176563"/>
            </a:solidFill>
          </a:ln>
        </p:spPr>
        <p:txBody>
          <a:bodyPr wrap="square" lIns="508" tIns="508" rIns="508" bIns="508" rtlCol="0" anchor="ctr">
            <a:normAutofit/>
          </a:bodyPr>
          <a:lstStyle/>
          <a:p>
            <a:pPr marL="0" indent="0" algn="ctr">
              <a:buNone/>
            </a:pPr>
            <a:r>
              <a:rPr lang="en-US" sz="2500" b="1" dirty="0">
                <a:solidFill>
                  <a:srgbClr val="176563"/>
                </a:solidFill>
                <a:latin typeface="Lato" pitchFamily="34" charset="0"/>
                <a:ea typeface="Lato" pitchFamily="34" charset="-122"/>
                <a:cs typeface="Lato" pitchFamily="34" charset="-120"/>
              </a:rPr>
              <a:t>5,169
</a:t>
            </a:r>
            <a:r>
              <a:rPr lang="en-US" sz="1000" b="1" dirty="0">
                <a:solidFill>
                  <a:srgbClr val="176563"/>
                </a:solidFill>
                <a:latin typeface="Lato" pitchFamily="34" charset="0"/>
                <a:ea typeface="Lato" pitchFamily="34" charset="-122"/>
                <a:cs typeface="Lato" pitchFamily="34" charset="-120"/>
              </a:rPr>
              <a:t>CLEANED ROWS</a:t>
            </a:r>
            <a:endParaRPr lang="en-US" sz="2500" dirty="0"/>
          </a:p>
        </p:txBody>
      </p:sp>
      <p:sp>
        <p:nvSpPr>
          <p:cNvPr id="22" name="Text 19"/>
          <p:cNvSpPr/>
          <p:nvPr/>
        </p:nvSpPr>
        <p:spPr>
          <a:xfrm>
            <a:off x="10625328" y="5010912"/>
            <a:ext cx="804672" cy="640080"/>
          </a:xfrm>
          <a:prstGeom prst="rect">
            <a:avLst/>
          </a:prstGeom>
          <a:solidFill>
            <a:srgbClr val="FAFCF0"/>
          </a:solidFill>
          <a:ln w="16510">
            <a:solidFill>
              <a:srgbClr val="9F303A"/>
            </a:solidFill>
          </a:ln>
        </p:spPr>
        <p:txBody>
          <a:bodyPr wrap="square" lIns="508" tIns="508" rIns="508" bIns="508" rtlCol="0" anchor="ctr">
            <a:normAutofit/>
          </a:bodyPr>
          <a:lstStyle/>
          <a:p>
            <a:pPr marL="0" indent="0" algn="ctr">
              <a:buNone/>
            </a:pPr>
            <a:r>
              <a:rPr lang="en-US" sz="2500" b="1" dirty="0">
                <a:solidFill>
                  <a:srgbClr val="9F303A"/>
                </a:solidFill>
                <a:latin typeface="Lato" pitchFamily="34" charset="0"/>
                <a:ea typeface="Lato" pitchFamily="34" charset="-122"/>
                <a:cs typeface="Lato" pitchFamily="34" charset="-120"/>
              </a:rPr>
              <a:t>NLP
</a:t>
            </a:r>
            <a:r>
              <a:rPr lang="en-US" sz="1000" b="1" dirty="0">
                <a:solidFill>
                  <a:srgbClr val="9F303A"/>
                </a:solidFill>
                <a:latin typeface="Lato" pitchFamily="34" charset="0"/>
                <a:ea typeface="Lato" pitchFamily="34" charset="-122"/>
                <a:cs typeface="Lato" pitchFamily="34" charset="-120"/>
              </a:rPr>
              <a:t>PROBLEM TYPE</a:t>
            </a:r>
            <a:endParaRPr lang="en-US" sz="2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E8"/>
        </a:solidFill>
        <a:effectLst/>
      </p:bgPr>
    </p:bg>
    <p:spTree>
      <p:nvGrpSpPr>
        <p:cNvPr id="1" name=""/>
        <p:cNvGrpSpPr/>
        <p:nvPr/>
      </p:nvGrpSpPr>
      <p:grpSpPr>
        <a:xfrm>
          <a:off x="0" y="0"/>
          <a:ext cx="0" cy="0"/>
          <a:chOff x="0" y="0"/>
          <a:chExt cx="0" cy="0"/>
        </a:xfrm>
      </p:grpSpPr>
      <p:sp>
        <p:nvSpPr>
          <p:cNvPr id="2" name="Shape 0"/>
          <p:cNvSpPr/>
          <p:nvPr/>
        </p:nvSpPr>
        <p:spPr>
          <a:xfrm>
            <a:off x="393192" y="91440"/>
            <a:ext cx="11411712" cy="0"/>
          </a:xfrm>
          <a:prstGeom prst="line">
            <a:avLst/>
          </a:prstGeom>
          <a:noFill/>
          <a:ln w="13970">
            <a:solidFill>
              <a:srgbClr val="CBD6BB"/>
            </a:solidFill>
            <a:prstDash val="solid"/>
          </a:ln>
        </p:spPr>
      </p:sp>
      <p:sp>
        <p:nvSpPr>
          <p:cNvPr id="3" name="Shape 1"/>
          <p:cNvSpPr/>
          <p:nvPr/>
        </p:nvSpPr>
        <p:spPr>
          <a:xfrm>
            <a:off x="393192" y="6601968"/>
            <a:ext cx="11411712" cy="0"/>
          </a:xfrm>
          <a:prstGeom prst="line">
            <a:avLst/>
          </a:prstGeom>
          <a:noFill/>
          <a:ln w="13970">
            <a:solidFill>
              <a:srgbClr val="CBD6BB"/>
            </a:solidFill>
            <a:prstDash val="solid"/>
          </a:ln>
        </p:spPr>
      </p:sp>
      <p:sp>
        <p:nvSpPr>
          <p:cNvPr id="4" name="Shape 2"/>
          <p:cNvSpPr/>
          <p:nvPr/>
        </p:nvSpPr>
        <p:spPr>
          <a:xfrm>
            <a:off x="393192" y="91440"/>
            <a:ext cx="0" cy="6510528"/>
          </a:xfrm>
          <a:prstGeom prst="line">
            <a:avLst/>
          </a:prstGeom>
          <a:noFill/>
          <a:ln w="13970">
            <a:solidFill>
              <a:srgbClr val="CBD6BB"/>
            </a:solidFill>
            <a:prstDash val="solid"/>
          </a:ln>
        </p:spPr>
      </p:sp>
      <p:sp>
        <p:nvSpPr>
          <p:cNvPr id="5" name="Shape 3"/>
          <p:cNvSpPr/>
          <p:nvPr/>
        </p:nvSpPr>
        <p:spPr>
          <a:xfrm>
            <a:off x="11804904" y="91440"/>
            <a:ext cx="0" cy="6510528"/>
          </a:xfrm>
          <a:prstGeom prst="line">
            <a:avLst/>
          </a:prstGeom>
          <a:noFill/>
          <a:ln w="13970">
            <a:solidFill>
              <a:srgbClr val="CBD6BB"/>
            </a:solidFill>
            <a:prstDash val="solid"/>
          </a:ln>
        </p:spPr>
      </p:sp>
      <p:sp>
        <p:nvSpPr>
          <p:cNvPr id="6" name="Shape 4"/>
          <p:cNvSpPr/>
          <p:nvPr/>
        </p:nvSpPr>
        <p:spPr>
          <a:xfrm>
            <a:off x="393192" y="749808"/>
            <a:ext cx="11411712" cy="0"/>
          </a:xfrm>
          <a:prstGeom prst="line">
            <a:avLst/>
          </a:prstGeom>
          <a:noFill/>
          <a:ln w="11430">
            <a:solidFill>
              <a:srgbClr val="173242"/>
            </a:solidFill>
            <a:prstDash val="solid"/>
          </a:ln>
        </p:spPr>
      </p:sp>
      <p:sp>
        <p:nvSpPr>
          <p:cNvPr id="7" name="Shape 5"/>
          <p:cNvSpPr/>
          <p:nvPr/>
        </p:nvSpPr>
        <p:spPr>
          <a:xfrm>
            <a:off x="393192" y="1060704"/>
            <a:ext cx="11411712" cy="0"/>
          </a:xfrm>
          <a:prstGeom prst="line">
            <a:avLst/>
          </a:prstGeom>
          <a:noFill/>
          <a:ln w="11430">
            <a:solidFill>
              <a:srgbClr val="173242"/>
            </a:solidFill>
            <a:prstDash val="solid"/>
          </a:ln>
        </p:spPr>
      </p:sp>
      <p:pic>
        <p:nvPicPr>
          <p:cNvPr id="8" name="Image 0" descr="/mnt/data/3b6ce1a3-ac36-48dc-a15a-81eb8802b178.png"/>
          <p:cNvPicPr>
            <a:picLocks noChangeAspect="1"/>
          </p:cNvPicPr>
          <p:nvPr/>
        </p:nvPicPr>
        <p:blipFill>
          <a:blip r:embed="rId3"/>
          <a:stretch>
            <a:fillRect/>
          </a:stretch>
        </p:blipFill>
        <p:spPr>
          <a:xfrm>
            <a:off x="655799" y="182880"/>
            <a:ext cx="1230433" cy="438912"/>
          </a:xfrm>
          <a:prstGeom prst="rect">
            <a:avLst/>
          </a:prstGeom>
        </p:spPr>
      </p:pic>
      <p:sp>
        <p:nvSpPr>
          <p:cNvPr id="9" name="Text 6"/>
          <p:cNvSpPr/>
          <p:nvPr/>
        </p:nvSpPr>
        <p:spPr>
          <a:xfrm>
            <a:off x="2029968" y="182880"/>
            <a:ext cx="6949440" cy="411480"/>
          </a:xfrm>
          <a:prstGeom prst="rect">
            <a:avLst/>
          </a:prstGeom>
          <a:noFill/>
          <a:ln/>
        </p:spPr>
        <p:txBody>
          <a:bodyPr wrap="square" lIns="254" tIns="254" rIns="254" bIns="254" rtlCol="0" anchor="ctr">
            <a:normAutofit/>
          </a:bodyPr>
          <a:lstStyle/>
          <a:p>
            <a:pPr marL="0" indent="0">
              <a:buNone/>
            </a:pPr>
            <a:r>
              <a:rPr lang="en-US" sz="2600" b="1" dirty="0">
                <a:solidFill>
                  <a:srgbClr val="173242"/>
                </a:solidFill>
                <a:latin typeface="Lato" pitchFamily="34" charset="0"/>
                <a:ea typeface="Lato" pitchFamily="34" charset="-122"/>
                <a:cs typeface="Lato" pitchFamily="34" charset="-120"/>
              </a:rPr>
              <a:t>CONCLUSION</a:t>
            </a:r>
            <a:endParaRPr lang="en-US" sz="2600" dirty="0"/>
          </a:p>
        </p:txBody>
      </p:sp>
      <p:sp>
        <p:nvSpPr>
          <p:cNvPr id="10" name="Text 7"/>
          <p:cNvSpPr/>
          <p:nvPr/>
        </p:nvSpPr>
        <p:spPr>
          <a:xfrm>
            <a:off x="8549640" y="832104"/>
            <a:ext cx="2788920" cy="146304"/>
          </a:xfrm>
          <a:prstGeom prst="rect">
            <a:avLst/>
          </a:prstGeom>
          <a:noFill/>
          <a:ln/>
        </p:spPr>
        <p:txBody>
          <a:bodyPr wrap="square" lIns="127" tIns="127" rIns="127" bIns="127" rtlCol="0" anchor="ctr">
            <a:normAutofit/>
          </a:bodyPr>
          <a:lstStyle/>
          <a:p>
            <a:pPr marL="0" indent="0" algn="r">
              <a:buNone/>
            </a:pPr>
            <a:r>
              <a:rPr lang="en-US" sz="860" dirty="0">
                <a:solidFill>
                  <a:srgbClr val="173242"/>
                </a:solidFill>
                <a:latin typeface="Lato" pitchFamily="34" charset="0"/>
                <a:ea typeface="Lato" pitchFamily="34" charset="-122"/>
                <a:cs typeface="Lato" pitchFamily="34" charset="-120"/>
              </a:rPr>
              <a:t>ML PROJECT | CSE | SECTION 4</a:t>
            </a:r>
            <a:endParaRPr lang="en-US" sz="860" dirty="0"/>
          </a:p>
        </p:txBody>
      </p:sp>
      <p:sp>
        <p:nvSpPr>
          <p:cNvPr id="11" name="Shape 8"/>
          <p:cNvSpPr/>
          <p:nvPr/>
        </p:nvSpPr>
        <p:spPr>
          <a:xfrm>
            <a:off x="393192" y="5989320"/>
            <a:ext cx="11411712" cy="0"/>
          </a:xfrm>
          <a:prstGeom prst="line">
            <a:avLst/>
          </a:prstGeom>
          <a:noFill/>
          <a:ln w="11430">
            <a:solidFill>
              <a:srgbClr val="173242"/>
            </a:solidFill>
            <a:prstDash val="solid"/>
          </a:ln>
        </p:spPr>
      </p:sp>
      <p:sp>
        <p:nvSpPr>
          <p:cNvPr id="12" name="Shape 9"/>
          <p:cNvSpPr/>
          <p:nvPr/>
        </p:nvSpPr>
        <p:spPr>
          <a:xfrm>
            <a:off x="393192" y="6309360"/>
            <a:ext cx="11411712" cy="0"/>
          </a:xfrm>
          <a:prstGeom prst="line">
            <a:avLst/>
          </a:prstGeom>
          <a:noFill/>
          <a:ln w="11430">
            <a:solidFill>
              <a:srgbClr val="173242"/>
            </a:solidFill>
            <a:prstDash val="solid"/>
          </a:ln>
        </p:spPr>
      </p:sp>
      <p:sp>
        <p:nvSpPr>
          <p:cNvPr id="13" name="Text 10"/>
          <p:cNvSpPr/>
          <p:nvPr/>
        </p:nvSpPr>
        <p:spPr>
          <a:xfrm>
            <a:off x="713232" y="6108192"/>
            <a:ext cx="8138160" cy="146304"/>
          </a:xfrm>
          <a:prstGeom prst="rect">
            <a:avLst/>
          </a:prstGeom>
          <a:noFill/>
          <a:ln/>
        </p:spPr>
        <p:txBody>
          <a:bodyPr wrap="square" lIns="127" tIns="127" rIns="127" bIns="127" rtlCol="0" anchor="ctr">
            <a:normAutofit/>
          </a:bodyPr>
          <a:lstStyle/>
          <a:p>
            <a:pPr marL="0" indent="0">
              <a:buNone/>
            </a:pPr>
            <a:r>
              <a:rPr lang="en-US" sz="800" dirty="0">
                <a:solidFill>
                  <a:srgbClr val="173242"/>
                </a:solidFill>
                <a:latin typeface="Lato" pitchFamily="34" charset="0"/>
                <a:ea typeface="Lato" pitchFamily="34" charset="-122"/>
                <a:cs typeface="Lato" pitchFamily="34" charset="-120"/>
              </a:rPr>
              <a:t>SPAM EMAIL CLASSIFICATION USING NAIVE BAYES AND SUPPORT VECTOR MACHINE</a:t>
            </a:r>
            <a:endParaRPr lang="en-US" sz="800" dirty="0"/>
          </a:p>
        </p:txBody>
      </p:sp>
      <p:sp>
        <p:nvSpPr>
          <p:cNvPr id="14" name="Text 11"/>
          <p:cNvSpPr/>
          <p:nvPr/>
        </p:nvSpPr>
        <p:spPr>
          <a:xfrm>
            <a:off x="10058400" y="6108192"/>
            <a:ext cx="1298448" cy="146304"/>
          </a:xfrm>
          <a:prstGeom prst="rect">
            <a:avLst/>
          </a:prstGeom>
          <a:noFill/>
          <a:ln/>
        </p:spPr>
        <p:txBody>
          <a:bodyPr wrap="square" lIns="127" tIns="127" rIns="127" bIns="127" rtlCol="0" anchor="ctr"/>
          <a:lstStyle/>
          <a:p>
            <a:pPr marL="0" indent="0" algn="r">
              <a:buNone/>
            </a:pPr>
            <a:r>
              <a:rPr lang="en-US" sz="800" dirty="0">
                <a:solidFill>
                  <a:srgbClr val="173242"/>
                </a:solidFill>
                <a:latin typeface="Lato" pitchFamily="34" charset="0"/>
                <a:ea typeface="Lato" pitchFamily="34" charset="-122"/>
                <a:cs typeface="Lato" pitchFamily="34" charset="-120"/>
              </a:rPr>
              <a:t>A.Y. 2026–27</a:t>
            </a:r>
            <a:endParaRPr lang="en-US" sz="800" dirty="0"/>
          </a:p>
        </p:txBody>
      </p:sp>
      <p:sp>
        <p:nvSpPr>
          <p:cNvPr id="15" name="Text 12"/>
          <p:cNvSpPr/>
          <p:nvPr/>
        </p:nvSpPr>
        <p:spPr>
          <a:xfrm>
            <a:off x="859536" y="1353312"/>
            <a:ext cx="4754880" cy="621792"/>
          </a:xfrm>
          <a:prstGeom prst="rect">
            <a:avLst/>
          </a:prstGeom>
          <a:noFill/>
          <a:ln/>
        </p:spPr>
        <p:txBody>
          <a:bodyPr wrap="square" lIns="127" tIns="127" rIns="127" bIns="127" rtlCol="0" anchor="ctr">
            <a:normAutofit/>
          </a:bodyPr>
          <a:lstStyle/>
          <a:p>
            <a:pPr marL="0" indent="0" algn="l">
              <a:buNone/>
            </a:pPr>
            <a:r>
              <a:rPr lang="en-US" sz="4200" b="1" dirty="0">
                <a:solidFill>
                  <a:srgbClr val="173242"/>
                </a:solidFill>
                <a:latin typeface="Lato" pitchFamily="34" charset="0"/>
                <a:ea typeface="Lato" pitchFamily="34" charset="-122"/>
                <a:cs typeface="Lato" pitchFamily="34" charset="-120"/>
              </a:rPr>
              <a:t>CONCLUSION</a:t>
            </a:r>
            <a:endParaRPr lang="en-US" sz="4200" dirty="0"/>
          </a:p>
        </p:txBody>
      </p:sp>
      <p:sp>
        <p:nvSpPr>
          <p:cNvPr id="16" name="Text 13"/>
          <p:cNvSpPr/>
          <p:nvPr/>
        </p:nvSpPr>
        <p:spPr>
          <a:xfrm>
            <a:off x="877824" y="2212848"/>
            <a:ext cx="10360152" cy="1481328"/>
          </a:xfrm>
          <a:prstGeom prst="rect">
            <a:avLst/>
          </a:prstGeom>
          <a:solidFill>
            <a:srgbClr val="EEF4DD"/>
          </a:solidFill>
          <a:ln w="12700">
            <a:solidFill>
              <a:srgbClr val="173242"/>
            </a:solidFill>
          </a:ln>
        </p:spPr>
        <p:txBody>
          <a:bodyPr wrap="square" lIns="1524" tIns="1524" rIns="1524" bIns="1524" rtlCol="0" anchor="ctr">
            <a:normAutofit/>
          </a:bodyPr>
          <a:lstStyle/>
          <a:p>
            <a:pPr marL="0" indent="0" algn="l">
              <a:buNone/>
            </a:pPr>
            <a:r>
              <a:rPr lang="en-US" sz="1820" dirty="0">
                <a:solidFill>
                  <a:srgbClr val="173242"/>
                </a:solidFill>
                <a:latin typeface="Lato" pitchFamily="34" charset="0"/>
                <a:ea typeface="Lato" pitchFamily="34" charset="-122"/>
                <a:cs typeface="Lato" pitchFamily="34" charset="-120"/>
              </a:rPr>
              <a:t>This project demonstrates how machine learning can be used to classify spam and ham messages from labelled text data. The EDA phase identifies important dataset characteristics such as missing values, duplicates, class imbalance, message length patterns and frequent words. The literature review shows that spam classification has progressed from classical TF-IDF and Naive Bayes models to ensembles, transformers and LLM-based approaches.</a:t>
            </a:r>
            <a:endParaRPr lang="en-US" sz="1820" dirty="0"/>
          </a:p>
        </p:txBody>
      </p:sp>
      <p:sp>
        <p:nvSpPr>
          <p:cNvPr id="17" name="Text 14"/>
          <p:cNvSpPr/>
          <p:nvPr/>
        </p:nvSpPr>
        <p:spPr>
          <a:xfrm>
            <a:off x="841249" y="3785616"/>
            <a:ext cx="10396727" cy="1481328"/>
          </a:xfrm>
          <a:prstGeom prst="rect">
            <a:avLst/>
          </a:prstGeom>
          <a:solidFill>
            <a:srgbClr val="FAFCF0"/>
          </a:solidFill>
          <a:ln w="12700">
            <a:solidFill>
              <a:srgbClr val="176563"/>
            </a:solidFill>
          </a:ln>
        </p:spPr>
        <p:txBody>
          <a:bodyPr wrap="square" lIns="1524" tIns="1524" rIns="1524" bIns="1524" rtlCol="0" anchor="ctr">
            <a:normAutofit/>
          </a:bodyPr>
          <a:lstStyle/>
          <a:p>
            <a:pPr marL="0" indent="0" algn="l">
              <a:buNone/>
            </a:pPr>
            <a:r>
              <a:rPr lang="en-US" sz="1820" dirty="0">
                <a:solidFill>
                  <a:srgbClr val="173242"/>
                </a:solidFill>
                <a:latin typeface="Lato" pitchFamily="34" charset="0"/>
                <a:ea typeface="Lato" pitchFamily="34" charset="-122"/>
                <a:cs typeface="Lato" pitchFamily="34" charset="-120"/>
              </a:rPr>
              <a:t>Overall, the project provides a clear and practical workflow: clean the text, transform it into numerical vectors, train Naive Bayes and SVM models, and evaluate them using Precision, Recall, F1-Score and Confusion Matrix. The final system can support safer digital communication by detecting unwanted spam messages efficiently.</a:t>
            </a:r>
            <a:endParaRPr lang="en-US" sz="1820" dirty="0"/>
          </a:p>
        </p:txBody>
      </p:sp>
      <p:sp>
        <p:nvSpPr>
          <p:cNvPr id="18" name="Text 15"/>
          <p:cNvSpPr/>
          <p:nvPr/>
        </p:nvSpPr>
        <p:spPr>
          <a:xfrm>
            <a:off x="4526280" y="5513832"/>
            <a:ext cx="3108960" cy="457200"/>
          </a:xfrm>
          <a:prstGeom prst="rect">
            <a:avLst/>
          </a:prstGeom>
          <a:solidFill>
            <a:srgbClr val="9F303A"/>
          </a:solidFill>
          <a:ln w="12700">
            <a:solidFill>
              <a:srgbClr val="9F303A"/>
            </a:solidFill>
          </a:ln>
        </p:spPr>
        <p:txBody>
          <a:bodyPr wrap="square" lIns="635" tIns="635" rIns="635" bIns="635" rtlCol="0" anchor="ctr">
            <a:normAutofit/>
          </a:bodyPr>
          <a:lstStyle/>
          <a:p>
            <a:pPr marL="0" indent="0" algn="ctr">
              <a:buNone/>
            </a:pPr>
            <a:r>
              <a:rPr lang="en-US" sz="1500" b="1" dirty="0">
                <a:solidFill>
                  <a:srgbClr val="FFFFFF"/>
                </a:solidFill>
                <a:latin typeface="Lato" pitchFamily="34" charset="0"/>
                <a:ea typeface="Lato" pitchFamily="34" charset="-122"/>
                <a:cs typeface="Lato" pitchFamily="34" charset="-120"/>
              </a:rPr>
              <a:t>THANK YOU</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La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a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1381</Words>
  <Application>Microsoft Office PowerPoint</Application>
  <PresentationFormat>Widescreen</PresentationFormat>
  <Paragraphs>200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KLH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Spam Email Classification Using Naive Bayes and Support Vector Machine</dc:title>
  <dc:subject>Machine Learning Project Presentation</dc:subject>
  <dc:creator>OpenAI</dc:creator>
  <cp:lastModifiedBy>Pranav Kaveri</cp:lastModifiedBy>
  <cp:revision>5</cp:revision>
  <dcterms:created xsi:type="dcterms:W3CDTF">2026-08-21T06:47:01Z</dcterms:created>
  <dcterms:modified xsi:type="dcterms:W3CDTF">2026-08-21T06:54:15Z</dcterms:modified>
</cp:coreProperties>
</file>